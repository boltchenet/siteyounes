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130E60-502B-78EC-6991-2A3B9426B6A9}" v="33" dt="2026-02-27T12:21:55.3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49" autoAdjust="0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8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détection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D0E-471B-9B02-06671A2950AF}"/>
              </c:ext>
            </c:extLst>
          </c:dPt>
          <c:dPt>
            <c:idx val="1"/>
            <c:invertIfNegative val="0"/>
            <c:bubble3D val="0"/>
            <c:spPr>
              <a:solidFill>
                <a:srgbClr val="D35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0E-471B-9B02-06671A2950AF}"/>
              </c:ext>
            </c:extLst>
          </c:dPt>
          <c:dPt>
            <c:idx val="2"/>
            <c:invertIfNegative val="0"/>
            <c:bubble3D val="0"/>
            <c:spPr>
              <a:solidFill>
                <a:srgbClr val="A04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D0E-471B-9B02-06671A2950AF}"/>
              </c:ext>
            </c:extLst>
          </c:dPt>
          <c:dPt>
            <c:idx val="3"/>
            <c:invertIfNegative val="0"/>
            <c:bubble3D val="0"/>
            <c:spPr>
              <a:solidFill>
                <a:srgbClr val="447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D0E-471B-9B02-06671A2950AF}"/>
              </c:ext>
            </c:extLst>
          </c:dPt>
          <c:dPt>
            <c:idx val="4"/>
            <c:invertIfNegative val="0"/>
            <c:bubble3D val="0"/>
            <c:spPr>
              <a:solidFill>
                <a:srgbClr val="2E8B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D0E-471B-9B02-06671A2950AF}"/>
              </c:ext>
            </c:extLst>
          </c:dPt>
          <c:dPt>
            <c:idx val="5"/>
            <c:invertIfNegative val="0"/>
            <c:bubble3D val="0"/>
            <c:spPr>
              <a:solidFill>
                <a:srgbClr val="1E7D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D0E-471B-9B02-06671A2950AF}"/>
              </c:ext>
            </c:extLst>
          </c:dPt>
          <c:dPt>
            <c:idx val="6"/>
            <c:invertIfNegative val="0"/>
            <c:bubble3D val="0"/>
            <c:spPr>
              <a:solidFill>
                <a:srgbClr val="6B41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D0E-471B-9B02-06671A2950AF}"/>
              </c:ext>
            </c:extLst>
          </c:dPt>
          <c:dPt>
            <c:idx val="7"/>
            <c:invertIfNegative val="0"/>
            <c:bubble3D val="0"/>
            <c:spPr>
              <a:solidFill>
                <a:srgbClr val="B7410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D0E-471B-9B02-06671A2950AF}"/>
              </c:ext>
            </c:extLst>
          </c:dPt>
          <c:dPt>
            <c:idx val="8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D0E-471B-9B02-06671A2950A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Simple Chi²
N=20</c:v>
                </c:pt>
                <c:pt idx="1">
                  <c:v>Efron Chi²
p=2/3 N=20</c:v>
                </c:pt>
                <c:pt idx="2">
                  <c:v>Efron Chi²
p=3/4 N=20</c:v>
                </c:pt>
                <c:pt idx="3">
                  <c:v>Simple Chi²
N=50</c:v>
                </c:pt>
                <c:pt idx="4">
                  <c:v>Efron Chi²
p=2/3 N=50</c:v>
                </c:pt>
                <c:pt idx="5">
                  <c:v>Efron Chi²
p=3/4 N=50</c:v>
                </c:pt>
                <c:pt idx="6">
                  <c:v>Simple CMH
N=50</c:v>
                </c:pt>
                <c:pt idx="7">
                  <c:v>Efron CMH
p=2/3 N=50</c:v>
                </c:pt>
                <c:pt idx="8">
                  <c:v>Efron CMH
p=3/4 N=50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</c:v>
                </c:pt>
                <c:pt idx="1">
                  <c:v>5.7</c:v>
                </c:pt>
                <c:pt idx="2">
                  <c:v>5.6</c:v>
                </c:pt>
                <c:pt idx="3">
                  <c:v>26.7</c:v>
                </c:pt>
                <c:pt idx="4">
                  <c:v>26</c:v>
                </c:pt>
                <c:pt idx="5">
                  <c:v>26.7</c:v>
                </c:pt>
                <c:pt idx="6">
                  <c:v>26.5</c:v>
                </c:pt>
                <c:pt idx="7">
                  <c:v>25.6</c:v>
                </c:pt>
                <c:pt idx="8">
                  <c:v>27.1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9D0E-471B-9B02-06671A2950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012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09728" cy="4818888"/>
          </a:xfrm>
          <a:prstGeom prst="rect">
            <a:avLst/>
          </a:prstGeom>
          <a:solidFill>
            <a:srgbClr val="4AAFAF"/>
          </a:solidFill>
          <a:ln w="12700">
            <a:solidFill>
              <a:srgbClr val="4AAFA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MÉTHODE D'EFRON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8503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 bien répartir les patients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dans un essai clinique 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études simulées — 50 patients — Comparaison de deux méthodes de tirage au sort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3794760"/>
            <a:ext cx="4572000" cy="18288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" y="393192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Fatou Camara  •  Meriem Kheroubi  •  Younes Chiker  •  Amine Lalouch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02920" cy="105156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1430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52704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est-ce important de bien répartir les patients 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502920" cy="105156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4320" y="228600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37744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 ça marche 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76148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d'Efron, le plan de simulation, ce qu'on mesure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74320" y="3520440"/>
            <a:ext cx="502920" cy="105156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74320" y="35204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361188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étude, un exemple concret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99592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regarde ce qui se passe sur une seule étude de 50 patients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05156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709160" y="1051560"/>
            <a:ext cx="502920" cy="105156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709160" y="105156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11430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résultats sur 1 000 études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152704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qu'Efron est vraiment meilleur ? De combien 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28600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709160" y="2286000"/>
            <a:ext cx="502920" cy="105156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09160" y="228600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03520" y="237744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0" y="276148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Avantages, limites et choix à faire selon la situation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52044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709160" y="3520440"/>
            <a:ext cx="502920" cy="105156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09160" y="35204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61188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travail en groupe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0" y="399592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retient et comment on a organisé le projet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bien répartir les patients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tirage au sort, c'est la base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savoir si un médicament fonctionne vraiment, on compare deux groupes de patients. Le tirage au sort garantit que ces groupes sont similaires dès le départ — sinon, on ne peut pas conclure grand-chose.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697480"/>
            <a:ext cx="1874520" cy="164592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269748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ÉQUILIBRE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Avoir autant de patients dans chaque groupe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2697480"/>
            <a:ext cx="1874520" cy="16459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286000" y="269748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SURPRISE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le médecin ne puisse pas deviner qui reçoit quel traitement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3200400"/>
            <a:ext cx="457200" cy="548640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297680" y="3200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↔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46320" y="105156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29200" y="11430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disent les autorités de santé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572768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règles internationales (ICH E9) disent :
</a:t>
            </a: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tirage au sort est obligatoire pour éviter les biais.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Pour les petites études (moins de 100 patients), un tirage au sort purement aléatoire ne suffit pas — les groupes peuvent se retrouver très déséquilibrés par hasard.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méthode d'Efron est une solution à ce problème.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 fonctionne la méthode d'Efron 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41732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principe en une phrase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nouveau patient, on regarde si les groupes sont déséquilibrés — et si oui, on augmente la chance d'aller dans le groupe le moins rempli.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60604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2606040"/>
            <a:ext cx="2743200" cy="384048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2606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Groupes égaux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0449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tire au sort à 50/50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6118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50 % — 50 %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 = 2/3 ou 3/4 selon le réglage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260604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0" y="2606040"/>
            <a:ext cx="27432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00400" y="2606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Trop de 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30449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favorise le groupe 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36118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P(B) augmente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9184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 = 2/3 ou 3/4 selon le réglage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260604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126480" y="2606040"/>
            <a:ext cx="274320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126480" y="2606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Trop de 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30449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favorise le groupe 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6118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P(A) augmente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1792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 = 2/3 ou 3/4 selon le réglage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 on a testé ça 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48640" cy="109728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d'études simulées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5727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1 000 études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2377440"/>
            <a:ext cx="548640" cy="109728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4320" y="237744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patients par étude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8529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patients  ou  50 patients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548640" cy="109728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74320" y="365760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749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 de la correction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1330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P= </a:t>
            </a:r>
            <a:r>
              <a:rPr lang="en-US" sz="1400" b="1" dirty="0" err="1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Faible</a:t>
            </a:r>
            <a:r>
              <a:rPr lang="en-US" sz="14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(2/3)  </a:t>
            </a:r>
            <a:r>
              <a:rPr lang="en-US" sz="1400" b="1" dirty="0" err="1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r>
              <a:rPr lang="en-US" sz="14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P= Fort (3/4)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097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663440" y="1097280"/>
            <a:ext cx="548640" cy="109728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663440" y="109728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11887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 des patients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15727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pays : P1=1/2, P2=1/4, P3=1/4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23774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663440" y="2377440"/>
            <a:ext cx="548640" cy="109728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663440" y="237744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03520" y="24688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des patients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28529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Moyenne 65 ans, écart-type 10 ans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36576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548640" cy="109728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663440" y="365760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749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comparées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41330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Randomisation</a:t>
            </a:r>
            <a:r>
              <a:rPr lang="en-US" sz="14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simple vs Méthode d'Efron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Quelle chance de guérison selon le pays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traitement A est plus efficace que B — mais ça dépend aussi du pays d'origine du patient :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508760"/>
          <a:ext cx="7315200" cy="226771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Traitement / Pays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Traitement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AF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8B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Traitement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F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rgbClr val="1A2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Avantage du traitement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8B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noter : </a:t>
            </a:r>
            <a:r>
              <a:rPr lang="en-US" sz="1100" i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Pays 3, les deux traitements donnent le même résultat. Ce pays ne nous aide pas à distinguer lequel est le meilleur.</a:t>
            </a:r>
            <a:endParaRPr lang="en-US" sz="1100" dirty="0"/>
          </a:p>
        </p:txBody>
      </p:sp>
      <p:sp>
        <p:nvSpPr>
          <p:cNvPr id="5" name="Text 4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exemple concret — La première étude simulée (50 patients)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11680" cy="27432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8B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dans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groupe 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0515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423160" y="1051560"/>
            <a:ext cx="2011680" cy="27432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423160" y="1325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2316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dans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groupe 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2011680" cy="2743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0" y="1325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d'écart entre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groupes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10515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720840" y="1051560"/>
            <a:ext cx="2011680" cy="274320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720840" y="1325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8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72084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du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statistique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74320" y="2880360"/>
            <a:ext cx="4206240" cy="347472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74320" y="28803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répartition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29184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patients dans le groupe A, 26 dans le groupe B. Seulement 2 patients de différence — c'est très bien ! La méthode d'Efron a parfaitement joué son rôle.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880360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663440" y="2880360"/>
            <a:ext cx="4206240" cy="347472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663440" y="28803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résultats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329184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 : 9 guérisons sur 24 → 37 %
</a:t>
            </a: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B : 4 guérisons sur 26 → 15 %
Le traitement A semble meilleur, mais sur une seule étude, ce n'est pas suffisant pour l'affirmer. C'est pour ça qu'on en a simulé 1 000.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Efron garde les groupes bien équilibrés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474720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Tirage simple — Écart entre groupes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Méthode d'Efron — Écart entre groupes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4507992"/>
            <a:ext cx="4114800" cy="50292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20040" y="450799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Tirage simple : l'écart peut dépasser 20 patients d'un côté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4507992"/>
            <a:ext cx="4206240" cy="502920"/>
          </a:xfrm>
          <a:prstGeom prst="rect">
            <a:avLst/>
          </a:prstGeom>
          <a:solidFill>
            <a:srgbClr val="EBF5EB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709160" y="45079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Efron : presque toujours 0 de différence — très bon résultat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8</a:t>
            </a:r>
            <a:endParaRPr lang="en-US" sz="900" dirty="0"/>
          </a:p>
        </p:txBody>
      </p:sp>
      <p:pic>
        <p:nvPicPr>
          <p:cNvPr id="15" name="Image 14" descr="Une image contenant texte, diagramme, capture d’écran, Police  Le contenu généré par l’IA peut être incorrect.">
            <a:extLst>
              <a:ext uri="{FF2B5EF4-FFF2-40B4-BE49-F238E27FC236}">
                <a16:creationId xmlns:a16="http://schemas.microsoft.com/office/drawing/2014/main" id="{D14F2A64-85F9-D67C-1B19-54F38EE90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91" y="1494150"/>
            <a:ext cx="3182761" cy="2827284"/>
          </a:xfrm>
          <a:prstGeom prst="rect">
            <a:avLst/>
          </a:prstGeom>
        </p:spPr>
      </p:pic>
      <p:pic>
        <p:nvPicPr>
          <p:cNvPr id="17" name="Image 16" descr="Une image contenant texte, capture d’écran, diagramme, ligne  Le contenu généré par l’IA peut être incorrect.">
            <a:extLst>
              <a:ext uri="{FF2B5EF4-FFF2-40B4-BE49-F238E27FC236}">
                <a16:creationId xmlns:a16="http://schemas.microsoft.com/office/drawing/2014/main" id="{DCB0DAA9-D078-A0C9-F443-346219DE8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6069" y="1421792"/>
            <a:ext cx="2940981" cy="29171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Efron n'équilibre pas l'âge automatiquement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474720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Tirage simple — Différence d'âge moyen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Méthode d'Efron — Différence d'âge moyen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4279392"/>
            <a:ext cx="8595360" cy="7315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65760" y="427939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Ce qu'on voit : </a:t>
            </a:r>
            <a:r>
              <a:rPr lang="en-US" sz="12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graphiques sont identiques. Efron répartit mieux les patients en nombre, mais pas en âge. Pour ça, il faudrait inclure l'âge dans la règle de tirage au sort.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9</a:t>
            </a:r>
            <a:endParaRPr lang="en-US" sz="9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B78479B-3FAD-4CD1-B708-9D153DD09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06" y="1496213"/>
            <a:ext cx="2858329" cy="268716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75B9FF7B-B270-49F6-81E3-D316086E4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24" y="1493266"/>
            <a:ext cx="2398328" cy="26901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Est-ce qu'on détecte mieux que A est efficace ? (50 patients)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1 000 études simulées, combien de fois le test dit-il avec certitude que A est meilleur que B ?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21945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 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Efron Chi²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(p=2/3)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Efron Chi²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(p=3/4)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1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Efron CMH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(p=2/3)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Efron CMH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(p=3/4)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8B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36.9 %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51.7 %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52.2 %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0690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365760" y="41148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p=3/4 vs p=2/3 :
</a:t>
            </a: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réglage plus fort corrige mieux les déséquilibres. Le test est légèrement plus fiable (+0.4 %). La différence reste petite.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4069080"/>
            <a:ext cx="4206240" cy="914400"/>
          </a:xfrm>
          <a:prstGeom prst="rect">
            <a:avLst/>
          </a:prstGeom>
          <a:solidFill>
            <a:srgbClr val="FDECE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754880" y="41148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combinaison : Efron CMH p=3/4 à 5 %
</a:t>
            </a: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27.1 % contre 26.5 % avec la randomisation simple. On détecte l'effet de A Efron CMH p=3/4 reste la combinaison la plus performante.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Avec seulement 20 patients, ça ne suffit pas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Même quand les groupes sont bien équilibrés (10 vs 10), le test ne détecte presque jamais que A est meilleur.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83080"/>
          <a:ext cx="8595360" cy="1993392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 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Chi²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Efron Chi²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(p=2/3)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Efron Chi²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(p=3/4)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CMH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1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Efron CMH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3603550"/>
            <a:ext cx="8595360" cy="13716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365760" y="35661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leçon importante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4005072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CMH affichées correspondent au scénario p=3/4 (pour p=2/3, le test CMH reste N/A car certaines cellules sont vides). Même avec Efron, 20 patients restent insuffisants pour détecter l'efficacité. Une bonne méthode ne remplace pas un effectif suffisant.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Comparaison visuelle — Combien de fois détecte-t-on A 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d'études sur 1 000 où le test confirme que A est meilleur (seuil de confiance 95 %)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325880"/>
          <a:ext cx="85953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— Équilibre ou Surprise, il faut choisir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02920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502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105156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risque caché de la méthode d'Efron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la méthode corrige les déséquilibres, plus elle devient prévisible. Si un médecin peut deviner quel traitement le prochain patient va recevoir, il pourrait — inconsciemment — choisir d'inclure ou non ce patient selon son état. Cela fausserait les résultats.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60604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4114800" cy="475488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Réglage faible : p = 2/3  —  66 % de chances de deviner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1272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 compromis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53872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corrige suffisamment les déséquilibres, tout en gardant une part de hasard. Recommandé pour les études où les médecins ne sont pas en double-aveugle.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407408"/>
            <a:ext cx="3931920" cy="384048"/>
          </a:xfrm>
          <a:prstGeom prst="rect">
            <a:avLst/>
          </a:prstGeom>
          <a:solidFill>
            <a:srgbClr val="EBF5EB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65760" y="44074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Recommandé en général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60604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663440" y="2606040"/>
            <a:ext cx="4114800" cy="475488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754880" y="26060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Réglage fort : p = 3/4  —  75 % de chances de deviner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1272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Correction maximale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53872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groupes sont encore mieux équilibrés, et les résultats légèrement plus fiables. Mais le risque de biais augmente. Réservé aux études bien contrôlées.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4407408"/>
            <a:ext cx="3931920" cy="384048"/>
          </a:xfrm>
          <a:prstGeom prst="rect">
            <a:avLst/>
          </a:prstGeom>
          <a:solidFill>
            <a:srgbClr val="FFFBEA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754880" y="44074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À utiliser avec précaution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tenir compte du pays dans le test 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6B4199"/>
          </a:solidFill>
          <a:ln w="12700">
            <a:solidFill>
              <a:srgbClr val="6B41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problème avec le test classique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chances de guérir dépendent beaucoup du pays :
</a:t>
            </a: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Pays 1 : 50 % pour A, 20 % pour B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Pays 2 : 30 % pour A, 10 % pour B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Pays 3 : 10 % pour les deux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test classique mélange tout ça. Il voit des différences entre pays et les confond avec l'effet du traitement. Résultat : il est moins précis.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2062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20624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663440" y="10058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solution : tester pays par pays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test CMH compare A et B séparément dans chaque pays, puis combine les résultats.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neutralise l'effet du pays et permet de voir plus clairement si A est vraiment meilleur que B.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nos simulations 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test CMH détecte l'efficacité de A dans plus d'études que le test classique — dans tous les scénarios testés.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résumé — Quelle méthode est la meilleure ?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605136"/>
              </p:ext>
            </p:extLst>
          </p:nvPr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qu'on compare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Tirage 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Efron (réglage faible)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Efron (réglage fort)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Groupes bien équilibrés 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Souvent non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Très bien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Détecte l'efficacité de A 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 patients)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26.7 % des études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26.0 % des études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27.1 % des études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Reste imprévisible 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En partie (66 %)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Moins (75 %)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Adapté aux petits groupes 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Recommandé 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Insuffisant (&lt; 100 patients)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Recommandé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Acceptable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 on a organisé le travail en groupe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54864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Création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l'algorithme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57175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Meriem </a:t>
            </a:r>
            <a:r>
              <a:rPr lang="en-US" sz="1200" b="1" dirty="0" err="1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Kherroubi</a:t>
            </a:r>
            <a:r>
              <a:rPr lang="en-US" sz="12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et Younes Chiker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54864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4612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Les simulations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58352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Younes Chiker et Meriem </a:t>
            </a:r>
            <a:r>
              <a:rPr lang="en-US" sz="1200" b="1" dirty="0" err="1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Kherroubi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2860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743200" cy="548640"/>
          </a:xfrm>
          <a:prstGeom prst="rect">
            <a:avLst/>
          </a:prstGeom>
          <a:solidFill>
            <a:srgbClr val="6B4199"/>
          </a:solidFill>
          <a:ln w="12700">
            <a:solidFill>
              <a:srgbClr val="6B41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17220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Analyse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Rédaction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57175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Amine </a:t>
            </a:r>
            <a:r>
              <a:rPr lang="en-US" sz="1200" b="1" dirty="0" err="1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Lalouch</a:t>
            </a:r>
            <a:r>
              <a:rPr lang="en-US" sz="1200" b="1" dirty="0">
                <a:solidFill>
                  <a:srgbClr val="1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et Fatou Camara 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2860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Délai respecté : rendu le 26 février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qu'on a bien fait — Ce qu'on pourrait améliorer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931920"/>
          </a:xfrm>
          <a:prstGeom prst="rect">
            <a:avLst/>
          </a:prstGeom>
          <a:solidFill>
            <a:srgbClr val="EBF5E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Ce qui a bien marché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1 000 simulations donnent des résultats solides et reproductibles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 a testé 4 scénarios différents pour comparer les deux méthodes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970046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 a utilisé un test statistique adapté à la présence de plusieurs pays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630168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projet a été rendu dans les délais avec des tâches bien réparties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206240" cy="3931920"/>
          </a:xfrm>
          <a:prstGeom prst="rect">
            <a:avLst/>
          </a:prstGeom>
          <a:solidFill>
            <a:srgbClr val="FDECE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20624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663440" y="1005840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Ce qu'on peut améliorer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57276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 taux de détection restent faibles (~27 % (seuil 5 %, N=50)) car notre modèle est difficile à détecter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3774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L'âge n'est pas pris en compte dans le tirage au sort — les groupes ne sont pas équilibrés sur ce point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18211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de correction pour les comparaisons multiples entre scénarios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3986784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Pays 3 ne distingue pas les traitements — il ajoute du bruit sans aider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qu'on recommande pour les prochaines études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94360" cy="841248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594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10642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Utiliser le réglage faible (p = 2/3)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47218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réglage équilibre bien les groupes tout en gardant suffisamment de hasard. C'est le meilleur compromis pour la plupart des études.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859536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594360" cy="841248"/>
          </a:xfrm>
          <a:prstGeom prst="rect">
            <a:avLst/>
          </a:prstGeom>
          <a:solidFill>
            <a:srgbClr val="6B4199"/>
          </a:solidFill>
          <a:ln w="12700">
            <a:solidFill>
              <a:srgbClr val="6B41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594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06654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41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Toujours tester pays par pays (test CMH)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3230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Puisque les résultats varient selon le pays, il faut analyser chaque pays séparément. On détecte mieux l'effet du traitement.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859536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594360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74320" y="2971800"/>
            <a:ext cx="594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0266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Prévoir suffisamment de patients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39242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patients, c'est trop peu. Il faut au minimum 50 patients pour que les résultats aient du sens. Une bonne méthode ne remplace pas un nombre de patients suffisant.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859536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4320" y="3931920"/>
            <a:ext cx="594360" cy="8412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74320" y="3931920"/>
            <a:ext cx="594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98678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Tenir compte de l'âge dans le tirage au sort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35254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que l'âge soit bien réparti entre les groupes, il faut l'intégrer dans la règle de tirage — et ne pas juste espérer que ça se passe bien par hasard.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qu'on retient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475488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B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groupes bien équilibrés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tirage simple, les groupes peuvent parfois avoir 20 patients de différence. Avec Efron, l'écart dépasse rarement 2 patients.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475488"/>
          </a:xfrm>
          <a:prstGeom prst="rect">
            <a:avLst/>
          </a:prstGeom>
          <a:solidFill>
            <a:srgbClr val="6B4199"/>
          </a:solidFill>
          <a:ln w="12700">
            <a:solidFill>
              <a:srgbClr val="6B41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00400" y="10058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153619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41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détecte mieux l'effet du traitement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1488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passe de 26.5 % (Simple CMH) à 27.1 % (Efron CMH p=3/4) d'études concluantes — la méthode d'Efron reste la plus performante.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74320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126480" y="10058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153619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Moins prévisible que les blocs fixes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1488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aux blocs fixes, il n'y a pas de moment où le prochain traitement devient certain à 100 %. Efron garde une part de hasard.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8595360" cy="100584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3913632"/>
            <a:ext cx="8321040" cy="9509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dirty="0">
                <a:solidFill>
                  <a:srgbClr val="F0C040"/>
                </a:solidFill>
                <a:latin typeface="Calibri"/>
                <a:ea typeface="Calibri"/>
                <a:cs typeface="Calibri"/>
              </a:rPr>
              <a:t>Notre </a:t>
            </a:r>
            <a:r>
              <a:rPr lang="en-US" sz="1200" b="1" dirty="0" err="1">
                <a:solidFill>
                  <a:srgbClr val="F0C040"/>
                </a:solidFill>
                <a:latin typeface="Calibri"/>
                <a:ea typeface="Calibri"/>
                <a:cs typeface="Calibri"/>
              </a:rPr>
              <a:t>recommandation</a:t>
            </a:r>
            <a:r>
              <a:rPr lang="en-US" sz="1200" b="1" dirty="0">
                <a:solidFill>
                  <a:srgbClr val="F0C040"/>
                </a:solidFill>
                <a:latin typeface="Calibri"/>
                <a:ea typeface="Calibri"/>
                <a:cs typeface="Calibri"/>
              </a:rPr>
              <a:t> :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Utiliser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méthode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d'Efron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avec le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réglage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faible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(p=2/3) et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analyser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les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résultats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pays par pays.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C'est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combinaison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qui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donne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les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meilleurs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résultats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tout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restant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fiable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et le plus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imprévisible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possible.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 de votre attention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286000" y="2057400"/>
            <a:ext cx="4572000" cy="3657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2971800"/>
            <a:ext cx="1737360" cy="841248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Fatou Camara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2971800"/>
            <a:ext cx="1737360" cy="841248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697480" y="297180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Meriem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Kherroubi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971800"/>
            <a:ext cx="1737360" cy="841248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663440" y="297180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Younes Chiker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29400" y="2971800"/>
            <a:ext cx="1737360" cy="841248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629400" y="297180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Lalouch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 err="1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r>
              <a:rPr lang="en-US" sz="11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d'Efron — Février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2108</Words>
  <Application>Microsoft Office PowerPoint</Application>
  <PresentationFormat>Affichage à l'écran (16:9)</PresentationFormat>
  <Paragraphs>337</Paragraphs>
  <Slides>20</Slides>
  <Notes>20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Méthode d'Efron — Comment mieux répartir les patients ?</dc:title>
  <dc:subject>PptxGenJS Presentation</dc:subject>
  <dc:creator>PptxGenJS</dc:creator>
  <cp:lastModifiedBy>LALOUCH Amine</cp:lastModifiedBy>
  <cp:revision>13</cp:revision>
  <dcterms:created xsi:type="dcterms:W3CDTF">2026-02-26T14:03:17Z</dcterms:created>
  <dcterms:modified xsi:type="dcterms:W3CDTF">2026-02-27T12:21:56Z</dcterms:modified>
</cp:coreProperties>
</file>