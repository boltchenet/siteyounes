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73" r:id="rId2"/>
    <p:sldId id="263" r:id="rId3"/>
    <p:sldId id="264" r:id="rId4"/>
    <p:sldId id="265" r:id="rId5"/>
    <p:sldId id="262" r:id="rId6"/>
    <p:sldId id="276" r:id="rId7"/>
    <p:sldId id="277" r:id="rId8"/>
    <p:sldId id="256" r:id="rId9"/>
    <p:sldId id="257" r:id="rId10"/>
    <p:sldId id="258" r:id="rId11"/>
    <p:sldId id="259" r:id="rId12"/>
    <p:sldId id="261" r:id="rId13"/>
    <p:sldId id="266" r:id="rId14"/>
    <p:sldId id="267" r:id="rId15"/>
    <p:sldId id="268" r:id="rId16"/>
    <p:sldId id="269" r:id="rId17"/>
    <p:sldId id="270" r:id="rId18"/>
    <p:sldId id="271" r:id="rId19"/>
    <p:sldId id="272" r:id="rId20"/>
    <p:sldId id="274" r:id="rId2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B2F41"/>
    <a:srgbClr val="104862"/>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28"/>
    <p:restoredTop sz="94651"/>
  </p:normalViewPr>
  <p:slideViewPr>
    <p:cSldViewPr snapToGrid="0">
      <p:cViewPr varScale="1">
        <p:scale>
          <a:sx n="96" d="100"/>
          <a:sy n="96" d="100"/>
        </p:scale>
        <p:origin x="1096" y="472"/>
      </p:cViewPr>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B5D5F9-80AB-B04B-9A12-2CFFBE624392}" type="datetimeFigureOut">
              <a:rPr lang="fr-FR" smtClean="0"/>
              <a:t>10/03/2025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D8F5F0-F0A6-8749-A90E-CF484CED9B79}" type="slidenum">
              <a:rPr lang="fr-FR" smtClean="0"/>
              <a:t>‹N°›</a:t>
            </a:fld>
            <a:endParaRPr lang="fr-FR"/>
          </a:p>
        </p:txBody>
      </p:sp>
    </p:spTree>
    <p:extLst>
      <p:ext uri="{BB962C8B-B14F-4D97-AF65-F5344CB8AC3E}">
        <p14:creationId xmlns:p14="http://schemas.microsoft.com/office/powerpoint/2010/main" val="1698396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EC014-92F4-E1BF-ABE7-85163F4381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AD069A0-029A-01DC-D4BB-56E7AF4E2DC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873F293-A37A-C4D1-1971-898BADD250B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F3A8703-42D0-202E-6CAC-9B9557BBEEB5}"/>
              </a:ext>
            </a:extLst>
          </p:cNvPr>
          <p:cNvSpPr>
            <a:spLocks noGrp="1"/>
          </p:cNvSpPr>
          <p:nvPr>
            <p:ph type="sldNum" sz="quarter" idx="5"/>
          </p:nvPr>
        </p:nvSpPr>
        <p:spPr/>
        <p:txBody>
          <a:bodyPr/>
          <a:lstStyle/>
          <a:p>
            <a:fld id="{14D8F5F0-F0A6-8749-A90E-CF484CED9B79}" type="slidenum">
              <a:rPr lang="fr-FR" smtClean="0"/>
              <a:t>1</a:t>
            </a:fld>
            <a:endParaRPr lang="fr-FR"/>
          </a:p>
        </p:txBody>
      </p:sp>
    </p:spTree>
    <p:extLst>
      <p:ext uri="{BB962C8B-B14F-4D97-AF65-F5344CB8AC3E}">
        <p14:creationId xmlns:p14="http://schemas.microsoft.com/office/powerpoint/2010/main" val="812877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4D8F5F0-F0A6-8749-A90E-CF484CED9B79}" type="slidenum">
              <a:rPr lang="fr-FR" smtClean="0"/>
              <a:t>5</a:t>
            </a:fld>
            <a:endParaRPr lang="fr-FR"/>
          </a:p>
        </p:txBody>
      </p:sp>
    </p:spTree>
    <p:extLst>
      <p:ext uri="{BB962C8B-B14F-4D97-AF65-F5344CB8AC3E}">
        <p14:creationId xmlns:p14="http://schemas.microsoft.com/office/powerpoint/2010/main" val="3520991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4D8F5F0-F0A6-8749-A90E-CF484CED9B79}" type="slidenum">
              <a:rPr lang="fr-FR" smtClean="0"/>
              <a:t>6</a:t>
            </a:fld>
            <a:endParaRPr lang="fr-FR"/>
          </a:p>
        </p:txBody>
      </p:sp>
    </p:spTree>
    <p:extLst>
      <p:ext uri="{BB962C8B-B14F-4D97-AF65-F5344CB8AC3E}">
        <p14:creationId xmlns:p14="http://schemas.microsoft.com/office/powerpoint/2010/main" val="2219723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D026F-B638-B1F5-A9A1-4A74BE456D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7BC114-2C4A-2A4A-545F-2AA5F878FEA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25ED08-7982-9470-A3F1-0F0A6D043C0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4FF0C39-ED6E-F770-752D-F8E68DA241CD}"/>
              </a:ext>
            </a:extLst>
          </p:cNvPr>
          <p:cNvSpPr>
            <a:spLocks noGrp="1"/>
          </p:cNvSpPr>
          <p:nvPr>
            <p:ph type="sldNum" sz="quarter" idx="5"/>
          </p:nvPr>
        </p:nvSpPr>
        <p:spPr/>
        <p:txBody>
          <a:bodyPr/>
          <a:lstStyle/>
          <a:p>
            <a:fld id="{14D8F5F0-F0A6-8749-A90E-CF484CED9B79}" type="slidenum">
              <a:rPr lang="fr-FR" smtClean="0"/>
              <a:t>7</a:t>
            </a:fld>
            <a:endParaRPr lang="fr-FR"/>
          </a:p>
        </p:txBody>
      </p:sp>
    </p:spTree>
    <p:extLst>
      <p:ext uri="{BB962C8B-B14F-4D97-AF65-F5344CB8AC3E}">
        <p14:creationId xmlns:p14="http://schemas.microsoft.com/office/powerpoint/2010/main" val="3980058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08A3AF-A002-93DD-E422-EAEEA56E318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5A6B3E6-58C3-6744-4AEE-492F5DBF39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721CEB2-0A7B-55C7-08FE-244394DC5A2C}"/>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5" name="Espace réservé du pied de page 4">
            <a:extLst>
              <a:ext uri="{FF2B5EF4-FFF2-40B4-BE49-F238E27FC236}">
                <a16:creationId xmlns:a16="http://schemas.microsoft.com/office/drawing/2014/main" id="{66AC79CF-2169-C62A-3621-9FF61B9DD1B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9FCE73-8556-5345-965E-20BDD1337635}"/>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1648083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0CAB4E-9025-D60A-616D-68B660AFC12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C390E24-DDDC-ECC3-9231-F2BBB416198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DB337E7-4108-A317-05B8-8785574E7402}"/>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5" name="Espace réservé du pied de page 4">
            <a:extLst>
              <a:ext uri="{FF2B5EF4-FFF2-40B4-BE49-F238E27FC236}">
                <a16:creationId xmlns:a16="http://schemas.microsoft.com/office/drawing/2014/main" id="{82A7B5FD-C779-C2EC-B940-8CB3F77AAE1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4460FB-E21F-3623-BB72-3104ED6D032E}"/>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1523667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2ABD78-9C5D-B896-7D0E-EB9A7471C9E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461A21C-0582-3FB3-7F82-5D7FC12720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0813B3C-9B64-26CF-1E46-7D3005BA41F5}"/>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5" name="Espace réservé du pied de page 4">
            <a:extLst>
              <a:ext uri="{FF2B5EF4-FFF2-40B4-BE49-F238E27FC236}">
                <a16:creationId xmlns:a16="http://schemas.microsoft.com/office/drawing/2014/main" id="{A3E6F4E9-CAFA-5E1B-39DC-E4319BFAB58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7EDA799-079B-E449-FA4D-AB7A048B136E}"/>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2667906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097A59-5594-5FA5-6090-DBFFD728384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53C8B7D-4691-FCBE-8401-EE1EBBA8A23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C196F4A-CDAD-89B3-6EBD-AF3C9B6F566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3C49238-660A-97D4-DE05-DB25F5343DF9}"/>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6" name="Espace réservé du pied de page 5">
            <a:extLst>
              <a:ext uri="{FF2B5EF4-FFF2-40B4-BE49-F238E27FC236}">
                <a16:creationId xmlns:a16="http://schemas.microsoft.com/office/drawing/2014/main" id="{3DB082AC-0D20-E4D1-AA7B-AEFC8A1625E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45B0054-1F40-C582-E092-CF940BD22B40}"/>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1406245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F9609C-40FF-2CFE-3517-59295F424E7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5FF07CC-9B7A-5330-F2D2-1A5779B7DB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A1529E2-B9EF-35D0-9EA8-33A8153EA0E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C5AA7CD-1B5C-3710-D4A0-54F54ABC3B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E724A17-B8DF-5EDC-832E-D996BAD608F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CDD08F4-8958-9259-377D-82C54E55D3B0}"/>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8" name="Espace réservé du pied de page 7">
            <a:extLst>
              <a:ext uri="{FF2B5EF4-FFF2-40B4-BE49-F238E27FC236}">
                <a16:creationId xmlns:a16="http://schemas.microsoft.com/office/drawing/2014/main" id="{6D8EDF76-3620-38C6-EB1E-B9AF419331B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DE0CA8A-11AF-BF1D-4464-86C678A15CCC}"/>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2265343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15175B-110E-ACFA-7875-2A99BAD1393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E0B5CD2-45F4-0E85-1725-3F6C35F9C05A}"/>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4" name="Espace réservé du pied de page 3">
            <a:extLst>
              <a:ext uri="{FF2B5EF4-FFF2-40B4-BE49-F238E27FC236}">
                <a16:creationId xmlns:a16="http://schemas.microsoft.com/office/drawing/2014/main" id="{C899E5E3-7E20-D901-EDFA-47D9C6110CA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EBC1E5D-EA33-1AD0-FD8B-CA06A3A65ED8}"/>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2821600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D1CA3AF-7375-6FB2-6CD4-DC5BB145ED4E}"/>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3" name="Espace réservé du pied de page 2">
            <a:extLst>
              <a:ext uri="{FF2B5EF4-FFF2-40B4-BE49-F238E27FC236}">
                <a16:creationId xmlns:a16="http://schemas.microsoft.com/office/drawing/2014/main" id="{BB04B3D2-9216-D566-F907-18C61782826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69E9EC7-6426-9048-9C7B-D4392363F6FA}"/>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24689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AB8CF4-6465-7381-8E01-084719929EB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11864AC-CA8E-B173-BC95-CB29AD9677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CF0CD66-A4B3-26F9-4A28-D1CBD52B8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1F985EC-AEB4-9DB0-3786-1DCD37D94B83}"/>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6" name="Espace réservé du pied de page 5">
            <a:extLst>
              <a:ext uri="{FF2B5EF4-FFF2-40B4-BE49-F238E27FC236}">
                <a16:creationId xmlns:a16="http://schemas.microsoft.com/office/drawing/2014/main" id="{662747BB-9068-B07B-836A-E7964281109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E90BBC7-EC9B-6884-ADE5-ABFEA171DA6D}"/>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1721747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A2CEAE-DA00-09CE-8814-05CE5134F3E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ED099D8-D95A-1F68-3C52-CC0D953137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AFE9BFD-0CDD-2059-3122-788CF9A93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AAC7BA4-987A-9D15-DCFE-589C249594B0}"/>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6" name="Espace réservé du pied de page 5">
            <a:extLst>
              <a:ext uri="{FF2B5EF4-FFF2-40B4-BE49-F238E27FC236}">
                <a16:creationId xmlns:a16="http://schemas.microsoft.com/office/drawing/2014/main" id="{3CF42A1B-097C-76F3-4EEE-FE72FF3FF08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1692C68-67AF-3BCE-0104-8B8B595D9350}"/>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1849100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72CD3D-04A5-FAA8-E19C-3A120ADA58E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37F8700-E18A-B1D3-D210-A8686513A9D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75475F9-EA55-917D-C27A-F4412D479BE1}"/>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5" name="Espace réservé du pied de page 4">
            <a:extLst>
              <a:ext uri="{FF2B5EF4-FFF2-40B4-BE49-F238E27FC236}">
                <a16:creationId xmlns:a16="http://schemas.microsoft.com/office/drawing/2014/main" id="{929EF1D8-EABC-4336-7B02-4B14B81DAD4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D3787E-DCD5-C091-2059-FB47C600A608}"/>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3028633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2A9C8F0-ED65-2AEA-4EAB-313AC273E72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3A9D2C8-780D-A9D7-43BF-728F1A975D0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41842DB-7246-3EA7-EDAC-4776E730A30D}"/>
              </a:ext>
            </a:extLst>
          </p:cNvPr>
          <p:cNvSpPr>
            <a:spLocks noGrp="1"/>
          </p:cNvSpPr>
          <p:nvPr>
            <p:ph type="dt" sz="half" idx="10"/>
          </p:nvPr>
        </p:nvSpPr>
        <p:spPr/>
        <p:txBody>
          <a:bodyPr/>
          <a:lstStyle/>
          <a:p>
            <a:fld id="{69500142-1CC0-8F4D-A848-7D633D0A9704}" type="datetimeFigureOut">
              <a:rPr lang="fr-FR" smtClean="0"/>
              <a:t>10/03/2025</a:t>
            </a:fld>
            <a:endParaRPr lang="fr-FR"/>
          </a:p>
        </p:txBody>
      </p:sp>
      <p:sp>
        <p:nvSpPr>
          <p:cNvPr id="5" name="Espace réservé du pied de page 4">
            <a:extLst>
              <a:ext uri="{FF2B5EF4-FFF2-40B4-BE49-F238E27FC236}">
                <a16:creationId xmlns:a16="http://schemas.microsoft.com/office/drawing/2014/main" id="{2C6D4001-B8F9-3659-CD2F-AD70EF4C899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B2F4BB9-74F5-D065-CA71-7D5108129919}"/>
              </a:ext>
            </a:extLst>
          </p:cNvPr>
          <p:cNvSpPr>
            <a:spLocks noGrp="1"/>
          </p:cNvSpPr>
          <p:nvPr>
            <p:ph type="sldNum" sz="quarter" idx="12"/>
          </p:nvPr>
        </p:nvSpPr>
        <p:spPr/>
        <p:txBody>
          <a:bodyPr/>
          <a:lstStyle/>
          <a:p>
            <a:fld id="{9922899C-2AC8-AC4A-87EF-585DF3A03DA6}" type="slidenum">
              <a:rPr lang="fr-FR" smtClean="0"/>
              <a:t>‹N°›</a:t>
            </a:fld>
            <a:endParaRPr lang="fr-FR"/>
          </a:p>
        </p:txBody>
      </p:sp>
    </p:spTree>
    <p:extLst>
      <p:ext uri="{BB962C8B-B14F-4D97-AF65-F5344CB8AC3E}">
        <p14:creationId xmlns:p14="http://schemas.microsoft.com/office/powerpoint/2010/main" val="2782908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B4A8D5D-169F-E377-38C9-D2504BE6C2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AE68CA5-5A10-AAFB-3C0E-50A1F8F7B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41FEAC1-F173-9E20-D580-89BB0156C6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500142-1CC0-8F4D-A848-7D633D0A9704}" type="datetimeFigureOut">
              <a:rPr lang="fr-FR" smtClean="0"/>
              <a:t>10/03/2025</a:t>
            </a:fld>
            <a:endParaRPr lang="fr-FR"/>
          </a:p>
        </p:txBody>
      </p:sp>
      <p:sp>
        <p:nvSpPr>
          <p:cNvPr id="5" name="Espace réservé du pied de page 4">
            <a:extLst>
              <a:ext uri="{FF2B5EF4-FFF2-40B4-BE49-F238E27FC236}">
                <a16:creationId xmlns:a16="http://schemas.microsoft.com/office/drawing/2014/main" id="{071B9CB8-8FEE-A830-5592-8993864849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549A1C2-F7E7-D020-B932-D6F1BA2433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22899C-2AC8-AC4A-87EF-585DF3A03DA6}" type="slidenum">
              <a:rPr lang="fr-FR" smtClean="0"/>
              <a:t>‹N°›</a:t>
            </a:fld>
            <a:endParaRPr lang="fr-FR"/>
          </a:p>
        </p:txBody>
      </p:sp>
    </p:spTree>
    <p:extLst>
      <p:ext uri="{BB962C8B-B14F-4D97-AF65-F5344CB8AC3E}">
        <p14:creationId xmlns:p14="http://schemas.microsoft.com/office/powerpoint/2010/main" val="596138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10.png"/><Relationship Id="rId3" Type="http://schemas.openxmlformats.org/officeDocument/2006/relationships/slide" Target="slide15.xml"/><Relationship Id="rId7" Type="http://schemas.openxmlformats.org/officeDocument/2006/relationships/image" Target="../media/image90.png"/><Relationship Id="rId12" Type="http://schemas.openxmlformats.org/officeDocument/2006/relationships/slide" Target="slide18.xml"/><Relationship Id="rId17" Type="http://schemas.openxmlformats.org/officeDocument/2006/relationships/image" Target="../media/image13.png"/><Relationship Id="rId2" Type="http://schemas.openxmlformats.org/officeDocument/2006/relationships/image" Target="../media/image8.png"/><Relationship Id="rId16"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slide" Target="slide16.xml"/><Relationship Id="rId11" Type="http://schemas.openxmlformats.org/officeDocument/2006/relationships/image" Target="../media/image11.png"/><Relationship Id="rId5" Type="http://schemas.openxmlformats.org/officeDocument/2006/relationships/image" Target="../media/image9.png"/><Relationship Id="rId15" Type="http://schemas.openxmlformats.org/officeDocument/2006/relationships/slide" Target="slide19.xml"/><Relationship Id="rId10" Type="http://schemas.openxmlformats.org/officeDocument/2006/relationships/image" Target="../media/image100.png"/><Relationship Id="rId4" Type="http://schemas.openxmlformats.org/officeDocument/2006/relationships/image" Target="../media/image80.png"/><Relationship Id="rId9" Type="http://schemas.openxmlformats.org/officeDocument/2006/relationships/slide" Target="slide17.xml"/><Relationship Id="rId14"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slide" Target="slide18.xml"/><Relationship Id="rId3" Type="http://schemas.openxmlformats.org/officeDocument/2006/relationships/image" Target="../media/image14.png"/><Relationship Id="rId7" Type="http://schemas.openxmlformats.org/officeDocument/2006/relationships/slide" Target="slide16.xml"/><Relationship Id="rId12" Type="http://schemas.openxmlformats.org/officeDocument/2006/relationships/image" Target="../media/image17.png"/><Relationship Id="rId17" Type="http://schemas.openxmlformats.org/officeDocument/2006/relationships/image" Target="../media/image180.png"/><Relationship Id="rId2" Type="http://schemas.openxmlformats.org/officeDocument/2006/relationships/image" Target="../media/image13.png"/><Relationship Id="rId16" Type="http://schemas.openxmlformats.org/officeDocument/2006/relationships/slide" Target="slide19.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60.png"/><Relationship Id="rId5" Type="http://schemas.openxmlformats.org/officeDocument/2006/relationships/image" Target="../media/image140.png"/><Relationship Id="rId15" Type="http://schemas.openxmlformats.org/officeDocument/2006/relationships/image" Target="../media/image18.png"/><Relationship Id="rId10" Type="http://schemas.openxmlformats.org/officeDocument/2006/relationships/slide" Target="slide17.xml"/><Relationship Id="rId4" Type="http://schemas.openxmlformats.org/officeDocument/2006/relationships/slide" Target="slide15.xml"/><Relationship Id="rId9" Type="http://schemas.openxmlformats.org/officeDocument/2006/relationships/image" Target="../media/image16.png"/><Relationship Id="rId14" Type="http://schemas.openxmlformats.org/officeDocument/2006/relationships/image" Target="../media/image170.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1A1FDB2-062F-F595-0DF0-B76934160CE9}"/>
            </a:ext>
          </a:extLst>
        </p:cNvPr>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E53EFFC8-4580-E13E-3EDD-715520C00066}"/>
              </a:ext>
            </a:extLst>
          </p:cNvPr>
          <p:cNvSpPr/>
          <p:nvPr/>
        </p:nvSpPr>
        <p:spPr>
          <a:xfrm>
            <a:off x="163830" y="2843212"/>
            <a:ext cx="2850833" cy="2214563"/>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0F299DF6-BA5E-6AF8-BBFB-88AD5CBD5AD5}"/>
              </a:ext>
            </a:extLst>
          </p:cNvPr>
          <p:cNvSpPr txBox="1"/>
          <p:nvPr/>
        </p:nvSpPr>
        <p:spPr>
          <a:xfrm>
            <a:off x="673608" y="1234219"/>
            <a:ext cx="10844784" cy="1015663"/>
          </a:xfrm>
          <a:prstGeom prst="rect">
            <a:avLst/>
          </a:prstGeom>
          <a:noFill/>
        </p:spPr>
        <p:txBody>
          <a:bodyPr wrap="square" rtlCol="0">
            <a:spAutoFit/>
          </a:bodyPr>
          <a:lstStyle/>
          <a:p>
            <a:r>
              <a:rPr lang="fr-FR" sz="6000" b="1" dirty="0">
                <a:solidFill>
                  <a:schemeClr val="bg1"/>
                </a:solidFill>
                <a:latin typeface="Berlin Sans FB Demi" panose="020E0802020502020306" pitchFamily="34" charset="77"/>
              </a:rPr>
              <a:t>PRESENTATION SAE ENQUETE</a:t>
            </a:r>
          </a:p>
        </p:txBody>
      </p:sp>
      <p:sp>
        <p:nvSpPr>
          <p:cNvPr id="5" name="ZoneTexte 4">
            <a:extLst>
              <a:ext uri="{FF2B5EF4-FFF2-40B4-BE49-F238E27FC236}">
                <a16:creationId xmlns:a16="http://schemas.microsoft.com/office/drawing/2014/main" id="{413ED86F-81C4-6541-8199-F58FDA7E45ED}"/>
              </a:ext>
            </a:extLst>
          </p:cNvPr>
          <p:cNvSpPr txBox="1"/>
          <p:nvPr/>
        </p:nvSpPr>
        <p:spPr>
          <a:xfrm>
            <a:off x="1183386" y="3005943"/>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01</a:t>
            </a:r>
          </a:p>
        </p:txBody>
      </p:sp>
      <p:sp>
        <p:nvSpPr>
          <p:cNvPr id="6" name="ZoneTexte 5">
            <a:extLst>
              <a:ext uri="{FF2B5EF4-FFF2-40B4-BE49-F238E27FC236}">
                <a16:creationId xmlns:a16="http://schemas.microsoft.com/office/drawing/2014/main" id="{D3352A91-FEE4-F72A-90EB-8A29EF4AC25A}"/>
              </a:ext>
            </a:extLst>
          </p:cNvPr>
          <p:cNvSpPr txBox="1"/>
          <p:nvPr/>
        </p:nvSpPr>
        <p:spPr>
          <a:xfrm>
            <a:off x="130111" y="3913732"/>
            <a:ext cx="3346704" cy="1015663"/>
          </a:xfrm>
          <a:prstGeom prst="rect">
            <a:avLst/>
          </a:prstGeom>
          <a:noFill/>
        </p:spPr>
        <p:txBody>
          <a:bodyPr wrap="square" rtlCol="0">
            <a:spAutoFit/>
          </a:bodyPr>
          <a:lstStyle/>
          <a:p>
            <a:r>
              <a:rPr lang="fr-FR" sz="2000" b="1" dirty="0">
                <a:solidFill>
                  <a:schemeClr val="bg1"/>
                </a:solidFill>
                <a:latin typeface="Berlin Sans FB Demi" panose="020E0802020502020306" pitchFamily="34" charset="77"/>
              </a:rPr>
              <a:t>Présentation de la SAE : </a:t>
            </a:r>
          </a:p>
          <a:p>
            <a:r>
              <a:rPr lang="fr-FR" sz="2000" b="1" dirty="0">
                <a:solidFill>
                  <a:schemeClr val="bg1"/>
                </a:solidFill>
                <a:latin typeface="Berlin Sans FB Demi" panose="020E0802020502020306" pitchFamily="34" charset="77"/>
              </a:rPr>
              <a:t>Explication et but </a:t>
            </a:r>
          </a:p>
          <a:p>
            <a:r>
              <a:rPr lang="fr-FR" sz="2000" b="1" dirty="0">
                <a:solidFill>
                  <a:schemeClr val="bg1"/>
                </a:solidFill>
                <a:latin typeface="Berlin Sans FB Demi" panose="020E0802020502020306" pitchFamily="34" charset="77"/>
              </a:rPr>
              <a:t>de la SAE</a:t>
            </a:r>
          </a:p>
        </p:txBody>
      </p:sp>
      <p:sp>
        <p:nvSpPr>
          <p:cNvPr id="8" name="ZoneTexte 7">
            <a:extLst>
              <a:ext uri="{FF2B5EF4-FFF2-40B4-BE49-F238E27FC236}">
                <a16:creationId xmlns:a16="http://schemas.microsoft.com/office/drawing/2014/main" id="{0103BE22-C01D-2ED8-86DB-C3A9B03841CB}"/>
              </a:ext>
            </a:extLst>
          </p:cNvPr>
          <p:cNvSpPr txBox="1"/>
          <p:nvPr/>
        </p:nvSpPr>
        <p:spPr>
          <a:xfrm>
            <a:off x="4002024" y="3027794"/>
            <a:ext cx="10844784" cy="769441"/>
          </a:xfrm>
          <a:prstGeom prst="rect">
            <a:avLst/>
          </a:prstGeom>
          <a:noFill/>
        </p:spPr>
        <p:txBody>
          <a:bodyPr wrap="square" rtlCol="0">
            <a:spAutoFit/>
          </a:bodyPr>
          <a:lstStyle/>
          <a:p>
            <a:r>
              <a:rPr lang="fr-FR" sz="4400" b="1" dirty="0">
                <a:latin typeface="Berlin Sans FB Demi" panose="020E0802020502020306" pitchFamily="34" charset="77"/>
              </a:rPr>
              <a:t>02</a:t>
            </a:r>
          </a:p>
        </p:txBody>
      </p:sp>
      <p:sp>
        <p:nvSpPr>
          <p:cNvPr id="9" name="ZoneTexte 8">
            <a:extLst>
              <a:ext uri="{FF2B5EF4-FFF2-40B4-BE49-F238E27FC236}">
                <a16:creationId xmlns:a16="http://schemas.microsoft.com/office/drawing/2014/main" id="{405D0E71-4267-3AB7-14AA-BE16D967093B}"/>
              </a:ext>
            </a:extLst>
          </p:cNvPr>
          <p:cNvSpPr txBox="1"/>
          <p:nvPr/>
        </p:nvSpPr>
        <p:spPr>
          <a:xfrm>
            <a:off x="3773424" y="3813720"/>
            <a:ext cx="3346704" cy="1015663"/>
          </a:xfrm>
          <a:prstGeom prst="rect">
            <a:avLst/>
          </a:prstGeom>
          <a:noFill/>
        </p:spPr>
        <p:txBody>
          <a:bodyPr wrap="square" rtlCol="0">
            <a:spAutoFit/>
          </a:bodyPr>
          <a:lstStyle/>
          <a:p>
            <a:r>
              <a:rPr lang="fr-FR" sz="2000" b="1" dirty="0">
                <a:latin typeface="Berlin Sans FB Demi" panose="020E0802020502020306" pitchFamily="34" charset="77"/>
              </a:rPr>
              <a:t>Les différentes analyses</a:t>
            </a:r>
          </a:p>
          <a:p>
            <a:r>
              <a:rPr lang="fr-FR" sz="2000" b="1" dirty="0">
                <a:latin typeface="Berlin Sans FB Demi" panose="020E0802020502020306" pitchFamily="34" charset="77"/>
              </a:rPr>
              <a:t>Univariée ( frein , âge , genre etc…)</a:t>
            </a:r>
          </a:p>
        </p:txBody>
      </p:sp>
      <p:sp>
        <p:nvSpPr>
          <p:cNvPr id="10" name="ZoneTexte 9">
            <a:extLst>
              <a:ext uri="{FF2B5EF4-FFF2-40B4-BE49-F238E27FC236}">
                <a16:creationId xmlns:a16="http://schemas.microsoft.com/office/drawing/2014/main" id="{95E5068F-4488-D710-AC2C-FF7EADF99464}"/>
              </a:ext>
            </a:extLst>
          </p:cNvPr>
          <p:cNvSpPr txBox="1"/>
          <p:nvPr/>
        </p:nvSpPr>
        <p:spPr>
          <a:xfrm>
            <a:off x="7120128" y="2997701"/>
            <a:ext cx="10844784" cy="769441"/>
          </a:xfrm>
          <a:prstGeom prst="rect">
            <a:avLst/>
          </a:prstGeom>
          <a:noFill/>
        </p:spPr>
        <p:txBody>
          <a:bodyPr wrap="square" rtlCol="0">
            <a:spAutoFit/>
          </a:bodyPr>
          <a:lstStyle/>
          <a:p>
            <a:r>
              <a:rPr lang="fr-FR" sz="4400" b="1" dirty="0">
                <a:latin typeface="Berlin Sans FB Demi" panose="020E0802020502020306" pitchFamily="34" charset="77"/>
              </a:rPr>
              <a:t>03</a:t>
            </a:r>
          </a:p>
        </p:txBody>
      </p:sp>
      <p:sp>
        <p:nvSpPr>
          <p:cNvPr id="12" name="ZoneTexte 11">
            <a:extLst>
              <a:ext uri="{FF2B5EF4-FFF2-40B4-BE49-F238E27FC236}">
                <a16:creationId xmlns:a16="http://schemas.microsoft.com/office/drawing/2014/main" id="{CE44C531-6593-3804-3F74-666A66EE6FB1}"/>
              </a:ext>
            </a:extLst>
          </p:cNvPr>
          <p:cNvSpPr txBox="1"/>
          <p:nvPr/>
        </p:nvSpPr>
        <p:spPr>
          <a:xfrm>
            <a:off x="6799326" y="3802688"/>
            <a:ext cx="3346704" cy="923330"/>
          </a:xfrm>
          <a:prstGeom prst="rect">
            <a:avLst/>
          </a:prstGeom>
          <a:noFill/>
        </p:spPr>
        <p:txBody>
          <a:bodyPr wrap="square" rtlCol="0">
            <a:spAutoFit/>
          </a:bodyPr>
          <a:lstStyle/>
          <a:p>
            <a:r>
              <a:rPr lang="fr-FR" b="1" dirty="0">
                <a:latin typeface="Berlin Sans FB Demi" panose="020E0802020502020306" pitchFamily="34" charset="77"/>
              </a:rPr>
              <a:t>Les différentes analyses </a:t>
            </a:r>
          </a:p>
          <a:p>
            <a:r>
              <a:rPr lang="fr-FR" b="1" dirty="0">
                <a:latin typeface="Berlin Sans FB Demi" panose="020E0802020502020306" pitchFamily="34" charset="77"/>
              </a:rPr>
              <a:t>Bivariée ( frein/genre , frein/âge etc…)</a:t>
            </a:r>
          </a:p>
        </p:txBody>
      </p:sp>
      <p:sp>
        <p:nvSpPr>
          <p:cNvPr id="13" name="ZoneTexte 12">
            <a:extLst>
              <a:ext uri="{FF2B5EF4-FFF2-40B4-BE49-F238E27FC236}">
                <a16:creationId xmlns:a16="http://schemas.microsoft.com/office/drawing/2014/main" id="{4C571583-9FF8-DE5C-B00D-82483702B091}"/>
              </a:ext>
            </a:extLst>
          </p:cNvPr>
          <p:cNvSpPr txBox="1"/>
          <p:nvPr/>
        </p:nvSpPr>
        <p:spPr>
          <a:xfrm>
            <a:off x="9653016" y="2948138"/>
            <a:ext cx="10844784" cy="769441"/>
          </a:xfrm>
          <a:prstGeom prst="rect">
            <a:avLst/>
          </a:prstGeom>
          <a:noFill/>
        </p:spPr>
        <p:txBody>
          <a:bodyPr wrap="square" rtlCol="0">
            <a:spAutoFit/>
          </a:bodyPr>
          <a:lstStyle/>
          <a:p>
            <a:r>
              <a:rPr lang="fr-FR" sz="4400" b="1" dirty="0">
                <a:latin typeface="Berlin Sans FB Demi" panose="020E0802020502020306" pitchFamily="34" charset="77"/>
              </a:rPr>
              <a:t>04</a:t>
            </a:r>
          </a:p>
        </p:txBody>
      </p:sp>
      <p:sp>
        <p:nvSpPr>
          <p:cNvPr id="15" name="ZoneTexte 14">
            <a:extLst>
              <a:ext uri="{FF2B5EF4-FFF2-40B4-BE49-F238E27FC236}">
                <a16:creationId xmlns:a16="http://schemas.microsoft.com/office/drawing/2014/main" id="{47710E51-6ACB-0508-6C7B-2C047831BA16}"/>
              </a:ext>
            </a:extLst>
          </p:cNvPr>
          <p:cNvSpPr txBox="1"/>
          <p:nvPr/>
        </p:nvSpPr>
        <p:spPr>
          <a:xfrm>
            <a:off x="9825228" y="3805706"/>
            <a:ext cx="3346704" cy="1015663"/>
          </a:xfrm>
          <a:prstGeom prst="rect">
            <a:avLst/>
          </a:prstGeom>
          <a:noFill/>
        </p:spPr>
        <p:txBody>
          <a:bodyPr wrap="square" rtlCol="0">
            <a:spAutoFit/>
          </a:bodyPr>
          <a:lstStyle/>
          <a:p>
            <a:r>
              <a:rPr lang="fr-FR" sz="2000" b="1" dirty="0">
                <a:latin typeface="Berlin Sans FB" panose="020E0602020502020306" pitchFamily="34" charset="77"/>
              </a:rPr>
              <a:t>Test Du Chi² </a:t>
            </a:r>
          </a:p>
          <a:p>
            <a:r>
              <a:rPr lang="fr-FR" sz="2000" b="1" dirty="0">
                <a:latin typeface="Berlin Sans FB" panose="020E0602020502020306" pitchFamily="34" charset="77"/>
              </a:rPr>
              <a:t>Genre/Frein et </a:t>
            </a:r>
          </a:p>
          <a:p>
            <a:r>
              <a:rPr lang="fr-FR" sz="2000" b="1" dirty="0" err="1">
                <a:latin typeface="Berlin Sans FB" panose="020E0602020502020306" pitchFamily="34" charset="77"/>
              </a:rPr>
              <a:t>Concusion</a:t>
            </a:r>
            <a:endParaRPr lang="fr-FR" sz="2000" b="1" dirty="0">
              <a:latin typeface="Berlin Sans FB" panose="020E0602020502020306" pitchFamily="34" charset="77"/>
            </a:endParaRPr>
          </a:p>
        </p:txBody>
      </p:sp>
      <p:pic>
        <p:nvPicPr>
          <p:cNvPr id="17" name="Picture 4">
            <a:extLst>
              <a:ext uri="{FF2B5EF4-FFF2-40B4-BE49-F238E27FC236}">
                <a16:creationId xmlns:a16="http://schemas.microsoft.com/office/drawing/2014/main" id="{2D8307DB-975C-6B34-44A6-7C026179B7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830" y="36556"/>
            <a:ext cx="3170269" cy="1208665"/>
          </a:xfrm>
          <a:prstGeom prst="rect">
            <a:avLst/>
          </a:prstGeom>
          <a:noFill/>
          <a:extLst>
            <a:ext uri="{909E8E84-426E-40DD-AFC4-6F175D3DCCD1}">
              <a14:hiddenFill xmlns:a14="http://schemas.microsoft.com/office/drawing/2010/main">
                <a:solidFill>
                  <a:srgbClr val="FFFFFF"/>
                </a:solidFill>
              </a14:hiddenFill>
            </a:ext>
          </a:extLst>
        </p:spPr>
      </p:pic>
      <p:sp>
        <p:nvSpPr>
          <p:cNvPr id="18" name="ZoneTexte 17">
            <a:extLst>
              <a:ext uri="{FF2B5EF4-FFF2-40B4-BE49-F238E27FC236}">
                <a16:creationId xmlns:a16="http://schemas.microsoft.com/office/drawing/2014/main" id="{BCECA645-B197-25EA-FC01-961E18A8A42A}"/>
              </a:ext>
            </a:extLst>
          </p:cNvPr>
          <p:cNvSpPr txBox="1"/>
          <p:nvPr/>
        </p:nvSpPr>
        <p:spPr>
          <a:xfrm>
            <a:off x="11682222" y="6027003"/>
            <a:ext cx="509778"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a:t>
            </a:r>
          </a:p>
        </p:txBody>
      </p:sp>
      <p:sp>
        <p:nvSpPr>
          <p:cNvPr id="2" name="ZoneTexte 1">
            <a:extLst>
              <a:ext uri="{FF2B5EF4-FFF2-40B4-BE49-F238E27FC236}">
                <a16:creationId xmlns:a16="http://schemas.microsoft.com/office/drawing/2014/main" id="{E2CF3217-D67F-F7F6-5DC9-6D682C65E8C8}"/>
              </a:ext>
            </a:extLst>
          </p:cNvPr>
          <p:cNvSpPr txBox="1"/>
          <p:nvPr/>
        </p:nvSpPr>
        <p:spPr>
          <a:xfrm>
            <a:off x="3925824" y="3966120"/>
            <a:ext cx="3346704" cy="1015663"/>
          </a:xfrm>
          <a:prstGeom prst="rect">
            <a:avLst/>
          </a:prstGeom>
          <a:noFill/>
        </p:spPr>
        <p:txBody>
          <a:bodyPr wrap="square" rtlCol="0">
            <a:spAutoFit/>
          </a:bodyPr>
          <a:lstStyle/>
          <a:p>
            <a:r>
              <a:rPr lang="fr-FR" sz="2000" b="1" dirty="0">
                <a:latin typeface="Berlin Sans FB Demi" panose="020E0802020502020306" pitchFamily="34" charset="77"/>
              </a:rPr>
              <a:t>Les différentes analyses</a:t>
            </a:r>
          </a:p>
          <a:p>
            <a:r>
              <a:rPr lang="fr-FR" sz="2000" b="1" dirty="0">
                <a:latin typeface="Berlin Sans FB Demi" panose="020E0802020502020306" pitchFamily="34" charset="77"/>
              </a:rPr>
              <a:t>Univariée ( frein , âge , genre etc…)</a:t>
            </a:r>
          </a:p>
        </p:txBody>
      </p:sp>
      <p:sp>
        <p:nvSpPr>
          <p:cNvPr id="7" name="ZoneTexte 6">
            <a:extLst>
              <a:ext uri="{FF2B5EF4-FFF2-40B4-BE49-F238E27FC236}">
                <a16:creationId xmlns:a16="http://schemas.microsoft.com/office/drawing/2014/main" id="{A6384A68-C528-7DDF-77C6-1788FB95F1A2}"/>
              </a:ext>
            </a:extLst>
          </p:cNvPr>
          <p:cNvSpPr txBox="1"/>
          <p:nvPr/>
        </p:nvSpPr>
        <p:spPr>
          <a:xfrm>
            <a:off x="9803413" y="163234"/>
            <a:ext cx="2224756" cy="646331"/>
          </a:xfrm>
          <a:prstGeom prst="rect">
            <a:avLst/>
          </a:prstGeom>
          <a:noFill/>
        </p:spPr>
        <p:txBody>
          <a:bodyPr wrap="square" rtlCol="0">
            <a:spAutoFit/>
          </a:bodyPr>
          <a:lstStyle/>
          <a:p>
            <a:r>
              <a:rPr lang="fr-FR" dirty="0">
                <a:solidFill>
                  <a:schemeClr val="bg1"/>
                </a:solidFill>
              </a:rPr>
              <a:t>BUT SD 1</a:t>
            </a:r>
            <a:r>
              <a:rPr lang="fr-FR" baseline="30000" dirty="0">
                <a:solidFill>
                  <a:schemeClr val="bg1"/>
                </a:solidFill>
              </a:rPr>
              <a:t>er</a:t>
            </a:r>
            <a:r>
              <a:rPr lang="fr-FR" dirty="0">
                <a:solidFill>
                  <a:schemeClr val="bg1"/>
                </a:solidFill>
              </a:rPr>
              <a:t> année </a:t>
            </a:r>
          </a:p>
          <a:p>
            <a:r>
              <a:rPr lang="fr-FR" dirty="0">
                <a:solidFill>
                  <a:schemeClr val="bg1"/>
                </a:solidFill>
              </a:rPr>
              <a:t>2024 / 2025</a:t>
            </a:r>
          </a:p>
        </p:txBody>
      </p:sp>
      <p:sp>
        <p:nvSpPr>
          <p:cNvPr id="14" name="ZoneTexte 13">
            <a:extLst>
              <a:ext uri="{FF2B5EF4-FFF2-40B4-BE49-F238E27FC236}">
                <a16:creationId xmlns:a16="http://schemas.microsoft.com/office/drawing/2014/main" id="{459A2E23-9D41-2C38-9F65-B5E84CD672DD}"/>
              </a:ext>
            </a:extLst>
          </p:cNvPr>
          <p:cNvSpPr txBox="1"/>
          <p:nvPr/>
        </p:nvSpPr>
        <p:spPr>
          <a:xfrm>
            <a:off x="130111" y="5863776"/>
            <a:ext cx="5833367" cy="923330"/>
          </a:xfrm>
          <a:prstGeom prst="rect">
            <a:avLst/>
          </a:prstGeom>
          <a:noFill/>
        </p:spPr>
        <p:txBody>
          <a:bodyPr wrap="square" rtlCol="0">
            <a:spAutoFit/>
          </a:bodyPr>
          <a:lstStyle/>
          <a:p>
            <a:r>
              <a:rPr lang="fr-FR" dirty="0">
                <a:solidFill>
                  <a:schemeClr val="bg1"/>
                </a:solidFill>
                <a:latin typeface="Berlin Sans FB" panose="020E0602020502020306" pitchFamily="34" charset="77"/>
              </a:rPr>
              <a:t>Babouri Yacine                           </a:t>
            </a:r>
            <a:r>
              <a:rPr lang="fr-FR" dirty="0" err="1">
                <a:solidFill>
                  <a:schemeClr val="bg1"/>
                </a:solidFill>
                <a:latin typeface="Berlin Sans FB" panose="020E0602020502020306" pitchFamily="34" charset="77"/>
              </a:rPr>
              <a:t>Chiker</a:t>
            </a:r>
            <a:r>
              <a:rPr lang="fr-FR" dirty="0">
                <a:solidFill>
                  <a:schemeClr val="bg1"/>
                </a:solidFill>
                <a:latin typeface="Berlin Sans FB" panose="020E0602020502020306" pitchFamily="34" charset="77"/>
              </a:rPr>
              <a:t> Younes                                                </a:t>
            </a:r>
          </a:p>
          <a:p>
            <a:endParaRPr lang="fr-FR" dirty="0">
              <a:solidFill>
                <a:schemeClr val="bg1"/>
              </a:solidFill>
              <a:latin typeface="Berlin Sans FB" panose="020E0602020502020306" pitchFamily="34" charset="77"/>
            </a:endParaRPr>
          </a:p>
          <a:p>
            <a:r>
              <a:rPr lang="fr-FR" dirty="0">
                <a:solidFill>
                  <a:schemeClr val="bg1"/>
                </a:solidFill>
                <a:latin typeface="Berlin Sans FB" panose="020E0602020502020306" pitchFamily="34" charset="77"/>
              </a:rPr>
              <a:t>Ait </a:t>
            </a:r>
            <a:r>
              <a:rPr lang="fr-FR" dirty="0" err="1">
                <a:solidFill>
                  <a:schemeClr val="bg1"/>
                </a:solidFill>
                <a:latin typeface="Berlin Sans FB" panose="020E0602020502020306" pitchFamily="34" charset="77"/>
              </a:rPr>
              <a:t>zaouit</a:t>
            </a:r>
            <a:r>
              <a:rPr lang="fr-FR" dirty="0">
                <a:solidFill>
                  <a:schemeClr val="bg1"/>
                </a:solidFill>
                <a:latin typeface="Berlin Sans FB" panose="020E0602020502020306" pitchFamily="34" charset="77"/>
              </a:rPr>
              <a:t> Rida          </a:t>
            </a:r>
            <a:r>
              <a:rPr lang="fr-FR" dirty="0" err="1">
                <a:solidFill>
                  <a:schemeClr val="bg1"/>
                </a:solidFill>
                <a:latin typeface="Berlin Sans FB" panose="020E0602020502020306" pitchFamily="34" charset="77"/>
              </a:rPr>
              <a:t>Bayarmaa</a:t>
            </a:r>
            <a:r>
              <a:rPr lang="fr-FR" dirty="0">
                <a:solidFill>
                  <a:schemeClr val="bg1"/>
                </a:solidFill>
                <a:latin typeface="Berlin Sans FB" panose="020E0602020502020306" pitchFamily="34" charset="77"/>
              </a:rPr>
              <a:t> </a:t>
            </a:r>
            <a:r>
              <a:rPr lang="fr-FR" dirty="0" err="1">
                <a:solidFill>
                  <a:schemeClr val="bg1"/>
                </a:solidFill>
                <a:latin typeface="Berlin Sans FB" panose="020E0602020502020306" pitchFamily="34" charset="77"/>
              </a:rPr>
              <a:t>Javkhlantugs</a:t>
            </a:r>
            <a:endParaRPr lang="fr-FR" dirty="0">
              <a:solidFill>
                <a:schemeClr val="bg1"/>
              </a:solidFill>
              <a:latin typeface="Berlin Sans FB" panose="020E0602020502020306" pitchFamily="34" charset="77"/>
            </a:endParaRPr>
          </a:p>
        </p:txBody>
      </p:sp>
      <p:sp>
        <p:nvSpPr>
          <p:cNvPr id="19" name="ZoneTexte 18">
            <a:extLst>
              <a:ext uri="{FF2B5EF4-FFF2-40B4-BE49-F238E27FC236}">
                <a16:creationId xmlns:a16="http://schemas.microsoft.com/office/drawing/2014/main" id="{F1DADDBF-C9F2-332A-0E6E-B00E616A0053}"/>
              </a:ext>
            </a:extLst>
          </p:cNvPr>
          <p:cNvSpPr txBox="1"/>
          <p:nvPr/>
        </p:nvSpPr>
        <p:spPr>
          <a:xfrm>
            <a:off x="8272761" y="6429336"/>
            <a:ext cx="3150614" cy="369332"/>
          </a:xfrm>
          <a:prstGeom prst="rect">
            <a:avLst/>
          </a:prstGeom>
          <a:noFill/>
        </p:spPr>
        <p:txBody>
          <a:bodyPr wrap="square" rtlCol="0">
            <a:spAutoFit/>
          </a:bodyPr>
          <a:lstStyle/>
          <a:p>
            <a:r>
              <a:rPr lang="fr-FR" dirty="0">
                <a:solidFill>
                  <a:schemeClr val="bg1"/>
                </a:solidFill>
                <a:latin typeface="Berlin Sans FB" panose="020E0602020502020306" pitchFamily="34" charset="77"/>
              </a:rPr>
              <a:t>Vendredi 31 janvier 2025</a:t>
            </a:r>
          </a:p>
        </p:txBody>
      </p:sp>
    </p:spTree>
    <p:extLst>
      <p:ext uri="{BB962C8B-B14F-4D97-AF65-F5344CB8AC3E}">
        <p14:creationId xmlns:p14="http://schemas.microsoft.com/office/powerpoint/2010/main" val="2500363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C858DD8-98B7-8CD3-12FD-5AE162E2F9BF}"/>
            </a:ext>
          </a:extLst>
        </p:cNvPr>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EE4B9176-D2DF-2042-DB39-4AB893215928}"/>
              </a:ext>
            </a:extLst>
          </p:cNvPr>
          <p:cNvSpPr/>
          <p:nvPr/>
        </p:nvSpPr>
        <p:spPr>
          <a:xfrm>
            <a:off x="3716274" y="3044280"/>
            <a:ext cx="2818638" cy="2170658"/>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89DAB8D1-30DC-75F4-2123-BA4EDE08F83B}"/>
              </a:ext>
            </a:extLst>
          </p:cNvPr>
          <p:cNvSpPr txBox="1"/>
          <p:nvPr/>
        </p:nvSpPr>
        <p:spPr>
          <a:xfrm>
            <a:off x="673608" y="1234219"/>
            <a:ext cx="10844784" cy="1015663"/>
          </a:xfrm>
          <a:prstGeom prst="rect">
            <a:avLst/>
          </a:prstGeom>
          <a:noFill/>
        </p:spPr>
        <p:txBody>
          <a:bodyPr wrap="square" rtlCol="0">
            <a:spAutoFit/>
          </a:bodyPr>
          <a:lstStyle/>
          <a:p>
            <a:r>
              <a:rPr lang="fr-FR" sz="6000" b="1" dirty="0">
                <a:solidFill>
                  <a:schemeClr val="bg1"/>
                </a:solidFill>
                <a:latin typeface="Berlin Sans FB Demi" panose="020E0802020502020306" pitchFamily="34" charset="77"/>
              </a:rPr>
              <a:t>PRESENTATION SAE ENQUETE</a:t>
            </a:r>
          </a:p>
        </p:txBody>
      </p:sp>
      <p:sp>
        <p:nvSpPr>
          <p:cNvPr id="5" name="ZoneTexte 4">
            <a:extLst>
              <a:ext uri="{FF2B5EF4-FFF2-40B4-BE49-F238E27FC236}">
                <a16:creationId xmlns:a16="http://schemas.microsoft.com/office/drawing/2014/main" id="{9BFBD10C-1A81-42FA-265F-D70EFE3AB70A}"/>
              </a:ext>
            </a:extLst>
          </p:cNvPr>
          <p:cNvSpPr txBox="1"/>
          <p:nvPr/>
        </p:nvSpPr>
        <p:spPr>
          <a:xfrm>
            <a:off x="1183386" y="3005943"/>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01</a:t>
            </a:r>
          </a:p>
        </p:txBody>
      </p:sp>
      <p:sp>
        <p:nvSpPr>
          <p:cNvPr id="6" name="ZoneTexte 5">
            <a:extLst>
              <a:ext uri="{FF2B5EF4-FFF2-40B4-BE49-F238E27FC236}">
                <a16:creationId xmlns:a16="http://schemas.microsoft.com/office/drawing/2014/main" id="{807CDEB0-E13B-A0F4-B746-C44E4FDE4BB7}"/>
              </a:ext>
            </a:extLst>
          </p:cNvPr>
          <p:cNvSpPr txBox="1"/>
          <p:nvPr/>
        </p:nvSpPr>
        <p:spPr>
          <a:xfrm>
            <a:off x="130111" y="3913732"/>
            <a:ext cx="3346704" cy="707886"/>
          </a:xfrm>
          <a:prstGeom prst="rect">
            <a:avLst/>
          </a:prstGeom>
          <a:noFill/>
        </p:spPr>
        <p:txBody>
          <a:bodyPr wrap="square" rtlCol="0">
            <a:spAutoFit/>
          </a:bodyPr>
          <a:lstStyle/>
          <a:p>
            <a:r>
              <a:rPr lang="fr-FR" sz="2000" b="1" dirty="0">
                <a:solidFill>
                  <a:schemeClr val="bg1"/>
                </a:solidFill>
                <a:latin typeface="Berlin Sans FB Demi" panose="020E0802020502020306" pitchFamily="34" charset="77"/>
              </a:rPr>
              <a:t>Présentation de la SAE : </a:t>
            </a:r>
          </a:p>
          <a:p>
            <a:r>
              <a:rPr lang="fr-FR" sz="2000" b="1" dirty="0">
                <a:solidFill>
                  <a:schemeClr val="bg1"/>
                </a:solidFill>
                <a:latin typeface="Berlin Sans FB Demi" panose="020E0802020502020306" pitchFamily="34" charset="77"/>
              </a:rPr>
              <a:t>Explication et but de la SAE</a:t>
            </a:r>
          </a:p>
        </p:txBody>
      </p:sp>
      <p:sp>
        <p:nvSpPr>
          <p:cNvPr id="8" name="ZoneTexte 7">
            <a:extLst>
              <a:ext uri="{FF2B5EF4-FFF2-40B4-BE49-F238E27FC236}">
                <a16:creationId xmlns:a16="http://schemas.microsoft.com/office/drawing/2014/main" id="{7B5E3D94-6114-89EA-A4F8-00FABBEFDB2B}"/>
              </a:ext>
            </a:extLst>
          </p:cNvPr>
          <p:cNvSpPr txBox="1"/>
          <p:nvPr/>
        </p:nvSpPr>
        <p:spPr>
          <a:xfrm>
            <a:off x="4002024" y="3027794"/>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02</a:t>
            </a:r>
          </a:p>
        </p:txBody>
      </p:sp>
      <p:sp>
        <p:nvSpPr>
          <p:cNvPr id="9" name="ZoneTexte 8">
            <a:extLst>
              <a:ext uri="{FF2B5EF4-FFF2-40B4-BE49-F238E27FC236}">
                <a16:creationId xmlns:a16="http://schemas.microsoft.com/office/drawing/2014/main" id="{33C493D1-5809-0A21-EC4A-C318C7EB6FD6}"/>
              </a:ext>
            </a:extLst>
          </p:cNvPr>
          <p:cNvSpPr txBox="1"/>
          <p:nvPr/>
        </p:nvSpPr>
        <p:spPr>
          <a:xfrm>
            <a:off x="3773424" y="3813720"/>
            <a:ext cx="3346704" cy="1015663"/>
          </a:xfrm>
          <a:prstGeom prst="rect">
            <a:avLst/>
          </a:prstGeom>
          <a:noFill/>
        </p:spPr>
        <p:txBody>
          <a:bodyPr wrap="square" rtlCol="0">
            <a:spAutoFit/>
          </a:bodyPr>
          <a:lstStyle/>
          <a:p>
            <a:r>
              <a:rPr lang="fr-FR" sz="2000" b="1" dirty="0">
                <a:solidFill>
                  <a:schemeClr val="bg1"/>
                </a:solidFill>
                <a:latin typeface="Berlin Sans FB Demi" panose="020E0802020502020306" pitchFamily="34" charset="77"/>
              </a:rPr>
              <a:t>Les différentes analyses</a:t>
            </a:r>
          </a:p>
          <a:p>
            <a:r>
              <a:rPr lang="fr-FR" sz="2000" b="1" dirty="0">
                <a:solidFill>
                  <a:schemeClr val="bg1"/>
                </a:solidFill>
                <a:latin typeface="Berlin Sans FB Demi" panose="020E0802020502020306" pitchFamily="34" charset="77"/>
              </a:rPr>
              <a:t>Univariée ( frein , âge , genre etc…)</a:t>
            </a:r>
          </a:p>
        </p:txBody>
      </p:sp>
      <p:sp>
        <p:nvSpPr>
          <p:cNvPr id="10" name="ZoneTexte 9">
            <a:extLst>
              <a:ext uri="{FF2B5EF4-FFF2-40B4-BE49-F238E27FC236}">
                <a16:creationId xmlns:a16="http://schemas.microsoft.com/office/drawing/2014/main" id="{A12EBA58-05CD-5FD2-F49E-FEDE4C88998E}"/>
              </a:ext>
            </a:extLst>
          </p:cNvPr>
          <p:cNvSpPr txBox="1"/>
          <p:nvPr/>
        </p:nvSpPr>
        <p:spPr>
          <a:xfrm>
            <a:off x="7120128" y="2997701"/>
            <a:ext cx="10844784" cy="769441"/>
          </a:xfrm>
          <a:prstGeom prst="rect">
            <a:avLst/>
          </a:prstGeom>
          <a:noFill/>
        </p:spPr>
        <p:txBody>
          <a:bodyPr wrap="square" rtlCol="0">
            <a:spAutoFit/>
          </a:bodyPr>
          <a:lstStyle/>
          <a:p>
            <a:r>
              <a:rPr lang="fr-FR" sz="4400" b="1" dirty="0">
                <a:latin typeface="Berlin Sans FB Demi" panose="020E0802020502020306" pitchFamily="34" charset="77"/>
              </a:rPr>
              <a:t>03</a:t>
            </a:r>
          </a:p>
        </p:txBody>
      </p:sp>
      <p:sp>
        <p:nvSpPr>
          <p:cNvPr id="12" name="ZoneTexte 11">
            <a:extLst>
              <a:ext uri="{FF2B5EF4-FFF2-40B4-BE49-F238E27FC236}">
                <a16:creationId xmlns:a16="http://schemas.microsoft.com/office/drawing/2014/main" id="{27DCF902-EF86-9B56-DDC9-14FFC97E564B}"/>
              </a:ext>
            </a:extLst>
          </p:cNvPr>
          <p:cNvSpPr txBox="1"/>
          <p:nvPr/>
        </p:nvSpPr>
        <p:spPr>
          <a:xfrm>
            <a:off x="6799326" y="3802688"/>
            <a:ext cx="3346704" cy="923330"/>
          </a:xfrm>
          <a:prstGeom prst="rect">
            <a:avLst/>
          </a:prstGeom>
          <a:noFill/>
        </p:spPr>
        <p:txBody>
          <a:bodyPr wrap="square" rtlCol="0">
            <a:spAutoFit/>
          </a:bodyPr>
          <a:lstStyle/>
          <a:p>
            <a:r>
              <a:rPr lang="fr-FR" b="1" dirty="0">
                <a:latin typeface="Berlin Sans FB Demi" panose="020E0802020502020306" pitchFamily="34" charset="77"/>
              </a:rPr>
              <a:t>Les différentes analyses </a:t>
            </a:r>
          </a:p>
          <a:p>
            <a:r>
              <a:rPr lang="fr-FR" b="1" dirty="0">
                <a:latin typeface="Berlin Sans FB Demi" panose="020E0802020502020306" pitchFamily="34" charset="77"/>
              </a:rPr>
              <a:t>Bivariée ( frein/genre , frein/âge etc…)</a:t>
            </a:r>
          </a:p>
        </p:txBody>
      </p:sp>
      <p:sp>
        <p:nvSpPr>
          <p:cNvPr id="13" name="ZoneTexte 12">
            <a:extLst>
              <a:ext uri="{FF2B5EF4-FFF2-40B4-BE49-F238E27FC236}">
                <a16:creationId xmlns:a16="http://schemas.microsoft.com/office/drawing/2014/main" id="{9FEA9D77-092E-97ED-AA00-C820B3E6405D}"/>
              </a:ext>
            </a:extLst>
          </p:cNvPr>
          <p:cNvSpPr txBox="1"/>
          <p:nvPr/>
        </p:nvSpPr>
        <p:spPr>
          <a:xfrm>
            <a:off x="9653016" y="2948138"/>
            <a:ext cx="10844784" cy="769441"/>
          </a:xfrm>
          <a:prstGeom prst="rect">
            <a:avLst/>
          </a:prstGeom>
          <a:noFill/>
        </p:spPr>
        <p:txBody>
          <a:bodyPr wrap="square" rtlCol="0">
            <a:spAutoFit/>
          </a:bodyPr>
          <a:lstStyle/>
          <a:p>
            <a:r>
              <a:rPr lang="fr-FR" sz="4400" b="1" dirty="0">
                <a:latin typeface="Berlin Sans FB Demi" panose="020E0802020502020306" pitchFamily="34" charset="77"/>
              </a:rPr>
              <a:t>04</a:t>
            </a:r>
          </a:p>
        </p:txBody>
      </p:sp>
      <p:sp>
        <p:nvSpPr>
          <p:cNvPr id="15" name="ZoneTexte 14">
            <a:extLst>
              <a:ext uri="{FF2B5EF4-FFF2-40B4-BE49-F238E27FC236}">
                <a16:creationId xmlns:a16="http://schemas.microsoft.com/office/drawing/2014/main" id="{E9AAC7F7-7FDB-3C13-4148-F651D36B3966}"/>
              </a:ext>
            </a:extLst>
          </p:cNvPr>
          <p:cNvSpPr txBox="1"/>
          <p:nvPr/>
        </p:nvSpPr>
        <p:spPr>
          <a:xfrm>
            <a:off x="9825228" y="3805706"/>
            <a:ext cx="3346704" cy="1015663"/>
          </a:xfrm>
          <a:prstGeom prst="rect">
            <a:avLst/>
          </a:prstGeom>
          <a:noFill/>
        </p:spPr>
        <p:txBody>
          <a:bodyPr wrap="square" rtlCol="0">
            <a:spAutoFit/>
          </a:bodyPr>
          <a:lstStyle/>
          <a:p>
            <a:r>
              <a:rPr lang="fr-FR" sz="2000" b="1" dirty="0">
                <a:latin typeface="Berlin Sans FB" panose="020E0602020502020306" pitchFamily="34" charset="77"/>
              </a:rPr>
              <a:t>Test Du Chi² </a:t>
            </a:r>
          </a:p>
          <a:p>
            <a:r>
              <a:rPr lang="fr-FR" sz="2000" b="1" dirty="0">
                <a:latin typeface="Berlin Sans FB" panose="020E0602020502020306" pitchFamily="34" charset="77"/>
              </a:rPr>
              <a:t>Genre/Frein et </a:t>
            </a:r>
          </a:p>
          <a:p>
            <a:r>
              <a:rPr lang="fr-FR" sz="2000" b="1" dirty="0" err="1">
                <a:latin typeface="Berlin Sans FB" panose="020E0602020502020306" pitchFamily="34" charset="77"/>
              </a:rPr>
              <a:t>Concusion</a:t>
            </a:r>
            <a:endParaRPr lang="fr-FR" sz="2000" b="1" dirty="0">
              <a:latin typeface="Berlin Sans FB" panose="020E0602020502020306" pitchFamily="34" charset="77"/>
            </a:endParaRPr>
          </a:p>
        </p:txBody>
      </p:sp>
      <p:sp>
        <p:nvSpPr>
          <p:cNvPr id="2" name="ZoneTexte 1">
            <a:extLst>
              <a:ext uri="{FF2B5EF4-FFF2-40B4-BE49-F238E27FC236}">
                <a16:creationId xmlns:a16="http://schemas.microsoft.com/office/drawing/2014/main" id="{064CD210-C9FB-0B61-22BB-4C451CCA70A5}"/>
              </a:ext>
            </a:extLst>
          </p:cNvPr>
          <p:cNvSpPr txBox="1"/>
          <p:nvPr/>
        </p:nvSpPr>
        <p:spPr>
          <a:xfrm>
            <a:off x="11682222" y="6027003"/>
            <a:ext cx="509778" cy="1569660"/>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2</a:t>
            </a:r>
          </a:p>
          <a:p>
            <a:endParaRPr lang="fr-FR" sz="4800" dirty="0">
              <a:solidFill>
                <a:schemeClr val="bg1"/>
              </a:solidFill>
              <a:latin typeface="Berlin Sans FB" panose="020E0602020502020306" pitchFamily="34" charset="77"/>
            </a:endParaRPr>
          </a:p>
        </p:txBody>
      </p:sp>
      <p:sp>
        <p:nvSpPr>
          <p:cNvPr id="11" name="ZoneTexte 10">
            <a:extLst>
              <a:ext uri="{FF2B5EF4-FFF2-40B4-BE49-F238E27FC236}">
                <a16:creationId xmlns:a16="http://schemas.microsoft.com/office/drawing/2014/main" id="{9A189A65-E8F9-572C-09CF-9700B33D82AB}"/>
              </a:ext>
            </a:extLst>
          </p:cNvPr>
          <p:cNvSpPr txBox="1"/>
          <p:nvPr/>
        </p:nvSpPr>
        <p:spPr>
          <a:xfrm>
            <a:off x="9803413" y="163234"/>
            <a:ext cx="2224756" cy="646331"/>
          </a:xfrm>
          <a:prstGeom prst="rect">
            <a:avLst/>
          </a:prstGeom>
          <a:noFill/>
        </p:spPr>
        <p:txBody>
          <a:bodyPr wrap="square" rtlCol="0">
            <a:spAutoFit/>
          </a:bodyPr>
          <a:lstStyle/>
          <a:p>
            <a:r>
              <a:rPr lang="fr-FR" dirty="0">
                <a:solidFill>
                  <a:schemeClr val="bg1"/>
                </a:solidFill>
              </a:rPr>
              <a:t>BUT SD 1</a:t>
            </a:r>
            <a:r>
              <a:rPr lang="fr-FR" baseline="30000" dirty="0">
                <a:solidFill>
                  <a:schemeClr val="bg1"/>
                </a:solidFill>
              </a:rPr>
              <a:t>er</a:t>
            </a:r>
            <a:r>
              <a:rPr lang="fr-FR" dirty="0">
                <a:solidFill>
                  <a:schemeClr val="bg1"/>
                </a:solidFill>
              </a:rPr>
              <a:t> année </a:t>
            </a:r>
          </a:p>
          <a:p>
            <a:r>
              <a:rPr lang="fr-FR" dirty="0">
                <a:solidFill>
                  <a:schemeClr val="bg1"/>
                </a:solidFill>
              </a:rPr>
              <a:t>2024 / 2025</a:t>
            </a:r>
          </a:p>
        </p:txBody>
      </p:sp>
      <p:pic>
        <p:nvPicPr>
          <p:cNvPr id="14" name="Picture 4">
            <a:extLst>
              <a:ext uri="{FF2B5EF4-FFF2-40B4-BE49-F238E27FC236}">
                <a16:creationId xmlns:a16="http://schemas.microsoft.com/office/drawing/2014/main" id="{3664F35B-0BDD-E9C1-544A-37ECF5E01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 y="36556"/>
            <a:ext cx="3170269" cy="1208665"/>
          </a:xfrm>
          <a:prstGeom prst="rect">
            <a:avLst/>
          </a:prstGeom>
          <a:noFill/>
          <a:extLst>
            <a:ext uri="{909E8E84-426E-40DD-AFC4-6F175D3DCCD1}">
              <a14:hiddenFill xmlns:a14="http://schemas.microsoft.com/office/drawing/2010/main">
                <a:solidFill>
                  <a:srgbClr val="FFFFFF"/>
                </a:solidFill>
              </a14:hiddenFill>
            </a:ext>
          </a:extLst>
        </p:spPr>
      </p:pic>
      <p:sp>
        <p:nvSpPr>
          <p:cNvPr id="17" name="ZoneTexte 16">
            <a:extLst>
              <a:ext uri="{FF2B5EF4-FFF2-40B4-BE49-F238E27FC236}">
                <a16:creationId xmlns:a16="http://schemas.microsoft.com/office/drawing/2014/main" id="{E1E2D189-161A-2E4A-5E00-C823C01F7944}"/>
              </a:ext>
            </a:extLst>
          </p:cNvPr>
          <p:cNvSpPr txBox="1"/>
          <p:nvPr/>
        </p:nvSpPr>
        <p:spPr>
          <a:xfrm>
            <a:off x="130111" y="5863776"/>
            <a:ext cx="5529909" cy="923330"/>
          </a:xfrm>
          <a:prstGeom prst="rect">
            <a:avLst/>
          </a:prstGeom>
          <a:noFill/>
        </p:spPr>
        <p:txBody>
          <a:bodyPr wrap="square" rtlCol="0">
            <a:spAutoFit/>
          </a:bodyPr>
          <a:lstStyle/>
          <a:p>
            <a:r>
              <a:rPr lang="fr-FR" dirty="0">
                <a:solidFill>
                  <a:schemeClr val="bg1"/>
                </a:solidFill>
                <a:latin typeface="Berlin Sans FB" panose="020E0602020502020306" pitchFamily="34" charset="77"/>
              </a:rPr>
              <a:t>Babouri Yacine                           </a:t>
            </a:r>
            <a:r>
              <a:rPr lang="fr-FR" dirty="0" err="1">
                <a:solidFill>
                  <a:schemeClr val="bg1"/>
                </a:solidFill>
                <a:latin typeface="Berlin Sans FB" panose="020E0602020502020306" pitchFamily="34" charset="77"/>
              </a:rPr>
              <a:t>Chiker</a:t>
            </a:r>
            <a:r>
              <a:rPr lang="fr-FR" dirty="0">
                <a:solidFill>
                  <a:schemeClr val="bg1"/>
                </a:solidFill>
                <a:latin typeface="Berlin Sans FB" panose="020E0602020502020306" pitchFamily="34" charset="77"/>
              </a:rPr>
              <a:t> Younes                                                </a:t>
            </a:r>
          </a:p>
          <a:p>
            <a:endParaRPr lang="fr-FR" dirty="0">
              <a:solidFill>
                <a:schemeClr val="bg1"/>
              </a:solidFill>
              <a:latin typeface="Berlin Sans FB" panose="020E0602020502020306" pitchFamily="34" charset="77"/>
            </a:endParaRPr>
          </a:p>
          <a:p>
            <a:r>
              <a:rPr lang="fr-FR" dirty="0">
                <a:solidFill>
                  <a:schemeClr val="bg1"/>
                </a:solidFill>
                <a:latin typeface="Berlin Sans FB" panose="020E0602020502020306" pitchFamily="34" charset="77"/>
              </a:rPr>
              <a:t>Ait </a:t>
            </a:r>
            <a:r>
              <a:rPr lang="fr-FR" dirty="0" err="1">
                <a:solidFill>
                  <a:schemeClr val="bg1"/>
                </a:solidFill>
                <a:latin typeface="Berlin Sans FB" panose="020E0602020502020306" pitchFamily="34" charset="77"/>
              </a:rPr>
              <a:t>zaouit</a:t>
            </a:r>
            <a:r>
              <a:rPr lang="fr-FR" dirty="0">
                <a:solidFill>
                  <a:schemeClr val="bg1"/>
                </a:solidFill>
                <a:latin typeface="Berlin Sans FB" panose="020E0602020502020306" pitchFamily="34" charset="77"/>
              </a:rPr>
              <a:t> Rida          </a:t>
            </a:r>
            <a:r>
              <a:rPr lang="fr-FR" dirty="0" err="1">
                <a:solidFill>
                  <a:schemeClr val="bg1"/>
                </a:solidFill>
                <a:latin typeface="Berlin Sans FB" panose="020E0602020502020306" pitchFamily="34" charset="77"/>
              </a:rPr>
              <a:t>Bayarmaa</a:t>
            </a:r>
            <a:r>
              <a:rPr lang="fr-FR" dirty="0">
                <a:solidFill>
                  <a:schemeClr val="bg1"/>
                </a:solidFill>
                <a:latin typeface="Berlin Sans FB" panose="020E0602020502020306" pitchFamily="34" charset="77"/>
              </a:rPr>
              <a:t> </a:t>
            </a:r>
            <a:r>
              <a:rPr lang="fr-FR" dirty="0" err="1">
                <a:solidFill>
                  <a:schemeClr val="bg1"/>
                </a:solidFill>
                <a:latin typeface="Berlin Sans FB" panose="020E0602020502020306" pitchFamily="34" charset="77"/>
              </a:rPr>
              <a:t>Javkhlantugs</a:t>
            </a:r>
            <a:endParaRPr lang="fr-FR" dirty="0">
              <a:solidFill>
                <a:schemeClr val="bg1"/>
              </a:solidFill>
              <a:latin typeface="Berlin Sans FB" panose="020E0602020502020306" pitchFamily="34" charset="77"/>
            </a:endParaRPr>
          </a:p>
        </p:txBody>
      </p:sp>
      <p:sp>
        <p:nvSpPr>
          <p:cNvPr id="18" name="ZoneTexte 17">
            <a:extLst>
              <a:ext uri="{FF2B5EF4-FFF2-40B4-BE49-F238E27FC236}">
                <a16:creationId xmlns:a16="http://schemas.microsoft.com/office/drawing/2014/main" id="{A514CF64-CFCE-C672-F051-1A13798E0C26}"/>
              </a:ext>
            </a:extLst>
          </p:cNvPr>
          <p:cNvSpPr txBox="1"/>
          <p:nvPr/>
        </p:nvSpPr>
        <p:spPr>
          <a:xfrm>
            <a:off x="8272761" y="6429336"/>
            <a:ext cx="2943108" cy="369332"/>
          </a:xfrm>
          <a:prstGeom prst="rect">
            <a:avLst/>
          </a:prstGeom>
          <a:noFill/>
        </p:spPr>
        <p:txBody>
          <a:bodyPr wrap="square" rtlCol="0">
            <a:spAutoFit/>
          </a:bodyPr>
          <a:lstStyle/>
          <a:p>
            <a:r>
              <a:rPr lang="fr-FR" dirty="0">
                <a:solidFill>
                  <a:schemeClr val="bg1"/>
                </a:solidFill>
                <a:latin typeface="Berlin Sans FB" panose="020E0602020502020306" pitchFamily="34" charset="77"/>
              </a:rPr>
              <a:t>Vendredi 31 janvier 2025</a:t>
            </a:r>
          </a:p>
        </p:txBody>
      </p:sp>
    </p:spTree>
    <p:extLst>
      <p:ext uri="{BB962C8B-B14F-4D97-AF65-F5344CB8AC3E}">
        <p14:creationId xmlns:p14="http://schemas.microsoft.com/office/powerpoint/2010/main" val="757072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7CDFD91-2369-FEF5-AF63-59C4A789282B}"/>
            </a:ext>
          </a:extLst>
        </p:cNvPr>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004BD908-4237-46BF-C872-CFB80043601D}"/>
              </a:ext>
            </a:extLst>
          </p:cNvPr>
          <p:cNvSpPr/>
          <p:nvPr/>
        </p:nvSpPr>
        <p:spPr>
          <a:xfrm>
            <a:off x="6799326" y="2997701"/>
            <a:ext cx="2614231" cy="2088649"/>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ZoneTexte 3">
            <a:extLst>
              <a:ext uri="{FF2B5EF4-FFF2-40B4-BE49-F238E27FC236}">
                <a16:creationId xmlns:a16="http://schemas.microsoft.com/office/drawing/2014/main" id="{A1BDC378-2096-F628-FD36-D37965117E54}"/>
              </a:ext>
            </a:extLst>
          </p:cNvPr>
          <p:cNvSpPr txBox="1"/>
          <p:nvPr/>
        </p:nvSpPr>
        <p:spPr>
          <a:xfrm>
            <a:off x="673608" y="1234219"/>
            <a:ext cx="10844784" cy="1015663"/>
          </a:xfrm>
          <a:prstGeom prst="rect">
            <a:avLst/>
          </a:prstGeom>
          <a:noFill/>
        </p:spPr>
        <p:txBody>
          <a:bodyPr wrap="square" rtlCol="0">
            <a:spAutoFit/>
          </a:bodyPr>
          <a:lstStyle/>
          <a:p>
            <a:r>
              <a:rPr lang="fr-FR" sz="6000" b="1" dirty="0">
                <a:solidFill>
                  <a:schemeClr val="bg1"/>
                </a:solidFill>
                <a:latin typeface="Berlin Sans FB Demi" panose="020E0802020502020306" pitchFamily="34" charset="77"/>
              </a:rPr>
              <a:t>PRESENTATION SAE ENQUETE</a:t>
            </a:r>
          </a:p>
        </p:txBody>
      </p:sp>
      <p:sp>
        <p:nvSpPr>
          <p:cNvPr id="5" name="ZoneTexte 4">
            <a:extLst>
              <a:ext uri="{FF2B5EF4-FFF2-40B4-BE49-F238E27FC236}">
                <a16:creationId xmlns:a16="http://schemas.microsoft.com/office/drawing/2014/main" id="{3164755F-77E0-05A5-0F49-9BACB74FF9CA}"/>
              </a:ext>
            </a:extLst>
          </p:cNvPr>
          <p:cNvSpPr txBox="1"/>
          <p:nvPr/>
        </p:nvSpPr>
        <p:spPr>
          <a:xfrm>
            <a:off x="1183386" y="3005943"/>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01</a:t>
            </a:r>
          </a:p>
        </p:txBody>
      </p:sp>
      <p:sp>
        <p:nvSpPr>
          <p:cNvPr id="6" name="ZoneTexte 5">
            <a:extLst>
              <a:ext uri="{FF2B5EF4-FFF2-40B4-BE49-F238E27FC236}">
                <a16:creationId xmlns:a16="http://schemas.microsoft.com/office/drawing/2014/main" id="{18EEE356-FF36-9882-9829-349CE35AD51F}"/>
              </a:ext>
            </a:extLst>
          </p:cNvPr>
          <p:cNvSpPr txBox="1"/>
          <p:nvPr/>
        </p:nvSpPr>
        <p:spPr>
          <a:xfrm>
            <a:off x="130111" y="3913732"/>
            <a:ext cx="3346704" cy="707886"/>
          </a:xfrm>
          <a:prstGeom prst="rect">
            <a:avLst/>
          </a:prstGeom>
          <a:noFill/>
        </p:spPr>
        <p:txBody>
          <a:bodyPr wrap="square" rtlCol="0">
            <a:spAutoFit/>
          </a:bodyPr>
          <a:lstStyle/>
          <a:p>
            <a:r>
              <a:rPr lang="fr-FR" sz="2000" b="1" dirty="0">
                <a:solidFill>
                  <a:schemeClr val="bg1"/>
                </a:solidFill>
                <a:latin typeface="Berlin Sans FB Demi" panose="020E0802020502020306" pitchFamily="34" charset="77"/>
              </a:rPr>
              <a:t>Présentation de la SAE : </a:t>
            </a:r>
          </a:p>
          <a:p>
            <a:r>
              <a:rPr lang="fr-FR" sz="2000" b="1" dirty="0">
                <a:solidFill>
                  <a:schemeClr val="bg1"/>
                </a:solidFill>
                <a:latin typeface="Berlin Sans FB Demi" panose="020E0802020502020306" pitchFamily="34" charset="77"/>
              </a:rPr>
              <a:t>Explication et but de la SAE</a:t>
            </a:r>
          </a:p>
        </p:txBody>
      </p:sp>
      <p:sp>
        <p:nvSpPr>
          <p:cNvPr id="8" name="ZoneTexte 7">
            <a:extLst>
              <a:ext uri="{FF2B5EF4-FFF2-40B4-BE49-F238E27FC236}">
                <a16:creationId xmlns:a16="http://schemas.microsoft.com/office/drawing/2014/main" id="{A389EA4B-B181-96CA-9976-3B16AFF219AE}"/>
              </a:ext>
            </a:extLst>
          </p:cNvPr>
          <p:cNvSpPr txBox="1"/>
          <p:nvPr/>
        </p:nvSpPr>
        <p:spPr>
          <a:xfrm>
            <a:off x="4002024" y="3027794"/>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02</a:t>
            </a:r>
          </a:p>
        </p:txBody>
      </p:sp>
      <p:sp>
        <p:nvSpPr>
          <p:cNvPr id="9" name="ZoneTexte 8">
            <a:extLst>
              <a:ext uri="{FF2B5EF4-FFF2-40B4-BE49-F238E27FC236}">
                <a16:creationId xmlns:a16="http://schemas.microsoft.com/office/drawing/2014/main" id="{DF7F46D9-128F-0BF6-5625-18E6B97F664B}"/>
              </a:ext>
            </a:extLst>
          </p:cNvPr>
          <p:cNvSpPr txBox="1"/>
          <p:nvPr/>
        </p:nvSpPr>
        <p:spPr>
          <a:xfrm>
            <a:off x="3773424" y="3813720"/>
            <a:ext cx="3346704" cy="1015663"/>
          </a:xfrm>
          <a:prstGeom prst="rect">
            <a:avLst/>
          </a:prstGeom>
          <a:noFill/>
        </p:spPr>
        <p:txBody>
          <a:bodyPr wrap="square" rtlCol="0">
            <a:spAutoFit/>
          </a:bodyPr>
          <a:lstStyle/>
          <a:p>
            <a:r>
              <a:rPr lang="fr-FR" sz="2000" b="1" dirty="0">
                <a:solidFill>
                  <a:schemeClr val="bg1"/>
                </a:solidFill>
                <a:latin typeface="Berlin Sans FB Demi" panose="020E0802020502020306" pitchFamily="34" charset="77"/>
              </a:rPr>
              <a:t>Les différentes analyses</a:t>
            </a:r>
          </a:p>
          <a:p>
            <a:r>
              <a:rPr lang="fr-FR" sz="2000" b="1" dirty="0">
                <a:solidFill>
                  <a:schemeClr val="bg1"/>
                </a:solidFill>
                <a:latin typeface="Berlin Sans FB Demi" panose="020E0802020502020306" pitchFamily="34" charset="77"/>
              </a:rPr>
              <a:t>Univariée ( frein , âge , genre etc…)</a:t>
            </a:r>
          </a:p>
        </p:txBody>
      </p:sp>
      <p:sp>
        <p:nvSpPr>
          <p:cNvPr id="10" name="ZoneTexte 9">
            <a:extLst>
              <a:ext uri="{FF2B5EF4-FFF2-40B4-BE49-F238E27FC236}">
                <a16:creationId xmlns:a16="http://schemas.microsoft.com/office/drawing/2014/main" id="{4703D33E-084C-C5B3-C90A-926609EA23AC}"/>
              </a:ext>
            </a:extLst>
          </p:cNvPr>
          <p:cNvSpPr txBox="1"/>
          <p:nvPr/>
        </p:nvSpPr>
        <p:spPr>
          <a:xfrm>
            <a:off x="7120128" y="2997701"/>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03</a:t>
            </a:r>
          </a:p>
        </p:txBody>
      </p:sp>
      <p:sp>
        <p:nvSpPr>
          <p:cNvPr id="12" name="ZoneTexte 11">
            <a:extLst>
              <a:ext uri="{FF2B5EF4-FFF2-40B4-BE49-F238E27FC236}">
                <a16:creationId xmlns:a16="http://schemas.microsoft.com/office/drawing/2014/main" id="{896285C2-1EBF-B0E4-7F46-9565A8768D21}"/>
              </a:ext>
            </a:extLst>
          </p:cNvPr>
          <p:cNvSpPr txBox="1"/>
          <p:nvPr/>
        </p:nvSpPr>
        <p:spPr>
          <a:xfrm>
            <a:off x="6799326" y="3802688"/>
            <a:ext cx="3346704" cy="923330"/>
          </a:xfrm>
          <a:prstGeom prst="rect">
            <a:avLst/>
          </a:prstGeom>
          <a:noFill/>
        </p:spPr>
        <p:txBody>
          <a:bodyPr wrap="square" rtlCol="0">
            <a:spAutoFit/>
          </a:bodyPr>
          <a:lstStyle/>
          <a:p>
            <a:r>
              <a:rPr lang="fr-FR" b="1" dirty="0">
                <a:solidFill>
                  <a:schemeClr val="bg1"/>
                </a:solidFill>
                <a:latin typeface="Berlin Sans FB Demi" panose="020E0802020502020306" pitchFamily="34" charset="77"/>
              </a:rPr>
              <a:t>Les différentes analyses </a:t>
            </a:r>
          </a:p>
          <a:p>
            <a:r>
              <a:rPr lang="fr-FR" b="1" dirty="0">
                <a:solidFill>
                  <a:schemeClr val="bg1"/>
                </a:solidFill>
                <a:latin typeface="Berlin Sans FB Demi" panose="020E0802020502020306" pitchFamily="34" charset="77"/>
              </a:rPr>
              <a:t>Bivariée ( frein/genre , frein/âge etc…)</a:t>
            </a:r>
          </a:p>
        </p:txBody>
      </p:sp>
      <p:sp>
        <p:nvSpPr>
          <p:cNvPr id="13" name="ZoneTexte 12">
            <a:extLst>
              <a:ext uri="{FF2B5EF4-FFF2-40B4-BE49-F238E27FC236}">
                <a16:creationId xmlns:a16="http://schemas.microsoft.com/office/drawing/2014/main" id="{7056F26E-02C4-6A5D-C2C0-7E2E498412AC}"/>
              </a:ext>
            </a:extLst>
          </p:cNvPr>
          <p:cNvSpPr txBox="1"/>
          <p:nvPr/>
        </p:nvSpPr>
        <p:spPr>
          <a:xfrm>
            <a:off x="9973818" y="2902863"/>
            <a:ext cx="10844784" cy="769441"/>
          </a:xfrm>
          <a:prstGeom prst="rect">
            <a:avLst/>
          </a:prstGeom>
          <a:noFill/>
        </p:spPr>
        <p:txBody>
          <a:bodyPr wrap="square" rtlCol="0">
            <a:spAutoFit/>
          </a:bodyPr>
          <a:lstStyle/>
          <a:p>
            <a:r>
              <a:rPr lang="fr-FR" sz="4400" b="1" dirty="0">
                <a:latin typeface="Berlin Sans FB Demi" panose="020E0802020502020306" pitchFamily="34" charset="77"/>
              </a:rPr>
              <a:t>04</a:t>
            </a:r>
          </a:p>
        </p:txBody>
      </p:sp>
      <p:sp>
        <p:nvSpPr>
          <p:cNvPr id="15" name="ZoneTexte 14">
            <a:extLst>
              <a:ext uri="{FF2B5EF4-FFF2-40B4-BE49-F238E27FC236}">
                <a16:creationId xmlns:a16="http://schemas.microsoft.com/office/drawing/2014/main" id="{FF73F958-2B06-D0E2-A13F-3ADD6D7FEE50}"/>
              </a:ext>
            </a:extLst>
          </p:cNvPr>
          <p:cNvSpPr txBox="1"/>
          <p:nvPr/>
        </p:nvSpPr>
        <p:spPr>
          <a:xfrm>
            <a:off x="9917430" y="3821672"/>
            <a:ext cx="3346704" cy="1015663"/>
          </a:xfrm>
          <a:prstGeom prst="rect">
            <a:avLst/>
          </a:prstGeom>
          <a:noFill/>
        </p:spPr>
        <p:txBody>
          <a:bodyPr wrap="square" rtlCol="0">
            <a:spAutoFit/>
          </a:bodyPr>
          <a:lstStyle/>
          <a:p>
            <a:r>
              <a:rPr lang="fr-FR" sz="2000" b="1" dirty="0">
                <a:latin typeface="Berlin Sans FB" panose="020E0602020502020306" pitchFamily="34" charset="77"/>
              </a:rPr>
              <a:t>Test Du Chi² </a:t>
            </a:r>
          </a:p>
          <a:p>
            <a:r>
              <a:rPr lang="fr-FR" sz="2000" b="1" dirty="0">
                <a:latin typeface="Berlin Sans FB" panose="020E0602020502020306" pitchFamily="34" charset="77"/>
              </a:rPr>
              <a:t>Genre/Frein et </a:t>
            </a:r>
          </a:p>
          <a:p>
            <a:r>
              <a:rPr lang="fr-FR" sz="2000" b="1" dirty="0" err="1">
                <a:latin typeface="Berlin Sans FB" panose="020E0602020502020306" pitchFamily="34" charset="77"/>
              </a:rPr>
              <a:t>Concusion</a:t>
            </a:r>
            <a:endParaRPr lang="fr-FR" sz="2000" b="1" dirty="0">
              <a:latin typeface="Berlin Sans FB" panose="020E0602020502020306" pitchFamily="34" charset="77"/>
            </a:endParaRPr>
          </a:p>
        </p:txBody>
      </p:sp>
      <p:sp>
        <p:nvSpPr>
          <p:cNvPr id="2" name="ZoneTexte 1">
            <a:extLst>
              <a:ext uri="{FF2B5EF4-FFF2-40B4-BE49-F238E27FC236}">
                <a16:creationId xmlns:a16="http://schemas.microsoft.com/office/drawing/2014/main" id="{B63B5E04-6FB9-BC92-9F2B-52AFA32A0AD5}"/>
              </a:ext>
            </a:extLst>
          </p:cNvPr>
          <p:cNvSpPr txBox="1"/>
          <p:nvPr/>
        </p:nvSpPr>
        <p:spPr>
          <a:xfrm>
            <a:off x="11682222" y="6027003"/>
            <a:ext cx="509778"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3</a:t>
            </a:r>
          </a:p>
        </p:txBody>
      </p:sp>
      <p:sp>
        <p:nvSpPr>
          <p:cNvPr id="11" name="ZoneTexte 10">
            <a:extLst>
              <a:ext uri="{FF2B5EF4-FFF2-40B4-BE49-F238E27FC236}">
                <a16:creationId xmlns:a16="http://schemas.microsoft.com/office/drawing/2014/main" id="{3CA8782C-C4B2-4183-7416-F7A7C0A2F7DC}"/>
              </a:ext>
            </a:extLst>
          </p:cNvPr>
          <p:cNvSpPr txBox="1"/>
          <p:nvPr/>
        </p:nvSpPr>
        <p:spPr>
          <a:xfrm>
            <a:off x="9803413" y="163234"/>
            <a:ext cx="2224756" cy="646331"/>
          </a:xfrm>
          <a:prstGeom prst="rect">
            <a:avLst/>
          </a:prstGeom>
          <a:noFill/>
        </p:spPr>
        <p:txBody>
          <a:bodyPr wrap="square" rtlCol="0">
            <a:spAutoFit/>
          </a:bodyPr>
          <a:lstStyle/>
          <a:p>
            <a:r>
              <a:rPr lang="fr-FR" dirty="0">
                <a:solidFill>
                  <a:schemeClr val="bg1"/>
                </a:solidFill>
              </a:rPr>
              <a:t>BUT SD 1</a:t>
            </a:r>
            <a:r>
              <a:rPr lang="fr-FR" baseline="30000" dirty="0">
                <a:solidFill>
                  <a:schemeClr val="bg1"/>
                </a:solidFill>
              </a:rPr>
              <a:t>er</a:t>
            </a:r>
            <a:r>
              <a:rPr lang="fr-FR" dirty="0">
                <a:solidFill>
                  <a:schemeClr val="bg1"/>
                </a:solidFill>
              </a:rPr>
              <a:t> année </a:t>
            </a:r>
          </a:p>
          <a:p>
            <a:r>
              <a:rPr lang="fr-FR" dirty="0">
                <a:solidFill>
                  <a:schemeClr val="bg1"/>
                </a:solidFill>
              </a:rPr>
              <a:t>2024 / 2025</a:t>
            </a:r>
          </a:p>
        </p:txBody>
      </p:sp>
      <p:pic>
        <p:nvPicPr>
          <p:cNvPr id="14" name="Picture 4">
            <a:extLst>
              <a:ext uri="{FF2B5EF4-FFF2-40B4-BE49-F238E27FC236}">
                <a16:creationId xmlns:a16="http://schemas.microsoft.com/office/drawing/2014/main" id="{011AF71B-2F33-44E2-A5CF-F33568D439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 y="36556"/>
            <a:ext cx="3170269" cy="1208665"/>
          </a:xfrm>
          <a:prstGeom prst="rect">
            <a:avLst/>
          </a:prstGeom>
          <a:noFill/>
          <a:extLst>
            <a:ext uri="{909E8E84-426E-40DD-AFC4-6F175D3DCCD1}">
              <a14:hiddenFill xmlns:a14="http://schemas.microsoft.com/office/drawing/2010/main">
                <a:solidFill>
                  <a:srgbClr val="FFFFFF"/>
                </a:solidFill>
              </a14:hiddenFill>
            </a:ext>
          </a:extLst>
        </p:spPr>
      </p:pic>
      <p:sp>
        <p:nvSpPr>
          <p:cNvPr id="17" name="ZoneTexte 16">
            <a:extLst>
              <a:ext uri="{FF2B5EF4-FFF2-40B4-BE49-F238E27FC236}">
                <a16:creationId xmlns:a16="http://schemas.microsoft.com/office/drawing/2014/main" id="{23BB5C2B-B84B-3A5C-4505-13F4FDFA257A}"/>
              </a:ext>
            </a:extLst>
          </p:cNvPr>
          <p:cNvSpPr txBox="1"/>
          <p:nvPr/>
        </p:nvSpPr>
        <p:spPr>
          <a:xfrm>
            <a:off x="130111" y="5863776"/>
            <a:ext cx="6775828" cy="923330"/>
          </a:xfrm>
          <a:prstGeom prst="rect">
            <a:avLst/>
          </a:prstGeom>
          <a:noFill/>
        </p:spPr>
        <p:txBody>
          <a:bodyPr wrap="square" rtlCol="0">
            <a:spAutoFit/>
          </a:bodyPr>
          <a:lstStyle/>
          <a:p>
            <a:r>
              <a:rPr lang="fr-FR" dirty="0">
                <a:solidFill>
                  <a:schemeClr val="bg1"/>
                </a:solidFill>
                <a:latin typeface="Berlin Sans FB" panose="020E0602020502020306" pitchFamily="34" charset="77"/>
              </a:rPr>
              <a:t>Babouri Yacine                           </a:t>
            </a:r>
            <a:r>
              <a:rPr lang="fr-FR" dirty="0" err="1">
                <a:solidFill>
                  <a:schemeClr val="bg1"/>
                </a:solidFill>
                <a:latin typeface="Berlin Sans FB" panose="020E0602020502020306" pitchFamily="34" charset="77"/>
              </a:rPr>
              <a:t>Chiker</a:t>
            </a:r>
            <a:r>
              <a:rPr lang="fr-FR" dirty="0">
                <a:solidFill>
                  <a:schemeClr val="bg1"/>
                </a:solidFill>
                <a:latin typeface="Berlin Sans FB" panose="020E0602020502020306" pitchFamily="34" charset="77"/>
              </a:rPr>
              <a:t> Younes                                                </a:t>
            </a:r>
          </a:p>
          <a:p>
            <a:endParaRPr lang="fr-FR" dirty="0">
              <a:solidFill>
                <a:schemeClr val="bg1"/>
              </a:solidFill>
              <a:latin typeface="Berlin Sans FB" panose="020E0602020502020306" pitchFamily="34" charset="77"/>
            </a:endParaRPr>
          </a:p>
          <a:p>
            <a:r>
              <a:rPr lang="fr-FR" dirty="0">
                <a:solidFill>
                  <a:schemeClr val="bg1"/>
                </a:solidFill>
                <a:latin typeface="Berlin Sans FB" panose="020E0602020502020306" pitchFamily="34" charset="77"/>
              </a:rPr>
              <a:t>Ait </a:t>
            </a:r>
            <a:r>
              <a:rPr lang="fr-FR" dirty="0" err="1">
                <a:solidFill>
                  <a:schemeClr val="bg1"/>
                </a:solidFill>
                <a:latin typeface="Berlin Sans FB" panose="020E0602020502020306" pitchFamily="34" charset="77"/>
              </a:rPr>
              <a:t>zaouit</a:t>
            </a:r>
            <a:r>
              <a:rPr lang="fr-FR" dirty="0">
                <a:solidFill>
                  <a:schemeClr val="bg1"/>
                </a:solidFill>
                <a:latin typeface="Berlin Sans FB" panose="020E0602020502020306" pitchFamily="34" charset="77"/>
              </a:rPr>
              <a:t> Rida          </a:t>
            </a:r>
            <a:r>
              <a:rPr lang="fr-FR" dirty="0" err="1">
                <a:solidFill>
                  <a:schemeClr val="bg1"/>
                </a:solidFill>
                <a:latin typeface="Berlin Sans FB" panose="020E0602020502020306" pitchFamily="34" charset="77"/>
              </a:rPr>
              <a:t>Bayarmaa</a:t>
            </a:r>
            <a:r>
              <a:rPr lang="fr-FR" dirty="0">
                <a:solidFill>
                  <a:schemeClr val="bg1"/>
                </a:solidFill>
                <a:latin typeface="Berlin Sans FB" panose="020E0602020502020306" pitchFamily="34" charset="77"/>
              </a:rPr>
              <a:t> </a:t>
            </a:r>
            <a:r>
              <a:rPr lang="fr-FR" dirty="0" err="1">
                <a:solidFill>
                  <a:schemeClr val="bg1"/>
                </a:solidFill>
                <a:latin typeface="Berlin Sans FB" panose="020E0602020502020306" pitchFamily="34" charset="77"/>
              </a:rPr>
              <a:t>Javkhlantugs</a:t>
            </a:r>
            <a:endParaRPr lang="fr-FR" dirty="0">
              <a:solidFill>
                <a:schemeClr val="bg1"/>
              </a:solidFill>
              <a:latin typeface="Berlin Sans FB" panose="020E0602020502020306" pitchFamily="34" charset="77"/>
            </a:endParaRPr>
          </a:p>
        </p:txBody>
      </p:sp>
      <p:sp>
        <p:nvSpPr>
          <p:cNvPr id="21" name="ZoneTexte 20">
            <a:extLst>
              <a:ext uri="{FF2B5EF4-FFF2-40B4-BE49-F238E27FC236}">
                <a16:creationId xmlns:a16="http://schemas.microsoft.com/office/drawing/2014/main" id="{26AF09DC-7798-3D80-9F43-BD18F4CDDF7E}"/>
              </a:ext>
            </a:extLst>
          </p:cNvPr>
          <p:cNvSpPr txBox="1"/>
          <p:nvPr/>
        </p:nvSpPr>
        <p:spPr>
          <a:xfrm>
            <a:off x="8272761" y="6429336"/>
            <a:ext cx="2943108" cy="369332"/>
          </a:xfrm>
          <a:prstGeom prst="rect">
            <a:avLst/>
          </a:prstGeom>
          <a:noFill/>
        </p:spPr>
        <p:txBody>
          <a:bodyPr wrap="square" rtlCol="0">
            <a:spAutoFit/>
          </a:bodyPr>
          <a:lstStyle/>
          <a:p>
            <a:r>
              <a:rPr lang="fr-FR" dirty="0">
                <a:solidFill>
                  <a:schemeClr val="bg1"/>
                </a:solidFill>
                <a:latin typeface="Berlin Sans FB" panose="020E0602020502020306" pitchFamily="34" charset="77"/>
              </a:rPr>
              <a:t>Vendredi 31 janvier 2025</a:t>
            </a:r>
          </a:p>
        </p:txBody>
      </p:sp>
    </p:spTree>
    <p:extLst>
      <p:ext uri="{BB962C8B-B14F-4D97-AF65-F5344CB8AC3E}">
        <p14:creationId xmlns:p14="http://schemas.microsoft.com/office/powerpoint/2010/main" val="481917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D39473E-2E7E-1CAB-CE26-4232F75E6AFC}"/>
            </a:ext>
          </a:extLst>
        </p:cNvPr>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3A9C05C0-EC6E-EB9E-D28F-E5198FCF0CAA}"/>
              </a:ext>
            </a:extLst>
          </p:cNvPr>
          <p:cNvSpPr/>
          <p:nvPr/>
        </p:nvSpPr>
        <p:spPr>
          <a:xfrm>
            <a:off x="9385364" y="2902863"/>
            <a:ext cx="2676525" cy="2140625"/>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ZoneTexte 3">
            <a:extLst>
              <a:ext uri="{FF2B5EF4-FFF2-40B4-BE49-F238E27FC236}">
                <a16:creationId xmlns:a16="http://schemas.microsoft.com/office/drawing/2014/main" id="{31D6FFE2-2D42-5A07-8278-72D486F3DCC6}"/>
              </a:ext>
            </a:extLst>
          </p:cNvPr>
          <p:cNvSpPr txBox="1"/>
          <p:nvPr/>
        </p:nvSpPr>
        <p:spPr>
          <a:xfrm>
            <a:off x="673608" y="1234219"/>
            <a:ext cx="10844784" cy="1015663"/>
          </a:xfrm>
          <a:prstGeom prst="rect">
            <a:avLst/>
          </a:prstGeom>
          <a:noFill/>
        </p:spPr>
        <p:txBody>
          <a:bodyPr wrap="square" rtlCol="0">
            <a:spAutoFit/>
          </a:bodyPr>
          <a:lstStyle/>
          <a:p>
            <a:r>
              <a:rPr lang="fr-FR" sz="6000" b="1" dirty="0">
                <a:solidFill>
                  <a:schemeClr val="bg1"/>
                </a:solidFill>
                <a:latin typeface="Berlin Sans FB Demi" panose="020E0802020502020306" pitchFamily="34" charset="77"/>
              </a:rPr>
              <a:t>PRESENTATION SAE ENQUETE</a:t>
            </a:r>
          </a:p>
        </p:txBody>
      </p:sp>
      <p:sp>
        <p:nvSpPr>
          <p:cNvPr id="5" name="ZoneTexte 4">
            <a:extLst>
              <a:ext uri="{FF2B5EF4-FFF2-40B4-BE49-F238E27FC236}">
                <a16:creationId xmlns:a16="http://schemas.microsoft.com/office/drawing/2014/main" id="{3CE87ECB-0EC2-67F5-F1AE-E84273BBBC13}"/>
              </a:ext>
            </a:extLst>
          </p:cNvPr>
          <p:cNvSpPr txBox="1"/>
          <p:nvPr/>
        </p:nvSpPr>
        <p:spPr>
          <a:xfrm>
            <a:off x="1183386" y="3005943"/>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01</a:t>
            </a:r>
          </a:p>
        </p:txBody>
      </p:sp>
      <p:sp>
        <p:nvSpPr>
          <p:cNvPr id="6" name="ZoneTexte 5">
            <a:extLst>
              <a:ext uri="{FF2B5EF4-FFF2-40B4-BE49-F238E27FC236}">
                <a16:creationId xmlns:a16="http://schemas.microsoft.com/office/drawing/2014/main" id="{84805B6B-8CB5-B523-8E3D-6BA1B51A0074}"/>
              </a:ext>
            </a:extLst>
          </p:cNvPr>
          <p:cNvSpPr txBox="1"/>
          <p:nvPr/>
        </p:nvSpPr>
        <p:spPr>
          <a:xfrm>
            <a:off x="130111" y="3913732"/>
            <a:ext cx="3346704" cy="707886"/>
          </a:xfrm>
          <a:prstGeom prst="rect">
            <a:avLst/>
          </a:prstGeom>
          <a:noFill/>
        </p:spPr>
        <p:txBody>
          <a:bodyPr wrap="square" rtlCol="0">
            <a:spAutoFit/>
          </a:bodyPr>
          <a:lstStyle/>
          <a:p>
            <a:r>
              <a:rPr lang="fr-FR" sz="2000" b="1" dirty="0">
                <a:solidFill>
                  <a:schemeClr val="bg1"/>
                </a:solidFill>
                <a:latin typeface="Berlin Sans FB Demi" panose="020E0802020502020306" pitchFamily="34" charset="77"/>
              </a:rPr>
              <a:t>Présentation de la SAE : </a:t>
            </a:r>
          </a:p>
          <a:p>
            <a:r>
              <a:rPr lang="fr-FR" sz="2000" b="1" dirty="0">
                <a:solidFill>
                  <a:schemeClr val="bg1"/>
                </a:solidFill>
                <a:latin typeface="Berlin Sans FB Demi" panose="020E0802020502020306" pitchFamily="34" charset="77"/>
              </a:rPr>
              <a:t>Explication et but de la SAE</a:t>
            </a:r>
          </a:p>
        </p:txBody>
      </p:sp>
      <p:sp>
        <p:nvSpPr>
          <p:cNvPr id="8" name="ZoneTexte 7">
            <a:extLst>
              <a:ext uri="{FF2B5EF4-FFF2-40B4-BE49-F238E27FC236}">
                <a16:creationId xmlns:a16="http://schemas.microsoft.com/office/drawing/2014/main" id="{EC8D380F-D8D2-2D5D-3401-ED600A08C5C5}"/>
              </a:ext>
            </a:extLst>
          </p:cNvPr>
          <p:cNvSpPr txBox="1"/>
          <p:nvPr/>
        </p:nvSpPr>
        <p:spPr>
          <a:xfrm>
            <a:off x="4002024" y="3027794"/>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02</a:t>
            </a:r>
          </a:p>
        </p:txBody>
      </p:sp>
      <p:sp>
        <p:nvSpPr>
          <p:cNvPr id="9" name="ZoneTexte 8">
            <a:extLst>
              <a:ext uri="{FF2B5EF4-FFF2-40B4-BE49-F238E27FC236}">
                <a16:creationId xmlns:a16="http://schemas.microsoft.com/office/drawing/2014/main" id="{20FD314B-C3F5-A496-D8E4-98991B1F1907}"/>
              </a:ext>
            </a:extLst>
          </p:cNvPr>
          <p:cNvSpPr txBox="1"/>
          <p:nvPr/>
        </p:nvSpPr>
        <p:spPr>
          <a:xfrm>
            <a:off x="3773424" y="3813720"/>
            <a:ext cx="3346704" cy="1015663"/>
          </a:xfrm>
          <a:prstGeom prst="rect">
            <a:avLst/>
          </a:prstGeom>
          <a:noFill/>
        </p:spPr>
        <p:txBody>
          <a:bodyPr wrap="square" rtlCol="0">
            <a:spAutoFit/>
          </a:bodyPr>
          <a:lstStyle/>
          <a:p>
            <a:r>
              <a:rPr lang="fr-FR" sz="2000" b="1" dirty="0">
                <a:solidFill>
                  <a:schemeClr val="bg1"/>
                </a:solidFill>
                <a:latin typeface="Berlin Sans FB Demi" panose="020E0802020502020306" pitchFamily="34" charset="77"/>
              </a:rPr>
              <a:t>Les différentes analyses</a:t>
            </a:r>
          </a:p>
          <a:p>
            <a:r>
              <a:rPr lang="fr-FR" sz="2000" b="1" dirty="0">
                <a:solidFill>
                  <a:schemeClr val="bg1"/>
                </a:solidFill>
                <a:latin typeface="Berlin Sans FB Demi" panose="020E0802020502020306" pitchFamily="34" charset="77"/>
              </a:rPr>
              <a:t>Univariée ( frein , âge , genre etc…)</a:t>
            </a:r>
          </a:p>
        </p:txBody>
      </p:sp>
      <p:sp>
        <p:nvSpPr>
          <p:cNvPr id="10" name="ZoneTexte 9">
            <a:extLst>
              <a:ext uri="{FF2B5EF4-FFF2-40B4-BE49-F238E27FC236}">
                <a16:creationId xmlns:a16="http://schemas.microsoft.com/office/drawing/2014/main" id="{8297E701-152E-50A7-CC85-C6214655B0D8}"/>
              </a:ext>
            </a:extLst>
          </p:cNvPr>
          <p:cNvSpPr txBox="1"/>
          <p:nvPr/>
        </p:nvSpPr>
        <p:spPr>
          <a:xfrm>
            <a:off x="7120128" y="2997701"/>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03</a:t>
            </a:r>
          </a:p>
        </p:txBody>
      </p:sp>
      <p:sp>
        <p:nvSpPr>
          <p:cNvPr id="12" name="ZoneTexte 11">
            <a:extLst>
              <a:ext uri="{FF2B5EF4-FFF2-40B4-BE49-F238E27FC236}">
                <a16:creationId xmlns:a16="http://schemas.microsoft.com/office/drawing/2014/main" id="{06F30F6D-4EF0-0A9B-C313-6C37D9F26857}"/>
              </a:ext>
            </a:extLst>
          </p:cNvPr>
          <p:cNvSpPr txBox="1"/>
          <p:nvPr/>
        </p:nvSpPr>
        <p:spPr>
          <a:xfrm>
            <a:off x="6799326" y="3802688"/>
            <a:ext cx="3346704" cy="923330"/>
          </a:xfrm>
          <a:prstGeom prst="rect">
            <a:avLst/>
          </a:prstGeom>
          <a:noFill/>
        </p:spPr>
        <p:txBody>
          <a:bodyPr wrap="square" rtlCol="0">
            <a:spAutoFit/>
          </a:bodyPr>
          <a:lstStyle/>
          <a:p>
            <a:r>
              <a:rPr lang="fr-FR" b="1" dirty="0">
                <a:solidFill>
                  <a:schemeClr val="bg1"/>
                </a:solidFill>
                <a:latin typeface="Berlin Sans FB Demi" panose="020E0802020502020306" pitchFamily="34" charset="77"/>
              </a:rPr>
              <a:t>Les différentes analyses </a:t>
            </a:r>
          </a:p>
          <a:p>
            <a:r>
              <a:rPr lang="fr-FR" b="1" dirty="0">
                <a:solidFill>
                  <a:schemeClr val="bg1"/>
                </a:solidFill>
                <a:latin typeface="Berlin Sans FB Demi" panose="020E0802020502020306" pitchFamily="34" charset="77"/>
              </a:rPr>
              <a:t>Bivariée ( frein/genre , frein/âge etc…)</a:t>
            </a:r>
          </a:p>
        </p:txBody>
      </p:sp>
      <p:sp>
        <p:nvSpPr>
          <p:cNvPr id="13" name="ZoneTexte 12">
            <a:extLst>
              <a:ext uri="{FF2B5EF4-FFF2-40B4-BE49-F238E27FC236}">
                <a16:creationId xmlns:a16="http://schemas.microsoft.com/office/drawing/2014/main" id="{01156EB8-7686-2BB5-5BBA-E2DFA4554564}"/>
              </a:ext>
            </a:extLst>
          </p:cNvPr>
          <p:cNvSpPr txBox="1"/>
          <p:nvPr/>
        </p:nvSpPr>
        <p:spPr>
          <a:xfrm>
            <a:off x="9973818" y="2902863"/>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04</a:t>
            </a:r>
          </a:p>
        </p:txBody>
      </p:sp>
      <p:sp>
        <p:nvSpPr>
          <p:cNvPr id="15" name="ZoneTexte 14">
            <a:extLst>
              <a:ext uri="{FF2B5EF4-FFF2-40B4-BE49-F238E27FC236}">
                <a16:creationId xmlns:a16="http://schemas.microsoft.com/office/drawing/2014/main" id="{B7CAF104-7ACE-8FC0-7685-AFEA8524A758}"/>
              </a:ext>
            </a:extLst>
          </p:cNvPr>
          <p:cNvSpPr txBox="1"/>
          <p:nvPr/>
        </p:nvSpPr>
        <p:spPr>
          <a:xfrm>
            <a:off x="9917430" y="3821672"/>
            <a:ext cx="3346704" cy="1015663"/>
          </a:xfrm>
          <a:prstGeom prst="rect">
            <a:avLst/>
          </a:prstGeom>
          <a:noFill/>
        </p:spPr>
        <p:txBody>
          <a:bodyPr wrap="square" rtlCol="0">
            <a:spAutoFit/>
          </a:bodyPr>
          <a:lstStyle/>
          <a:p>
            <a:r>
              <a:rPr lang="fr-FR" sz="2000" b="1" dirty="0">
                <a:solidFill>
                  <a:schemeClr val="bg1"/>
                </a:solidFill>
                <a:latin typeface="Berlin Sans FB" panose="020E0602020502020306" pitchFamily="34" charset="77"/>
              </a:rPr>
              <a:t>Test Du Chi² </a:t>
            </a:r>
          </a:p>
          <a:p>
            <a:r>
              <a:rPr lang="fr-FR" sz="2000" b="1" dirty="0">
                <a:solidFill>
                  <a:schemeClr val="bg1"/>
                </a:solidFill>
                <a:latin typeface="Berlin Sans FB" panose="020E0602020502020306" pitchFamily="34" charset="77"/>
              </a:rPr>
              <a:t>Genre/Frein et </a:t>
            </a:r>
          </a:p>
          <a:p>
            <a:r>
              <a:rPr lang="fr-FR" sz="2000" b="1" dirty="0" err="1">
                <a:solidFill>
                  <a:schemeClr val="bg1"/>
                </a:solidFill>
                <a:latin typeface="Berlin Sans FB" panose="020E0602020502020306" pitchFamily="34" charset="77"/>
              </a:rPr>
              <a:t>Concusion</a:t>
            </a:r>
            <a:endParaRPr lang="fr-FR" sz="2000" b="1" dirty="0">
              <a:solidFill>
                <a:schemeClr val="bg1"/>
              </a:solidFill>
              <a:latin typeface="Berlin Sans FB" panose="020E0602020502020306" pitchFamily="34" charset="77"/>
            </a:endParaRPr>
          </a:p>
        </p:txBody>
      </p:sp>
      <p:sp>
        <p:nvSpPr>
          <p:cNvPr id="2" name="ZoneTexte 1">
            <a:extLst>
              <a:ext uri="{FF2B5EF4-FFF2-40B4-BE49-F238E27FC236}">
                <a16:creationId xmlns:a16="http://schemas.microsoft.com/office/drawing/2014/main" id="{66C380F0-A6FD-02ED-6524-5AE0C7B0E565}"/>
              </a:ext>
            </a:extLst>
          </p:cNvPr>
          <p:cNvSpPr txBox="1"/>
          <p:nvPr/>
        </p:nvSpPr>
        <p:spPr>
          <a:xfrm>
            <a:off x="11682222" y="6027003"/>
            <a:ext cx="509778"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4</a:t>
            </a:r>
          </a:p>
        </p:txBody>
      </p:sp>
      <p:sp>
        <p:nvSpPr>
          <p:cNvPr id="11" name="ZoneTexte 10">
            <a:extLst>
              <a:ext uri="{FF2B5EF4-FFF2-40B4-BE49-F238E27FC236}">
                <a16:creationId xmlns:a16="http://schemas.microsoft.com/office/drawing/2014/main" id="{DCAF014E-F0D2-27B5-6215-4D2C6B21FA8E}"/>
              </a:ext>
            </a:extLst>
          </p:cNvPr>
          <p:cNvSpPr txBox="1"/>
          <p:nvPr/>
        </p:nvSpPr>
        <p:spPr>
          <a:xfrm>
            <a:off x="9803413" y="163234"/>
            <a:ext cx="2224756" cy="646331"/>
          </a:xfrm>
          <a:prstGeom prst="rect">
            <a:avLst/>
          </a:prstGeom>
          <a:noFill/>
        </p:spPr>
        <p:txBody>
          <a:bodyPr wrap="square" rtlCol="0">
            <a:spAutoFit/>
          </a:bodyPr>
          <a:lstStyle/>
          <a:p>
            <a:r>
              <a:rPr lang="fr-FR" dirty="0">
                <a:solidFill>
                  <a:schemeClr val="bg1"/>
                </a:solidFill>
              </a:rPr>
              <a:t>BUT SD 1</a:t>
            </a:r>
            <a:r>
              <a:rPr lang="fr-FR" baseline="30000" dirty="0">
                <a:solidFill>
                  <a:schemeClr val="bg1"/>
                </a:solidFill>
              </a:rPr>
              <a:t>er</a:t>
            </a:r>
            <a:r>
              <a:rPr lang="fr-FR" dirty="0">
                <a:solidFill>
                  <a:schemeClr val="bg1"/>
                </a:solidFill>
              </a:rPr>
              <a:t> année </a:t>
            </a:r>
          </a:p>
          <a:p>
            <a:r>
              <a:rPr lang="fr-FR" dirty="0">
                <a:solidFill>
                  <a:schemeClr val="bg1"/>
                </a:solidFill>
              </a:rPr>
              <a:t>2024 / 2025</a:t>
            </a:r>
          </a:p>
        </p:txBody>
      </p:sp>
      <p:pic>
        <p:nvPicPr>
          <p:cNvPr id="14" name="Picture 4">
            <a:extLst>
              <a:ext uri="{FF2B5EF4-FFF2-40B4-BE49-F238E27FC236}">
                <a16:creationId xmlns:a16="http://schemas.microsoft.com/office/drawing/2014/main" id="{F8B05EAF-A133-D796-0693-70D53320A5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 y="36556"/>
            <a:ext cx="3170269" cy="1208665"/>
          </a:xfrm>
          <a:prstGeom prst="rect">
            <a:avLst/>
          </a:prstGeom>
          <a:noFill/>
          <a:extLst>
            <a:ext uri="{909E8E84-426E-40DD-AFC4-6F175D3DCCD1}">
              <a14:hiddenFill xmlns:a14="http://schemas.microsoft.com/office/drawing/2010/main">
                <a:solidFill>
                  <a:srgbClr val="FFFFFF"/>
                </a:solidFill>
              </a14:hiddenFill>
            </a:ext>
          </a:extLst>
        </p:spPr>
      </p:pic>
      <p:sp>
        <p:nvSpPr>
          <p:cNvPr id="18" name="ZoneTexte 17">
            <a:extLst>
              <a:ext uri="{FF2B5EF4-FFF2-40B4-BE49-F238E27FC236}">
                <a16:creationId xmlns:a16="http://schemas.microsoft.com/office/drawing/2014/main" id="{0C5F20D0-6CA5-2D82-D666-0F1946BC766E}"/>
              </a:ext>
            </a:extLst>
          </p:cNvPr>
          <p:cNvSpPr txBox="1"/>
          <p:nvPr/>
        </p:nvSpPr>
        <p:spPr>
          <a:xfrm>
            <a:off x="130111" y="5863776"/>
            <a:ext cx="5194243" cy="923330"/>
          </a:xfrm>
          <a:prstGeom prst="rect">
            <a:avLst/>
          </a:prstGeom>
          <a:noFill/>
        </p:spPr>
        <p:txBody>
          <a:bodyPr wrap="square" rtlCol="0">
            <a:spAutoFit/>
          </a:bodyPr>
          <a:lstStyle/>
          <a:p>
            <a:r>
              <a:rPr lang="fr-FR" dirty="0">
                <a:solidFill>
                  <a:schemeClr val="bg1"/>
                </a:solidFill>
                <a:latin typeface="Berlin Sans FB" panose="020E0602020502020306" pitchFamily="34" charset="77"/>
              </a:rPr>
              <a:t>Babouri Yacine                           </a:t>
            </a:r>
            <a:r>
              <a:rPr lang="fr-FR" dirty="0" err="1">
                <a:solidFill>
                  <a:schemeClr val="bg1"/>
                </a:solidFill>
                <a:latin typeface="Berlin Sans FB" panose="020E0602020502020306" pitchFamily="34" charset="77"/>
              </a:rPr>
              <a:t>Chiker</a:t>
            </a:r>
            <a:r>
              <a:rPr lang="fr-FR" dirty="0">
                <a:solidFill>
                  <a:schemeClr val="bg1"/>
                </a:solidFill>
                <a:latin typeface="Berlin Sans FB" panose="020E0602020502020306" pitchFamily="34" charset="77"/>
              </a:rPr>
              <a:t> Younes                                                </a:t>
            </a:r>
          </a:p>
          <a:p>
            <a:endParaRPr lang="fr-FR" dirty="0">
              <a:solidFill>
                <a:schemeClr val="bg1"/>
              </a:solidFill>
              <a:latin typeface="Berlin Sans FB" panose="020E0602020502020306" pitchFamily="34" charset="77"/>
            </a:endParaRPr>
          </a:p>
          <a:p>
            <a:r>
              <a:rPr lang="fr-FR" dirty="0">
                <a:solidFill>
                  <a:schemeClr val="bg1"/>
                </a:solidFill>
                <a:latin typeface="Berlin Sans FB" panose="020E0602020502020306" pitchFamily="34" charset="77"/>
              </a:rPr>
              <a:t>Ait </a:t>
            </a:r>
            <a:r>
              <a:rPr lang="fr-FR" dirty="0" err="1">
                <a:solidFill>
                  <a:schemeClr val="bg1"/>
                </a:solidFill>
                <a:latin typeface="Berlin Sans FB" panose="020E0602020502020306" pitchFamily="34" charset="77"/>
              </a:rPr>
              <a:t>zaouit</a:t>
            </a:r>
            <a:r>
              <a:rPr lang="fr-FR" dirty="0">
                <a:solidFill>
                  <a:schemeClr val="bg1"/>
                </a:solidFill>
                <a:latin typeface="Berlin Sans FB" panose="020E0602020502020306" pitchFamily="34" charset="77"/>
              </a:rPr>
              <a:t> Rida          </a:t>
            </a:r>
            <a:r>
              <a:rPr lang="fr-FR" dirty="0" err="1">
                <a:solidFill>
                  <a:schemeClr val="bg1"/>
                </a:solidFill>
                <a:latin typeface="Berlin Sans FB" panose="020E0602020502020306" pitchFamily="34" charset="77"/>
              </a:rPr>
              <a:t>Bayarmaa</a:t>
            </a:r>
            <a:r>
              <a:rPr lang="fr-FR" dirty="0">
                <a:solidFill>
                  <a:schemeClr val="bg1"/>
                </a:solidFill>
                <a:latin typeface="Berlin Sans FB" panose="020E0602020502020306" pitchFamily="34" charset="77"/>
              </a:rPr>
              <a:t> </a:t>
            </a:r>
            <a:r>
              <a:rPr lang="fr-FR" dirty="0" err="1">
                <a:solidFill>
                  <a:schemeClr val="bg1"/>
                </a:solidFill>
                <a:latin typeface="Berlin Sans FB" panose="020E0602020502020306" pitchFamily="34" charset="77"/>
              </a:rPr>
              <a:t>Javkhlantugs</a:t>
            </a:r>
            <a:endParaRPr lang="fr-FR" dirty="0">
              <a:solidFill>
                <a:schemeClr val="bg1"/>
              </a:solidFill>
              <a:latin typeface="Berlin Sans FB" panose="020E0602020502020306" pitchFamily="34" charset="77"/>
            </a:endParaRPr>
          </a:p>
        </p:txBody>
      </p:sp>
      <p:sp>
        <p:nvSpPr>
          <p:cNvPr id="21" name="ZoneTexte 20">
            <a:extLst>
              <a:ext uri="{FF2B5EF4-FFF2-40B4-BE49-F238E27FC236}">
                <a16:creationId xmlns:a16="http://schemas.microsoft.com/office/drawing/2014/main" id="{7A5E1C44-7E75-D940-4055-11B89C5B2CEE}"/>
              </a:ext>
            </a:extLst>
          </p:cNvPr>
          <p:cNvSpPr txBox="1"/>
          <p:nvPr/>
        </p:nvSpPr>
        <p:spPr>
          <a:xfrm>
            <a:off x="8272761" y="6429336"/>
            <a:ext cx="2943108" cy="369332"/>
          </a:xfrm>
          <a:prstGeom prst="rect">
            <a:avLst/>
          </a:prstGeom>
          <a:noFill/>
        </p:spPr>
        <p:txBody>
          <a:bodyPr wrap="square" rtlCol="0">
            <a:spAutoFit/>
          </a:bodyPr>
          <a:lstStyle/>
          <a:p>
            <a:r>
              <a:rPr lang="fr-FR" dirty="0">
                <a:solidFill>
                  <a:schemeClr val="bg1"/>
                </a:solidFill>
                <a:latin typeface="Berlin Sans FB" panose="020E0602020502020306" pitchFamily="34" charset="77"/>
              </a:rPr>
              <a:t>Vendredi 31 janvier 2025</a:t>
            </a:r>
          </a:p>
        </p:txBody>
      </p:sp>
    </p:spTree>
    <p:extLst>
      <p:ext uri="{BB962C8B-B14F-4D97-AF65-F5344CB8AC3E}">
        <p14:creationId xmlns:p14="http://schemas.microsoft.com/office/powerpoint/2010/main" val="3506249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CE06DAA7-5AC5-3055-2430-E93E93A6192E}"/>
              </a:ext>
            </a:extLst>
          </p:cNvPr>
          <p:cNvSpPr/>
          <p:nvPr/>
        </p:nvSpPr>
        <p:spPr>
          <a:xfrm>
            <a:off x="163830" y="2843212"/>
            <a:ext cx="2850833" cy="2214563"/>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DDD008D7-BB57-C1D5-469A-515A63A298A4}"/>
              </a:ext>
            </a:extLst>
          </p:cNvPr>
          <p:cNvSpPr txBox="1"/>
          <p:nvPr/>
        </p:nvSpPr>
        <p:spPr>
          <a:xfrm>
            <a:off x="673608" y="1234219"/>
            <a:ext cx="10844784" cy="1015663"/>
          </a:xfrm>
          <a:prstGeom prst="rect">
            <a:avLst/>
          </a:prstGeom>
          <a:noFill/>
        </p:spPr>
        <p:txBody>
          <a:bodyPr wrap="square" rtlCol="0">
            <a:spAutoFit/>
          </a:bodyPr>
          <a:lstStyle/>
          <a:p>
            <a:r>
              <a:rPr lang="fr-FR" sz="6000" b="1" dirty="0">
                <a:solidFill>
                  <a:schemeClr val="bg1"/>
                </a:solidFill>
                <a:latin typeface="Berlin Sans FB Demi" panose="020E0802020502020306" pitchFamily="34" charset="77"/>
              </a:rPr>
              <a:t>PRESENTATION SAE ENQUETE</a:t>
            </a:r>
          </a:p>
        </p:txBody>
      </p:sp>
      <p:sp>
        <p:nvSpPr>
          <p:cNvPr id="5" name="ZoneTexte 4">
            <a:extLst>
              <a:ext uri="{FF2B5EF4-FFF2-40B4-BE49-F238E27FC236}">
                <a16:creationId xmlns:a16="http://schemas.microsoft.com/office/drawing/2014/main" id="{BFC0B467-2A34-37B2-EDB7-0317989793F3}"/>
              </a:ext>
            </a:extLst>
          </p:cNvPr>
          <p:cNvSpPr txBox="1"/>
          <p:nvPr/>
        </p:nvSpPr>
        <p:spPr>
          <a:xfrm>
            <a:off x="1183386" y="3005943"/>
            <a:ext cx="10844784" cy="769441"/>
          </a:xfrm>
          <a:prstGeom prst="rect">
            <a:avLst/>
          </a:prstGeom>
          <a:noFill/>
        </p:spPr>
        <p:txBody>
          <a:bodyPr wrap="square" rtlCol="0">
            <a:spAutoFit/>
          </a:bodyPr>
          <a:lstStyle/>
          <a:p>
            <a:r>
              <a:rPr lang="fr-FR" sz="4400" b="1" dirty="0">
                <a:solidFill>
                  <a:schemeClr val="bg1"/>
                </a:solidFill>
                <a:latin typeface="Berlin Sans FB Demi" panose="020E0802020502020306" pitchFamily="34" charset="77"/>
              </a:rPr>
              <a:t>01</a:t>
            </a:r>
          </a:p>
        </p:txBody>
      </p:sp>
      <p:sp>
        <p:nvSpPr>
          <p:cNvPr id="6" name="ZoneTexte 5">
            <a:extLst>
              <a:ext uri="{FF2B5EF4-FFF2-40B4-BE49-F238E27FC236}">
                <a16:creationId xmlns:a16="http://schemas.microsoft.com/office/drawing/2014/main" id="{94C333D0-4ED3-30AA-9A3B-34000F3208C6}"/>
              </a:ext>
            </a:extLst>
          </p:cNvPr>
          <p:cNvSpPr txBox="1"/>
          <p:nvPr/>
        </p:nvSpPr>
        <p:spPr>
          <a:xfrm>
            <a:off x="130111" y="3913732"/>
            <a:ext cx="3346704" cy="1015663"/>
          </a:xfrm>
          <a:prstGeom prst="rect">
            <a:avLst/>
          </a:prstGeom>
          <a:noFill/>
        </p:spPr>
        <p:txBody>
          <a:bodyPr wrap="square" rtlCol="0">
            <a:spAutoFit/>
          </a:bodyPr>
          <a:lstStyle/>
          <a:p>
            <a:r>
              <a:rPr lang="fr-FR" sz="2000" b="1" dirty="0">
                <a:solidFill>
                  <a:schemeClr val="bg1"/>
                </a:solidFill>
                <a:latin typeface="Berlin Sans FB Demi" panose="020E0802020502020306" pitchFamily="34" charset="77"/>
              </a:rPr>
              <a:t>Présentation de la SAE : </a:t>
            </a:r>
          </a:p>
          <a:p>
            <a:r>
              <a:rPr lang="fr-FR" sz="2000" b="1" dirty="0">
                <a:solidFill>
                  <a:schemeClr val="bg1"/>
                </a:solidFill>
                <a:latin typeface="Berlin Sans FB Demi" panose="020E0802020502020306" pitchFamily="34" charset="77"/>
              </a:rPr>
              <a:t>Explication et but </a:t>
            </a:r>
          </a:p>
          <a:p>
            <a:r>
              <a:rPr lang="fr-FR" sz="2000" b="1" dirty="0">
                <a:solidFill>
                  <a:schemeClr val="bg1"/>
                </a:solidFill>
                <a:latin typeface="Berlin Sans FB Demi" panose="020E0802020502020306" pitchFamily="34" charset="77"/>
              </a:rPr>
              <a:t>de la SAE</a:t>
            </a:r>
          </a:p>
        </p:txBody>
      </p:sp>
      <p:sp>
        <p:nvSpPr>
          <p:cNvPr id="8" name="ZoneTexte 7">
            <a:extLst>
              <a:ext uri="{FF2B5EF4-FFF2-40B4-BE49-F238E27FC236}">
                <a16:creationId xmlns:a16="http://schemas.microsoft.com/office/drawing/2014/main" id="{A505CE59-98A8-94AD-4B39-E15236D2BDCB}"/>
              </a:ext>
            </a:extLst>
          </p:cNvPr>
          <p:cNvSpPr txBox="1"/>
          <p:nvPr/>
        </p:nvSpPr>
        <p:spPr>
          <a:xfrm>
            <a:off x="4002024" y="3027794"/>
            <a:ext cx="10844784" cy="769441"/>
          </a:xfrm>
          <a:prstGeom prst="rect">
            <a:avLst/>
          </a:prstGeom>
          <a:noFill/>
        </p:spPr>
        <p:txBody>
          <a:bodyPr wrap="square" rtlCol="0">
            <a:spAutoFit/>
          </a:bodyPr>
          <a:lstStyle/>
          <a:p>
            <a:r>
              <a:rPr lang="fr-FR" sz="4400" b="1" dirty="0">
                <a:latin typeface="Berlin Sans FB Demi" panose="020E0802020502020306" pitchFamily="34" charset="77"/>
              </a:rPr>
              <a:t>02</a:t>
            </a:r>
          </a:p>
        </p:txBody>
      </p:sp>
      <p:sp>
        <p:nvSpPr>
          <p:cNvPr id="9" name="ZoneTexte 8">
            <a:extLst>
              <a:ext uri="{FF2B5EF4-FFF2-40B4-BE49-F238E27FC236}">
                <a16:creationId xmlns:a16="http://schemas.microsoft.com/office/drawing/2014/main" id="{B8227946-64BA-CA90-D2CF-DF95D72A4ED5}"/>
              </a:ext>
            </a:extLst>
          </p:cNvPr>
          <p:cNvSpPr txBox="1"/>
          <p:nvPr/>
        </p:nvSpPr>
        <p:spPr>
          <a:xfrm>
            <a:off x="3773424" y="3813720"/>
            <a:ext cx="3346704" cy="1015663"/>
          </a:xfrm>
          <a:prstGeom prst="rect">
            <a:avLst/>
          </a:prstGeom>
          <a:noFill/>
        </p:spPr>
        <p:txBody>
          <a:bodyPr wrap="square" rtlCol="0">
            <a:spAutoFit/>
          </a:bodyPr>
          <a:lstStyle/>
          <a:p>
            <a:r>
              <a:rPr lang="fr-FR" sz="2000" b="1" dirty="0">
                <a:latin typeface="Berlin Sans FB Demi" panose="020E0802020502020306" pitchFamily="34" charset="77"/>
              </a:rPr>
              <a:t>Les différentes analyses</a:t>
            </a:r>
          </a:p>
          <a:p>
            <a:r>
              <a:rPr lang="fr-FR" sz="2000" b="1" dirty="0">
                <a:latin typeface="Berlin Sans FB Demi" panose="020E0802020502020306" pitchFamily="34" charset="77"/>
              </a:rPr>
              <a:t>Univariée ( frein , âge , genre etc…)</a:t>
            </a:r>
          </a:p>
        </p:txBody>
      </p:sp>
      <p:sp>
        <p:nvSpPr>
          <p:cNvPr id="10" name="ZoneTexte 9">
            <a:extLst>
              <a:ext uri="{FF2B5EF4-FFF2-40B4-BE49-F238E27FC236}">
                <a16:creationId xmlns:a16="http://schemas.microsoft.com/office/drawing/2014/main" id="{43579742-D4CF-011E-48E2-C5814119D303}"/>
              </a:ext>
            </a:extLst>
          </p:cNvPr>
          <p:cNvSpPr txBox="1"/>
          <p:nvPr/>
        </p:nvSpPr>
        <p:spPr>
          <a:xfrm>
            <a:off x="7120128" y="2997701"/>
            <a:ext cx="10844784" cy="769441"/>
          </a:xfrm>
          <a:prstGeom prst="rect">
            <a:avLst/>
          </a:prstGeom>
          <a:noFill/>
        </p:spPr>
        <p:txBody>
          <a:bodyPr wrap="square" rtlCol="0">
            <a:spAutoFit/>
          </a:bodyPr>
          <a:lstStyle/>
          <a:p>
            <a:r>
              <a:rPr lang="fr-FR" sz="4400" b="1" dirty="0">
                <a:latin typeface="Berlin Sans FB Demi" panose="020E0802020502020306" pitchFamily="34" charset="77"/>
              </a:rPr>
              <a:t>03</a:t>
            </a:r>
          </a:p>
        </p:txBody>
      </p:sp>
      <p:sp>
        <p:nvSpPr>
          <p:cNvPr id="12" name="ZoneTexte 11">
            <a:extLst>
              <a:ext uri="{FF2B5EF4-FFF2-40B4-BE49-F238E27FC236}">
                <a16:creationId xmlns:a16="http://schemas.microsoft.com/office/drawing/2014/main" id="{07E6D909-4481-D3FD-B421-C1ED2F777960}"/>
              </a:ext>
            </a:extLst>
          </p:cNvPr>
          <p:cNvSpPr txBox="1"/>
          <p:nvPr/>
        </p:nvSpPr>
        <p:spPr>
          <a:xfrm>
            <a:off x="6799326" y="3802688"/>
            <a:ext cx="3346704" cy="923330"/>
          </a:xfrm>
          <a:prstGeom prst="rect">
            <a:avLst/>
          </a:prstGeom>
          <a:noFill/>
        </p:spPr>
        <p:txBody>
          <a:bodyPr wrap="square" rtlCol="0">
            <a:spAutoFit/>
          </a:bodyPr>
          <a:lstStyle/>
          <a:p>
            <a:r>
              <a:rPr lang="fr-FR" b="1" dirty="0">
                <a:latin typeface="Berlin Sans FB Demi" panose="020E0802020502020306" pitchFamily="34" charset="77"/>
              </a:rPr>
              <a:t>Les différentes analyses </a:t>
            </a:r>
          </a:p>
          <a:p>
            <a:r>
              <a:rPr lang="fr-FR" b="1" dirty="0">
                <a:latin typeface="Berlin Sans FB Demi" panose="020E0802020502020306" pitchFamily="34" charset="77"/>
              </a:rPr>
              <a:t>Bivariée ( frein/genre , frein/âge etc…)</a:t>
            </a:r>
          </a:p>
        </p:txBody>
      </p:sp>
      <p:sp>
        <p:nvSpPr>
          <p:cNvPr id="13" name="ZoneTexte 12">
            <a:extLst>
              <a:ext uri="{FF2B5EF4-FFF2-40B4-BE49-F238E27FC236}">
                <a16:creationId xmlns:a16="http://schemas.microsoft.com/office/drawing/2014/main" id="{C5DBA3C9-075A-EC75-C8A8-4C697E80FF01}"/>
              </a:ext>
            </a:extLst>
          </p:cNvPr>
          <p:cNvSpPr txBox="1"/>
          <p:nvPr/>
        </p:nvSpPr>
        <p:spPr>
          <a:xfrm>
            <a:off x="9653016" y="2948138"/>
            <a:ext cx="10844784" cy="769441"/>
          </a:xfrm>
          <a:prstGeom prst="rect">
            <a:avLst/>
          </a:prstGeom>
          <a:noFill/>
        </p:spPr>
        <p:txBody>
          <a:bodyPr wrap="square" rtlCol="0">
            <a:spAutoFit/>
          </a:bodyPr>
          <a:lstStyle/>
          <a:p>
            <a:r>
              <a:rPr lang="fr-FR" sz="4400" b="1" dirty="0">
                <a:latin typeface="Berlin Sans FB Demi" panose="020E0802020502020306" pitchFamily="34" charset="77"/>
              </a:rPr>
              <a:t>04</a:t>
            </a:r>
          </a:p>
        </p:txBody>
      </p:sp>
      <p:sp>
        <p:nvSpPr>
          <p:cNvPr id="15" name="ZoneTexte 14">
            <a:extLst>
              <a:ext uri="{FF2B5EF4-FFF2-40B4-BE49-F238E27FC236}">
                <a16:creationId xmlns:a16="http://schemas.microsoft.com/office/drawing/2014/main" id="{A35BD033-2BE4-C8D7-3556-CF0D5F864DB0}"/>
              </a:ext>
            </a:extLst>
          </p:cNvPr>
          <p:cNvSpPr txBox="1"/>
          <p:nvPr/>
        </p:nvSpPr>
        <p:spPr>
          <a:xfrm>
            <a:off x="9825228" y="3805706"/>
            <a:ext cx="3346704" cy="1015663"/>
          </a:xfrm>
          <a:prstGeom prst="rect">
            <a:avLst/>
          </a:prstGeom>
          <a:noFill/>
        </p:spPr>
        <p:txBody>
          <a:bodyPr wrap="square" rtlCol="0">
            <a:spAutoFit/>
          </a:bodyPr>
          <a:lstStyle/>
          <a:p>
            <a:r>
              <a:rPr lang="fr-FR" sz="2000" b="1" dirty="0">
                <a:latin typeface="Berlin Sans FB" panose="020E0602020502020306" pitchFamily="34" charset="77"/>
              </a:rPr>
              <a:t>Test Du Chi² </a:t>
            </a:r>
          </a:p>
          <a:p>
            <a:r>
              <a:rPr lang="fr-FR" sz="2000" b="1" dirty="0">
                <a:latin typeface="Berlin Sans FB" panose="020E0602020502020306" pitchFamily="34" charset="77"/>
              </a:rPr>
              <a:t>Genre/Frein et </a:t>
            </a:r>
          </a:p>
          <a:p>
            <a:r>
              <a:rPr lang="fr-FR" sz="2000" b="1" dirty="0" err="1">
                <a:latin typeface="Berlin Sans FB" panose="020E0602020502020306" pitchFamily="34" charset="77"/>
              </a:rPr>
              <a:t>Concusion</a:t>
            </a:r>
            <a:endParaRPr lang="fr-FR" sz="2000" b="1" dirty="0">
              <a:latin typeface="Berlin Sans FB" panose="020E0602020502020306" pitchFamily="34" charset="77"/>
            </a:endParaRPr>
          </a:p>
        </p:txBody>
      </p:sp>
      <p:pic>
        <p:nvPicPr>
          <p:cNvPr id="17" name="Picture 4">
            <a:extLst>
              <a:ext uri="{FF2B5EF4-FFF2-40B4-BE49-F238E27FC236}">
                <a16:creationId xmlns:a16="http://schemas.microsoft.com/office/drawing/2014/main" id="{B660D461-7C49-0FC6-9EDD-8B12E0F96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830" y="36556"/>
            <a:ext cx="3170269" cy="1208665"/>
          </a:xfrm>
          <a:prstGeom prst="rect">
            <a:avLst/>
          </a:prstGeom>
          <a:noFill/>
          <a:extLst>
            <a:ext uri="{909E8E84-426E-40DD-AFC4-6F175D3DCCD1}">
              <a14:hiddenFill xmlns:a14="http://schemas.microsoft.com/office/drawing/2010/main">
                <a:solidFill>
                  <a:srgbClr val="FFFFFF"/>
                </a:solidFill>
              </a14:hiddenFill>
            </a:ext>
          </a:extLst>
        </p:spPr>
      </p:pic>
      <p:sp>
        <p:nvSpPr>
          <p:cNvPr id="18" name="ZoneTexte 17">
            <a:extLst>
              <a:ext uri="{FF2B5EF4-FFF2-40B4-BE49-F238E27FC236}">
                <a16:creationId xmlns:a16="http://schemas.microsoft.com/office/drawing/2014/main" id="{1B6669D7-1A63-B6BE-1AFB-A328FC245C53}"/>
              </a:ext>
            </a:extLst>
          </p:cNvPr>
          <p:cNvSpPr txBox="1"/>
          <p:nvPr/>
        </p:nvSpPr>
        <p:spPr>
          <a:xfrm>
            <a:off x="11682222" y="6027003"/>
            <a:ext cx="509778"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5</a:t>
            </a:r>
          </a:p>
        </p:txBody>
      </p:sp>
      <p:sp>
        <p:nvSpPr>
          <p:cNvPr id="2" name="ZoneTexte 1">
            <a:extLst>
              <a:ext uri="{FF2B5EF4-FFF2-40B4-BE49-F238E27FC236}">
                <a16:creationId xmlns:a16="http://schemas.microsoft.com/office/drawing/2014/main" id="{1BB81D29-8607-4B79-0E83-EC401BE9BFC3}"/>
              </a:ext>
            </a:extLst>
          </p:cNvPr>
          <p:cNvSpPr txBox="1"/>
          <p:nvPr/>
        </p:nvSpPr>
        <p:spPr>
          <a:xfrm>
            <a:off x="3925824" y="3966120"/>
            <a:ext cx="3346704" cy="1015663"/>
          </a:xfrm>
          <a:prstGeom prst="rect">
            <a:avLst/>
          </a:prstGeom>
          <a:noFill/>
        </p:spPr>
        <p:txBody>
          <a:bodyPr wrap="square" rtlCol="0">
            <a:spAutoFit/>
          </a:bodyPr>
          <a:lstStyle/>
          <a:p>
            <a:r>
              <a:rPr lang="fr-FR" sz="2000" b="1" dirty="0">
                <a:latin typeface="Berlin Sans FB Demi" panose="020E0802020502020306" pitchFamily="34" charset="77"/>
              </a:rPr>
              <a:t>Les différentes analyses</a:t>
            </a:r>
          </a:p>
          <a:p>
            <a:r>
              <a:rPr lang="fr-FR" sz="2000" b="1" dirty="0">
                <a:latin typeface="Berlin Sans FB Demi" panose="020E0802020502020306" pitchFamily="34" charset="77"/>
              </a:rPr>
              <a:t>Univariée ( frein , âge , genre etc…)</a:t>
            </a:r>
          </a:p>
        </p:txBody>
      </p:sp>
      <p:sp>
        <p:nvSpPr>
          <p:cNvPr id="3" name="ZoneTexte 2">
            <a:extLst>
              <a:ext uri="{FF2B5EF4-FFF2-40B4-BE49-F238E27FC236}">
                <a16:creationId xmlns:a16="http://schemas.microsoft.com/office/drawing/2014/main" id="{D597E290-E46B-F6F3-BA37-2FEC666B6B0B}"/>
              </a:ext>
            </a:extLst>
          </p:cNvPr>
          <p:cNvSpPr txBox="1"/>
          <p:nvPr/>
        </p:nvSpPr>
        <p:spPr>
          <a:xfrm>
            <a:off x="130111" y="5863776"/>
            <a:ext cx="6120218" cy="923330"/>
          </a:xfrm>
          <a:prstGeom prst="rect">
            <a:avLst/>
          </a:prstGeom>
          <a:noFill/>
        </p:spPr>
        <p:txBody>
          <a:bodyPr wrap="square" rtlCol="0">
            <a:spAutoFit/>
          </a:bodyPr>
          <a:lstStyle/>
          <a:p>
            <a:r>
              <a:rPr lang="fr-FR" dirty="0">
                <a:solidFill>
                  <a:schemeClr val="bg1"/>
                </a:solidFill>
                <a:latin typeface="Berlin Sans FB" panose="020E0602020502020306" pitchFamily="34" charset="77"/>
              </a:rPr>
              <a:t>Babouri Yacine                           </a:t>
            </a:r>
            <a:r>
              <a:rPr lang="fr-FR" dirty="0" err="1">
                <a:solidFill>
                  <a:schemeClr val="bg1"/>
                </a:solidFill>
                <a:latin typeface="Berlin Sans FB" panose="020E0602020502020306" pitchFamily="34" charset="77"/>
              </a:rPr>
              <a:t>Chiker</a:t>
            </a:r>
            <a:r>
              <a:rPr lang="fr-FR" dirty="0">
                <a:solidFill>
                  <a:schemeClr val="bg1"/>
                </a:solidFill>
                <a:latin typeface="Berlin Sans FB" panose="020E0602020502020306" pitchFamily="34" charset="77"/>
              </a:rPr>
              <a:t> Younes                                                </a:t>
            </a:r>
          </a:p>
          <a:p>
            <a:endParaRPr lang="fr-FR" dirty="0">
              <a:solidFill>
                <a:schemeClr val="bg1"/>
              </a:solidFill>
              <a:latin typeface="Berlin Sans FB" panose="020E0602020502020306" pitchFamily="34" charset="77"/>
            </a:endParaRPr>
          </a:p>
          <a:p>
            <a:r>
              <a:rPr lang="fr-FR" dirty="0">
                <a:solidFill>
                  <a:schemeClr val="bg1"/>
                </a:solidFill>
                <a:latin typeface="Berlin Sans FB" panose="020E0602020502020306" pitchFamily="34" charset="77"/>
              </a:rPr>
              <a:t>Ait </a:t>
            </a:r>
            <a:r>
              <a:rPr lang="fr-FR" dirty="0" err="1">
                <a:solidFill>
                  <a:schemeClr val="bg1"/>
                </a:solidFill>
                <a:latin typeface="Berlin Sans FB" panose="020E0602020502020306" pitchFamily="34" charset="77"/>
              </a:rPr>
              <a:t>zaouit</a:t>
            </a:r>
            <a:r>
              <a:rPr lang="fr-FR" dirty="0">
                <a:solidFill>
                  <a:schemeClr val="bg1"/>
                </a:solidFill>
                <a:latin typeface="Berlin Sans FB" panose="020E0602020502020306" pitchFamily="34" charset="77"/>
              </a:rPr>
              <a:t> Rida          </a:t>
            </a:r>
            <a:r>
              <a:rPr lang="fr-FR" dirty="0" err="1">
                <a:solidFill>
                  <a:schemeClr val="bg1"/>
                </a:solidFill>
                <a:latin typeface="Berlin Sans FB" panose="020E0602020502020306" pitchFamily="34" charset="77"/>
              </a:rPr>
              <a:t>Bayarmaa</a:t>
            </a:r>
            <a:r>
              <a:rPr lang="fr-FR" dirty="0">
                <a:solidFill>
                  <a:schemeClr val="bg1"/>
                </a:solidFill>
                <a:latin typeface="Berlin Sans FB" panose="020E0602020502020306" pitchFamily="34" charset="77"/>
              </a:rPr>
              <a:t> </a:t>
            </a:r>
            <a:r>
              <a:rPr lang="fr-FR" dirty="0" err="1">
                <a:solidFill>
                  <a:schemeClr val="bg1"/>
                </a:solidFill>
                <a:latin typeface="Berlin Sans FB" panose="020E0602020502020306" pitchFamily="34" charset="77"/>
              </a:rPr>
              <a:t>Javkhlantugs</a:t>
            </a:r>
            <a:endParaRPr lang="fr-FR" dirty="0">
              <a:solidFill>
                <a:schemeClr val="bg1"/>
              </a:solidFill>
              <a:latin typeface="Berlin Sans FB" panose="020E0602020502020306" pitchFamily="34" charset="77"/>
            </a:endParaRPr>
          </a:p>
        </p:txBody>
      </p:sp>
      <p:sp>
        <p:nvSpPr>
          <p:cNvPr id="7" name="ZoneTexte 6">
            <a:extLst>
              <a:ext uri="{FF2B5EF4-FFF2-40B4-BE49-F238E27FC236}">
                <a16:creationId xmlns:a16="http://schemas.microsoft.com/office/drawing/2014/main" id="{D5D013AD-F8F2-4769-14FF-45F548D18742}"/>
              </a:ext>
            </a:extLst>
          </p:cNvPr>
          <p:cNvSpPr txBox="1"/>
          <p:nvPr/>
        </p:nvSpPr>
        <p:spPr>
          <a:xfrm>
            <a:off x="9803413" y="163234"/>
            <a:ext cx="2224756" cy="646331"/>
          </a:xfrm>
          <a:prstGeom prst="rect">
            <a:avLst/>
          </a:prstGeom>
          <a:noFill/>
        </p:spPr>
        <p:txBody>
          <a:bodyPr wrap="square" rtlCol="0">
            <a:spAutoFit/>
          </a:bodyPr>
          <a:lstStyle/>
          <a:p>
            <a:r>
              <a:rPr lang="fr-FR" dirty="0">
                <a:solidFill>
                  <a:schemeClr val="bg1"/>
                </a:solidFill>
              </a:rPr>
              <a:t>BUT SD 1</a:t>
            </a:r>
            <a:r>
              <a:rPr lang="fr-FR" baseline="30000" dirty="0">
                <a:solidFill>
                  <a:schemeClr val="bg1"/>
                </a:solidFill>
              </a:rPr>
              <a:t>er</a:t>
            </a:r>
            <a:r>
              <a:rPr lang="fr-FR" dirty="0">
                <a:solidFill>
                  <a:schemeClr val="bg1"/>
                </a:solidFill>
              </a:rPr>
              <a:t> année </a:t>
            </a:r>
          </a:p>
          <a:p>
            <a:r>
              <a:rPr lang="fr-FR" dirty="0">
                <a:solidFill>
                  <a:schemeClr val="bg1"/>
                </a:solidFill>
              </a:rPr>
              <a:t>2024 / 2025</a:t>
            </a:r>
          </a:p>
        </p:txBody>
      </p:sp>
      <p:sp>
        <p:nvSpPr>
          <p:cNvPr id="14" name="ZoneTexte 13">
            <a:extLst>
              <a:ext uri="{FF2B5EF4-FFF2-40B4-BE49-F238E27FC236}">
                <a16:creationId xmlns:a16="http://schemas.microsoft.com/office/drawing/2014/main" id="{2FCF5CE8-8C6C-1764-65E2-31BC11CADB6F}"/>
              </a:ext>
            </a:extLst>
          </p:cNvPr>
          <p:cNvSpPr txBox="1"/>
          <p:nvPr/>
        </p:nvSpPr>
        <p:spPr>
          <a:xfrm>
            <a:off x="3014663" y="2788454"/>
            <a:ext cx="9177337" cy="2031325"/>
          </a:xfrm>
          <a:prstGeom prst="rect">
            <a:avLst/>
          </a:prstGeom>
          <a:noFill/>
        </p:spPr>
        <p:txBody>
          <a:bodyPr wrap="square" rtlCol="0">
            <a:spAutoFit/>
          </a:bodyPr>
          <a:lstStyle/>
          <a:p>
            <a:pPr algn="just"/>
            <a:r>
              <a:rPr lang="fr-FR" b="1" i="0" u="none" strike="noStrike" dirty="0">
                <a:solidFill>
                  <a:schemeClr val="bg1"/>
                </a:solidFill>
                <a:effectLst/>
                <a:latin typeface="Berlin Sans FB" panose="020E0602020502020306" pitchFamily="34" charset="77"/>
              </a:rPr>
              <a:t>Contexte de l’étude</a:t>
            </a:r>
            <a:r>
              <a:rPr lang="fr-FR" b="0" i="0" u="none" strike="noStrike" dirty="0">
                <a:solidFill>
                  <a:schemeClr val="bg1"/>
                </a:solidFill>
                <a:effectLst/>
                <a:latin typeface="Berlin Sans FB" panose="020E0602020502020306" pitchFamily="34" charset="77"/>
              </a:rPr>
              <a:t> : Nous avons étudié une table de données tirée d’une enquête que nous avons réalisée sur les pratiques culturelles des étudiants de l’Université Paris Cité. Nous avons créé un questionnaire avec </a:t>
            </a:r>
            <a:r>
              <a:rPr lang="fr-FR" b="0" i="0" u="none" strike="noStrike" dirty="0" err="1">
                <a:solidFill>
                  <a:schemeClr val="bg1"/>
                </a:solidFill>
                <a:effectLst/>
                <a:latin typeface="Berlin Sans FB" panose="020E0602020502020306" pitchFamily="34" charset="77"/>
              </a:rPr>
              <a:t>LimeSurvey</a:t>
            </a:r>
            <a:r>
              <a:rPr lang="fr-FR" b="0" i="0" u="none" strike="noStrike" dirty="0">
                <a:solidFill>
                  <a:schemeClr val="bg1"/>
                </a:solidFill>
                <a:effectLst/>
                <a:latin typeface="Berlin Sans FB" panose="020E0602020502020306" pitchFamily="34" charset="77"/>
              </a:rPr>
              <a:t>. L’enquête a été menée à partir d’un questionnaire transmis par mail, et nous avons également distribué des QR codes sur chaque campus de l’Université Paris Cité pour toucher un maximum d’étudiants. Au total, 2 241 étudiants(e)s ont répondu à ce questionnaire. Nous avons ensuite utilisé Excel pour récupérer ces données et les analyser.</a:t>
            </a:r>
            <a:endParaRPr lang="fr-FR" b="1" dirty="0">
              <a:solidFill>
                <a:schemeClr val="bg1"/>
              </a:solidFill>
              <a:latin typeface="Berlin Sans FB" panose="020E0602020502020306" pitchFamily="34" charset="77"/>
            </a:endParaRPr>
          </a:p>
        </p:txBody>
      </p:sp>
      <p:sp>
        <p:nvSpPr>
          <p:cNvPr id="21" name="ZoneTexte 20">
            <a:extLst>
              <a:ext uri="{FF2B5EF4-FFF2-40B4-BE49-F238E27FC236}">
                <a16:creationId xmlns:a16="http://schemas.microsoft.com/office/drawing/2014/main" id="{4F8361B4-1606-18EB-5A8C-9A7D1DE90130}"/>
              </a:ext>
            </a:extLst>
          </p:cNvPr>
          <p:cNvSpPr txBox="1"/>
          <p:nvPr/>
        </p:nvSpPr>
        <p:spPr>
          <a:xfrm>
            <a:off x="755523" y="2141940"/>
            <a:ext cx="10844784" cy="646331"/>
          </a:xfrm>
          <a:prstGeom prst="rect">
            <a:avLst/>
          </a:prstGeom>
          <a:noFill/>
        </p:spPr>
        <p:txBody>
          <a:bodyPr wrap="square" rtlCol="0">
            <a:spAutoFit/>
          </a:bodyPr>
          <a:lstStyle/>
          <a:p>
            <a:r>
              <a:rPr lang="fr-FR" dirty="0">
                <a:solidFill>
                  <a:schemeClr val="bg1"/>
                </a:solidFill>
                <a:effectLst/>
                <a:latin typeface="Berlin Sans FB" panose="020E0602020502020306" pitchFamily="34" charset="77"/>
              </a:rPr>
              <a:t>Les freins aux pratiques culturelles varie-ils selon le profil des étudiants (âge, filière, campus, lieu de résidence)</a:t>
            </a:r>
          </a:p>
          <a:p>
            <a:endParaRPr lang="fr-FR" b="1" dirty="0">
              <a:solidFill>
                <a:schemeClr val="bg1"/>
              </a:solidFill>
              <a:latin typeface="Berlin Sans FB Demi" panose="020E0802020502020306" pitchFamily="34" charset="77"/>
            </a:endParaRPr>
          </a:p>
        </p:txBody>
      </p:sp>
      <p:sp>
        <p:nvSpPr>
          <p:cNvPr id="19" name="ZoneTexte 18">
            <a:extLst>
              <a:ext uri="{FF2B5EF4-FFF2-40B4-BE49-F238E27FC236}">
                <a16:creationId xmlns:a16="http://schemas.microsoft.com/office/drawing/2014/main" id="{4087CB35-AECE-94A2-5EBF-6BCA76080FAB}"/>
              </a:ext>
            </a:extLst>
          </p:cNvPr>
          <p:cNvSpPr txBox="1"/>
          <p:nvPr/>
        </p:nvSpPr>
        <p:spPr>
          <a:xfrm>
            <a:off x="8272761" y="6429336"/>
            <a:ext cx="2943108" cy="369332"/>
          </a:xfrm>
          <a:prstGeom prst="rect">
            <a:avLst/>
          </a:prstGeom>
          <a:noFill/>
        </p:spPr>
        <p:txBody>
          <a:bodyPr wrap="square" rtlCol="0">
            <a:spAutoFit/>
          </a:bodyPr>
          <a:lstStyle/>
          <a:p>
            <a:r>
              <a:rPr lang="fr-FR" dirty="0">
                <a:solidFill>
                  <a:schemeClr val="bg1"/>
                </a:solidFill>
                <a:latin typeface="Berlin Sans FB" panose="020E0602020502020306" pitchFamily="34" charset="77"/>
              </a:rPr>
              <a:t>Vendredi 31 janvier 2025</a:t>
            </a:r>
          </a:p>
        </p:txBody>
      </p:sp>
    </p:spTree>
    <p:extLst>
      <p:ext uri="{BB962C8B-B14F-4D97-AF65-F5344CB8AC3E}">
        <p14:creationId xmlns:p14="http://schemas.microsoft.com/office/powerpoint/2010/main" val="2677619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99000">
              <a:srgbClr val="0070C0"/>
            </a:gs>
            <a:gs pos="0">
              <a:srgbClr val="0B2F41"/>
            </a:gs>
          </a:gsLst>
          <a:lin ang="2700000" scaled="1"/>
          <a:tileRect/>
        </a:gradFill>
        <a:effectLst/>
      </p:bgPr>
    </p:bg>
    <p:spTree>
      <p:nvGrpSpPr>
        <p:cNvPr id="1" name=""/>
        <p:cNvGrpSpPr/>
        <p:nvPr/>
      </p:nvGrpSpPr>
      <p:grpSpPr>
        <a:xfrm>
          <a:off x="0" y="0"/>
          <a:ext cx="0" cy="0"/>
          <a:chOff x="0" y="0"/>
          <a:chExt cx="0" cy="0"/>
        </a:xfrm>
      </p:grpSpPr>
      <p:sp>
        <p:nvSpPr>
          <p:cNvPr id="28" name="ZoneTexte 27">
            <a:extLst>
              <a:ext uri="{FF2B5EF4-FFF2-40B4-BE49-F238E27FC236}">
                <a16:creationId xmlns:a16="http://schemas.microsoft.com/office/drawing/2014/main" id="{F71836C3-9662-9589-9017-94191BC018A6}"/>
              </a:ext>
            </a:extLst>
          </p:cNvPr>
          <p:cNvSpPr txBox="1"/>
          <p:nvPr/>
        </p:nvSpPr>
        <p:spPr>
          <a:xfrm>
            <a:off x="6732370" y="3106959"/>
            <a:ext cx="4907665" cy="1015663"/>
          </a:xfrm>
          <a:prstGeom prst="rect">
            <a:avLst/>
          </a:prstGeom>
          <a:noFill/>
        </p:spPr>
        <p:txBody>
          <a:bodyPr wrap="square" rtlCol="0">
            <a:spAutoFit/>
          </a:bodyPr>
          <a:lstStyle/>
          <a:p>
            <a:r>
              <a:rPr lang="fr-FR" sz="6000" dirty="0">
                <a:solidFill>
                  <a:srgbClr val="FFFF00"/>
                </a:solidFill>
                <a:latin typeface="Brush Script MT" panose="03060802040406070304" pitchFamily="66" charset="-122"/>
                <a:ea typeface="Brush Script MT" panose="03060802040406070304" pitchFamily="66" charset="-122"/>
                <a:cs typeface="Brush Script MT" panose="03060802040406070304" pitchFamily="66" charset="-122"/>
              </a:rPr>
              <a:t>Par étape</a:t>
            </a:r>
          </a:p>
        </p:txBody>
      </p:sp>
      <p:grpSp>
        <p:nvGrpSpPr>
          <p:cNvPr id="26" name="Groupe 25">
            <a:extLst>
              <a:ext uri="{FF2B5EF4-FFF2-40B4-BE49-F238E27FC236}">
                <a16:creationId xmlns:a16="http://schemas.microsoft.com/office/drawing/2014/main" id="{9746366A-94C1-3C4E-0BF4-EA81E14D1B01}"/>
              </a:ext>
            </a:extLst>
          </p:cNvPr>
          <p:cNvGrpSpPr/>
          <p:nvPr/>
        </p:nvGrpSpPr>
        <p:grpSpPr>
          <a:xfrm>
            <a:off x="148541" y="0"/>
            <a:ext cx="6285052" cy="6858000"/>
            <a:chOff x="8090702" y="0"/>
            <a:chExt cx="6285052" cy="6858000"/>
          </a:xfrm>
        </p:grpSpPr>
        <p:sp>
          <p:nvSpPr>
            <p:cNvPr id="6" name="Rectangle 5">
              <a:extLst>
                <a:ext uri="{FF2B5EF4-FFF2-40B4-BE49-F238E27FC236}">
                  <a16:creationId xmlns:a16="http://schemas.microsoft.com/office/drawing/2014/main" id="{AD3BA10D-17BB-A48D-B410-9A93F6D9020A}"/>
                </a:ext>
              </a:extLst>
            </p:cNvPr>
            <p:cNvSpPr/>
            <p:nvPr/>
          </p:nvSpPr>
          <p:spPr>
            <a:xfrm>
              <a:off x="8090702" y="0"/>
              <a:ext cx="4101297"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ZoneTexte 17">
              <a:extLst>
                <a:ext uri="{FF2B5EF4-FFF2-40B4-BE49-F238E27FC236}">
                  <a16:creationId xmlns:a16="http://schemas.microsoft.com/office/drawing/2014/main" id="{C4A16D08-A383-FEA7-A2F0-E6E6CB6A6491}"/>
                </a:ext>
              </a:extLst>
            </p:cNvPr>
            <p:cNvSpPr txBox="1"/>
            <p:nvPr/>
          </p:nvSpPr>
          <p:spPr>
            <a:xfrm>
              <a:off x="8248894" y="3244334"/>
              <a:ext cx="3873660" cy="2677656"/>
            </a:xfrm>
            <a:prstGeom prst="rect">
              <a:avLst/>
            </a:prstGeom>
            <a:noFill/>
          </p:spPr>
          <p:txBody>
            <a:bodyPr wrap="square">
              <a:spAutoFit/>
            </a:bodyPr>
            <a:lstStyle/>
            <a:p>
              <a:r>
                <a:rPr lang="fr-FR" sz="2400" dirty="0">
                  <a:solidFill>
                    <a:schemeClr val="bg1"/>
                  </a:solidFill>
                  <a:effectLst/>
                  <a:latin typeface="Berlin Sans FB" panose="020E0602020502020306" pitchFamily="34" charset="77"/>
                </a:rPr>
                <a:t>Les étudiants en milieu rural sont freinés par le manque d’accès aux infrastructures culturelles, tandis que ceux en milieu urbain le sont par des coûts élevés ou un manque de temps.</a:t>
              </a:r>
            </a:p>
          </p:txBody>
        </p:sp>
        <p:sp>
          <p:nvSpPr>
            <p:cNvPr id="21" name="Rectangle : avec coins arrondis en haut 20">
              <a:extLst>
                <a:ext uri="{FF2B5EF4-FFF2-40B4-BE49-F238E27FC236}">
                  <a16:creationId xmlns:a16="http://schemas.microsoft.com/office/drawing/2014/main" id="{1E60DF00-0A03-9C4C-44B8-F0811AC79BF6}"/>
                </a:ext>
              </a:extLst>
            </p:cNvPr>
            <p:cNvSpPr/>
            <p:nvPr/>
          </p:nvSpPr>
          <p:spPr>
            <a:xfrm>
              <a:off x="12055030" y="493739"/>
              <a:ext cx="555585" cy="999496"/>
            </a:xfrm>
            <a:prstGeom prst="round2Same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ZoneTexte 23">
              <a:extLst>
                <a:ext uri="{FF2B5EF4-FFF2-40B4-BE49-F238E27FC236}">
                  <a16:creationId xmlns:a16="http://schemas.microsoft.com/office/drawing/2014/main" id="{7EFB17D6-EB68-92C2-95DF-714553770E4C}"/>
                </a:ext>
              </a:extLst>
            </p:cNvPr>
            <p:cNvSpPr txBox="1"/>
            <p:nvPr/>
          </p:nvSpPr>
          <p:spPr>
            <a:xfrm>
              <a:off x="8090702" y="1715686"/>
              <a:ext cx="6285052" cy="1015663"/>
            </a:xfrm>
            <a:prstGeom prst="rect">
              <a:avLst/>
            </a:prstGeom>
            <a:noFill/>
          </p:spPr>
          <p:txBody>
            <a:bodyPr wrap="square">
              <a:spAutoFit/>
            </a:bodyPr>
            <a:lstStyle/>
            <a:p>
              <a:r>
                <a:rPr lang="fr-FR" sz="6000" b="1" dirty="0">
                  <a:solidFill>
                    <a:schemeClr val="bg1"/>
                  </a:solidFill>
                  <a:latin typeface="Aptos Display" panose="020B0004020202020204" pitchFamily="34" charset="0"/>
                </a:rPr>
                <a:t>RESIDENCE</a:t>
              </a:r>
            </a:p>
          </p:txBody>
        </p:sp>
      </p:grpSp>
      <p:grpSp>
        <p:nvGrpSpPr>
          <p:cNvPr id="25" name="Groupe 24">
            <a:extLst>
              <a:ext uri="{FF2B5EF4-FFF2-40B4-BE49-F238E27FC236}">
                <a16:creationId xmlns:a16="http://schemas.microsoft.com/office/drawing/2014/main" id="{EA8826A3-48FB-3FEB-115D-F5B686130F7B}"/>
              </a:ext>
            </a:extLst>
          </p:cNvPr>
          <p:cNvGrpSpPr/>
          <p:nvPr/>
        </p:nvGrpSpPr>
        <p:grpSpPr>
          <a:xfrm>
            <a:off x="0" y="0"/>
            <a:ext cx="6844496" cy="6858000"/>
            <a:chOff x="3970116" y="0"/>
            <a:chExt cx="6844496" cy="6858000"/>
          </a:xfrm>
        </p:grpSpPr>
        <p:sp>
          <p:nvSpPr>
            <p:cNvPr id="5" name="Rectangle 4">
              <a:extLst>
                <a:ext uri="{FF2B5EF4-FFF2-40B4-BE49-F238E27FC236}">
                  <a16:creationId xmlns:a16="http://schemas.microsoft.com/office/drawing/2014/main" id="{CBEA8990-EEAB-D211-4B70-196A75A38F61}"/>
                </a:ext>
              </a:extLst>
            </p:cNvPr>
            <p:cNvSpPr/>
            <p:nvPr/>
          </p:nvSpPr>
          <p:spPr>
            <a:xfrm>
              <a:off x="3970116" y="0"/>
              <a:ext cx="4120587"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C152A07B-06DB-98C8-C594-AF4CEFA907AC}"/>
                </a:ext>
              </a:extLst>
            </p:cNvPr>
            <p:cNvSpPr txBox="1"/>
            <p:nvPr/>
          </p:nvSpPr>
          <p:spPr>
            <a:xfrm>
              <a:off x="4049211" y="3385048"/>
              <a:ext cx="4120587" cy="2308324"/>
            </a:xfrm>
            <a:prstGeom prst="rect">
              <a:avLst/>
            </a:prstGeom>
            <a:noFill/>
          </p:spPr>
          <p:txBody>
            <a:bodyPr wrap="square">
              <a:spAutoFit/>
            </a:bodyPr>
            <a:lstStyle/>
            <a:p>
              <a:r>
                <a:rPr lang="fr-FR" sz="2400" dirty="0">
                  <a:solidFill>
                    <a:schemeClr val="bg1"/>
                  </a:solidFill>
                  <a:effectLst/>
                  <a:latin typeface="Berlin Sans FB" panose="020E0602020502020306" pitchFamily="34" charset="77"/>
                </a:rPr>
                <a:t>Les étudiants en santé, sciences ou techniques sont limités par le manque de temps, tandis que ceux en arts ou lettres le sont davantage par les contraintes financières.</a:t>
              </a:r>
            </a:p>
          </p:txBody>
        </p:sp>
        <p:sp>
          <p:nvSpPr>
            <p:cNvPr id="20" name="Rectangle : avec coins arrondis en haut 19">
              <a:extLst>
                <a:ext uri="{FF2B5EF4-FFF2-40B4-BE49-F238E27FC236}">
                  <a16:creationId xmlns:a16="http://schemas.microsoft.com/office/drawing/2014/main" id="{523731A3-43B7-AA58-3A33-FF22B467FF04}"/>
                </a:ext>
              </a:extLst>
            </p:cNvPr>
            <p:cNvSpPr/>
            <p:nvPr/>
          </p:nvSpPr>
          <p:spPr>
            <a:xfrm>
              <a:off x="7953734" y="493739"/>
              <a:ext cx="555585" cy="999496"/>
            </a:xfrm>
            <a:prstGeom prst="round2SameRect">
              <a:avLst/>
            </a:prstGeom>
            <a:solidFill>
              <a:srgbClr val="1048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ZoneTexte 22">
              <a:extLst>
                <a:ext uri="{FF2B5EF4-FFF2-40B4-BE49-F238E27FC236}">
                  <a16:creationId xmlns:a16="http://schemas.microsoft.com/office/drawing/2014/main" id="{7E8C8542-FEF2-3963-BECF-0426BB96B83A}"/>
                </a:ext>
              </a:extLst>
            </p:cNvPr>
            <p:cNvSpPr txBox="1"/>
            <p:nvPr/>
          </p:nvSpPr>
          <p:spPr>
            <a:xfrm>
              <a:off x="4529560" y="1712588"/>
              <a:ext cx="6285052" cy="1015663"/>
            </a:xfrm>
            <a:prstGeom prst="rect">
              <a:avLst/>
            </a:prstGeom>
            <a:noFill/>
          </p:spPr>
          <p:txBody>
            <a:bodyPr wrap="square">
              <a:spAutoFit/>
            </a:bodyPr>
            <a:lstStyle/>
            <a:p>
              <a:r>
                <a:rPr lang="fr-FR" sz="6000" b="1" dirty="0">
                  <a:solidFill>
                    <a:schemeClr val="bg1"/>
                  </a:solidFill>
                  <a:latin typeface="Aptos Display" panose="020B0004020202020204" pitchFamily="34" charset="0"/>
                </a:rPr>
                <a:t>FILIERE</a:t>
              </a:r>
            </a:p>
          </p:txBody>
        </p:sp>
      </p:grpSp>
      <p:grpSp>
        <p:nvGrpSpPr>
          <p:cNvPr id="22" name="Groupe 21">
            <a:extLst>
              <a:ext uri="{FF2B5EF4-FFF2-40B4-BE49-F238E27FC236}">
                <a16:creationId xmlns:a16="http://schemas.microsoft.com/office/drawing/2014/main" id="{5FD87406-4D3E-1463-3980-7CBF12104C91}"/>
              </a:ext>
            </a:extLst>
          </p:cNvPr>
          <p:cNvGrpSpPr/>
          <p:nvPr/>
        </p:nvGrpSpPr>
        <p:grpSpPr>
          <a:xfrm>
            <a:off x="0" y="21610"/>
            <a:ext cx="7269864" cy="6858000"/>
            <a:chOff x="0" y="0"/>
            <a:chExt cx="7269864" cy="6858000"/>
          </a:xfrm>
        </p:grpSpPr>
        <p:sp>
          <p:nvSpPr>
            <p:cNvPr id="4" name="Rectangle 3">
              <a:extLst>
                <a:ext uri="{FF2B5EF4-FFF2-40B4-BE49-F238E27FC236}">
                  <a16:creationId xmlns:a16="http://schemas.microsoft.com/office/drawing/2014/main" id="{01160F35-5D04-7C4A-D9DA-74865CB32F35}"/>
                </a:ext>
              </a:extLst>
            </p:cNvPr>
            <p:cNvSpPr/>
            <p:nvPr/>
          </p:nvSpPr>
          <p:spPr>
            <a:xfrm>
              <a:off x="0" y="0"/>
              <a:ext cx="3970116"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D7055445-A629-1454-0103-13AA2753C79D}"/>
                </a:ext>
              </a:extLst>
            </p:cNvPr>
            <p:cNvSpPr txBox="1"/>
            <p:nvPr/>
          </p:nvSpPr>
          <p:spPr>
            <a:xfrm>
              <a:off x="984812" y="1635323"/>
              <a:ext cx="6285052" cy="1015663"/>
            </a:xfrm>
            <a:prstGeom prst="rect">
              <a:avLst/>
            </a:prstGeom>
            <a:noFill/>
          </p:spPr>
          <p:txBody>
            <a:bodyPr wrap="square">
              <a:spAutoFit/>
            </a:bodyPr>
            <a:lstStyle/>
            <a:p>
              <a:r>
                <a:rPr lang="fr-FR" sz="6000" b="1" dirty="0">
                  <a:solidFill>
                    <a:schemeClr val="bg1"/>
                  </a:solidFill>
                  <a:latin typeface=""/>
                </a:rPr>
                <a:t>AGE</a:t>
              </a:r>
            </a:p>
          </p:txBody>
        </p:sp>
        <p:sp>
          <p:nvSpPr>
            <p:cNvPr id="10" name="ZoneTexte 9">
              <a:extLst>
                <a:ext uri="{FF2B5EF4-FFF2-40B4-BE49-F238E27FC236}">
                  <a16:creationId xmlns:a16="http://schemas.microsoft.com/office/drawing/2014/main" id="{18BA6AB2-06C7-FFCC-64CB-18D8C5107476}"/>
                </a:ext>
              </a:extLst>
            </p:cNvPr>
            <p:cNvSpPr txBox="1"/>
            <p:nvPr/>
          </p:nvSpPr>
          <p:spPr>
            <a:xfrm>
              <a:off x="50639" y="3429000"/>
              <a:ext cx="3964330" cy="2308324"/>
            </a:xfrm>
            <a:prstGeom prst="rect">
              <a:avLst/>
            </a:prstGeom>
            <a:noFill/>
          </p:spPr>
          <p:txBody>
            <a:bodyPr wrap="square">
              <a:spAutoFit/>
            </a:bodyPr>
            <a:lstStyle/>
            <a:p>
              <a:r>
                <a:rPr lang="fr-FR" sz="2400" dirty="0">
                  <a:solidFill>
                    <a:schemeClr val="bg1"/>
                  </a:solidFill>
                  <a:effectLst/>
                  <a:latin typeface="Berlin Sans FB" panose="020E0602020502020306" pitchFamily="34" charset="77"/>
                </a:rPr>
                <a:t>Les étudiants plus jeunes sont davantage freinés par des contraintes financières, tandis que les plus âgés le sont par des obligations familiales ou professionnelles.</a:t>
              </a:r>
            </a:p>
          </p:txBody>
        </p:sp>
        <p:sp>
          <p:nvSpPr>
            <p:cNvPr id="19" name="Rectangle : avec coins arrondis en haut 18">
              <a:extLst>
                <a:ext uri="{FF2B5EF4-FFF2-40B4-BE49-F238E27FC236}">
                  <a16:creationId xmlns:a16="http://schemas.microsoft.com/office/drawing/2014/main" id="{F7310A26-E689-AE2D-24E9-9CA283A7F681}"/>
                </a:ext>
              </a:extLst>
            </p:cNvPr>
            <p:cNvSpPr/>
            <p:nvPr/>
          </p:nvSpPr>
          <p:spPr>
            <a:xfrm>
              <a:off x="3901632" y="496781"/>
              <a:ext cx="555585" cy="999496"/>
            </a:xfrm>
            <a:prstGeom prst="round2SameRect">
              <a:avLst/>
            </a:prstGeom>
            <a:solidFill>
              <a:srgbClr val="0B2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27" name="ZoneTexte 26">
            <a:extLst>
              <a:ext uri="{FF2B5EF4-FFF2-40B4-BE49-F238E27FC236}">
                <a16:creationId xmlns:a16="http://schemas.microsoft.com/office/drawing/2014/main" id="{89FCE69D-EF31-0CD7-8D30-854A0B62AAF3}"/>
              </a:ext>
            </a:extLst>
          </p:cNvPr>
          <p:cNvSpPr txBox="1"/>
          <p:nvPr/>
        </p:nvSpPr>
        <p:spPr>
          <a:xfrm>
            <a:off x="4425872" y="2206792"/>
            <a:ext cx="8384412" cy="1569660"/>
          </a:xfrm>
          <a:prstGeom prst="rect">
            <a:avLst/>
          </a:prstGeom>
          <a:noFill/>
        </p:spPr>
        <p:txBody>
          <a:bodyPr wrap="square" rtlCol="0">
            <a:spAutoFit/>
          </a:bodyPr>
          <a:lstStyle/>
          <a:p>
            <a:r>
              <a:rPr lang="fr-FR" sz="9600" b="1" dirty="0">
                <a:solidFill>
                  <a:schemeClr val="bg1"/>
                </a:solidFill>
                <a:latin typeface=""/>
              </a:rPr>
              <a:t>HYPOTHESE</a:t>
            </a:r>
          </a:p>
        </p:txBody>
      </p:sp>
      <p:sp>
        <p:nvSpPr>
          <p:cNvPr id="30" name="ZoneTexte 29">
            <a:extLst>
              <a:ext uri="{FF2B5EF4-FFF2-40B4-BE49-F238E27FC236}">
                <a16:creationId xmlns:a16="http://schemas.microsoft.com/office/drawing/2014/main" id="{AB5CA85C-D6E1-1E50-00E1-1313297EF080}"/>
              </a:ext>
            </a:extLst>
          </p:cNvPr>
          <p:cNvSpPr txBox="1"/>
          <p:nvPr/>
        </p:nvSpPr>
        <p:spPr>
          <a:xfrm>
            <a:off x="11682222" y="6027003"/>
            <a:ext cx="509778"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6</a:t>
            </a:r>
          </a:p>
        </p:txBody>
      </p:sp>
    </p:spTree>
    <p:extLst>
      <p:ext uri="{BB962C8B-B14F-4D97-AF65-F5344CB8AC3E}">
        <p14:creationId xmlns:p14="http://schemas.microsoft.com/office/powerpoint/2010/main" val="4118119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99000">
              <a:srgbClr val="0070C0"/>
            </a:gs>
            <a:gs pos="0">
              <a:srgbClr val="0B2F41"/>
            </a:gs>
          </a:gsLst>
          <a:lin ang="2700000" scaled="1"/>
          <a:tileRect/>
        </a:gradFill>
        <a:effectLst/>
      </p:bgPr>
    </p:bg>
    <p:spTree>
      <p:nvGrpSpPr>
        <p:cNvPr id="1" name="">
          <a:extLst>
            <a:ext uri="{FF2B5EF4-FFF2-40B4-BE49-F238E27FC236}">
              <a16:creationId xmlns:a16="http://schemas.microsoft.com/office/drawing/2014/main" id="{4635BD8A-93FE-C86A-0A74-4D3E4D460464}"/>
            </a:ext>
          </a:extLst>
        </p:cNvPr>
        <p:cNvGrpSpPr/>
        <p:nvPr/>
      </p:nvGrpSpPr>
      <p:grpSpPr>
        <a:xfrm>
          <a:off x="0" y="0"/>
          <a:ext cx="0" cy="0"/>
          <a:chOff x="0" y="0"/>
          <a:chExt cx="0" cy="0"/>
        </a:xfrm>
      </p:grpSpPr>
      <p:grpSp>
        <p:nvGrpSpPr>
          <p:cNvPr id="26" name="Groupe 25">
            <a:extLst>
              <a:ext uri="{FF2B5EF4-FFF2-40B4-BE49-F238E27FC236}">
                <a16:creationId xmlns:a16="http://schemas.microsoft.com/office/drawing/2014/main" id="{6A42B6D0-6F9B-76A0-8209-1DF99CBC50E3}"/>
              </a:ext>
            </a:extLst>
          </p:cNvPr>
          <p:cNvGrpSpPr/>
          <p:nvPr/>
        </p:nvGrpSpPr>
        <p:grpSpPr>
          <a:xfrm>
            <a:off x="8090703" y="21610"/>
            <a:ext cx="6285052" cy="6858000"/>
            <a:chOff x="8090702" y="0"/>
            <a:chExt cx="6285052" cy="6858000"/>
          </a:xfrm>
        </p:grpSpPr>
        <p:sp>
          <p:nvSpPr>
            <p:cNvPr id="6" name="Rectangle 5">
              <a:extLst>
                <a:ext uri="{FF2B5EF4-FFF2-40B4-BE49-F238E27FC236}">
                  <a16:creationId xmlns:a16="http://schemas.microsoft.com/office/drawing/2014/main" id="{4D4BEF08-069B-21DF-60BE-8743E86C3677}"/>
                </a:ext>
              </a:extLst>
            </p:cNvPr>
            <p:cNvSpPr/>
            <p:nvPr/>
          </p:nvSpPr>
          <p:spPr>
            <a:xfrm>
              <a:off x="8090702" y="0"/>
              <a:ext cx="4101297"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ZoneTexte 17">
              <a:extLst>
                <a:ext uri="{FF2B5EF4-FFF2-40B4-BE49-F238E27FC236}">
                  <a16:creationId xmlns:a16="http://schemas.microsoft.com/office/drawing/2014/main" id="{8F6495C0-A5D2-F96C-C1E7-EE3607BD44AE}"/>
                </a:ext>
              </a:extLst>
            </p:cNvPr>
            <p:cNvSpPr txBox="1"/>
            <p:nvPr/>
          </p:nvSpPr>
          <p:spPr>
            <a:xfrm>
              <a:off x="8248894" y="3244334"/>
              <a:ext cx="3873660" cy="2677656"/>
            </a:xfrm>
            <a:prstGeom prst="rect">
              <a:avLst/>
            </a:prstGeom>
            <a:noFill/>
          </p:spPr>
          <p:txBody>
            <a:bodyPr wrap="square">
              <a:spAutoFit/>
            </a:bodyPr>
            <a:lstStyle/>
            <a:p>
              <a:r>
                <a:rPr lang="fr-FR" sz="2400" dirty="0">
                  <a:solidFill>
                    <a:schemeClr val="bg1"/>
                  </a:solidFill>
                  <a:effectLst/>
                  <a:latin typeface="Berlin Sans FB" panose="020E0602020502020306" pitchFamily="34" charset="77"/>
                </a:rPr>
                <a:t>Les étudiants en milieu rural sont freinés par le manque d’accès aux infrastructures culturelles, tandis que ceux en milieu urbain le sont par des coûts élevés ou un manque de temps.</a:t>
              </a:r>
            </a:p>
          </p:txBody>
        </p:sp>
        <p:sp>
          <p:nvSpPr>
            <p:cNvPr id="21" name="Rectangle : avec coins arrondis en haut 20">
              <a:extLst>
                <a:ext uri="{FF2B5EF4-FFF2-40B4-BE49-F238E27FC236}">
                  <a16:creationId xmlns:a16="http://schemas.microsoft.com/office/drawing/2014/main" id="{320E9C4A-935C-8110-5EA7-4EC2F6C4FC77}"/>
                </a:ext>
              </a:extLst>
            </p:cNvPr>
            <p:cNvSpPr/>
            <p:nvPr/>
          </p:nvSpPr>
          <p:spPr>
            <a:xfrm>
              <a:off x="12055030" y="493739"/>
              <a:ext cx="555585" cy="999496"/>
            </a:xfrm>
            <a:prstGeom prst="round2Same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ZoneTexte 23">
              <a:extLst>
                <a:ext uri="{FF2B5EF4-FFF2-40B4-BE49-F238E27FC236}">
                  <a16:creationId xmlns:a16="http://schemas.microsoft.com/office/drawing/2014/main" id="{9C9E4E63-C68B-94A8-E5F9-3A0FB62892AA}"/>
                </a:ext>
              </a:extLst>
            </p:cNvPr>
            <p:cNvSpPr txBox="1"/>
            <p:nvPr/>
          </p:nvSpPr>
          <p:spPr>
            <a:xfrm>
              <a:off x="8090702" y="1715686"/>
              <a:ext cx="6285052" cy="1015663"/>
            </a:xfrm>
            <a:prstGeom prst="rect">
              <a:avLst/>
            </a:prstGeom>
            <a:noFill/>
          </p:spPr>
          <p:txBody>
            <a:bodyPr wrap="square">
              <a:spAutoFit/>
            </a:bodyPr>
            <a:lstStyle/>
            <a:p>
              <a:r>
                <a:rPr lang="fr-FR" sz="6000" b="1" dirty="0">
                  <a:solidFill>
                    <a:schemeClr val="bg1"/>
                  </a:solidFill>
                  <a:latin typeface="Aptos Display" panose="020B0004020202020204" pitchFamily="34" charset="0"/>
                </a:rPr>
                <a:t>RESIDENCE</a:t>
              </a:r>
            </a:p>
          </p:txBody>
        </p:sp>
      </p:grpSp>
      <p:grpSp>
        <p:nvGrpSpPr>
          <p:cNvPr id="25" name="Groupe 24">
            <a:extLst>
              <a:ext uri="{FF2B5EF4-FFF2-40B4-BE49-F238E27FC236}">
                <a16:creationId xmlns:a16="http://schemas.microsoft.com/office/drawing/2014/main" id="{FF9B7621-9A84-73BE-8F76-1BF4AEB71243}"/>
              </a:ext>
            </a:extLst>
          </p:cNvPr>
          <p:cNvGrpSpPr/>
          <p:nvPr/>
        </p:nvGrpSpPr>
        <p:grpSpPr>
          <a:xfrm>
            <a:off x="3970116" y="21610"/>
            <a:ext cx="6844496" cy="6858000"/>
            <a:chOff x="3970116" y="0"/>
            <a:chExt cx="6844496" cy="6858000"/>
          </a:xfrm>
        </p:grpSpPr>
        <p:sp>
          <p:nvSpPr>
            <p:cNvPr id="5" name="Rectangle 4">
              <a:extLst>
                <a:ext uri="{FF2B5EF4-FFF2-40B4-BE49-F238E27FC236}">
                  <a16:creationId xmlns:a16="http://schemas.microsoft.com/office/drawing/2014/main" id="{4EB9717C-ABE5-B1F2-EEDE-6786A462BA56}"/>
                </a:ext>
              </a:extLst>
            </p:cNvPr>
            <p:cNvSpPr/>
            <p:nvPr/>
          </p:nvSpPr>
          <p:spPr>
            <a:xfrm>
              <a:off x="3970116" y="0"/>
              <a:ext cx="4120587"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11DE930F-0E99-72B6-65DC-8FB9DAC4BD00}"/>
                </a:ext>
              </a:extLst>
            </p:cNvPr>
            <p:cNvSpPr txBox="1"/>
            <p:nvPr/>
          </p:nvSpPr>
          <p:spPr>
            <a:xfrm>
              <a:off x="4049211" y="3385048"/>
              <a:ext cx="4120587" cy="2308324"/>
            </a:xfrm>
            <a:prstGeom prst="rect">
              <a:avLst/>
            </a:prstGeom>
            <a:noFill/>
          </p:spPr>
          <p:txBody>
            <a:bodyPr wrap="square">
              <a:spAutoFit/>
            </a:bodyPr>
            <a:lstStyle/>
            <a:p>
              <a:r>
                <a:rPr lang="fr-FR" sz="2400" dirty="0">
                  <a:solidFill>
                    <a:schemeClr val="bg1"/>
                  </a:solidFill>
                  <a:effectLst/>
                  <a:latin typeface="Berlin Sans FB" panose="020E0602020502020306" pitchFamily="34" charset="77"/>
                </a:rPr>
                <a:t>Les étudiants en santé, sciences ou techniques sont limités par le manque de temps, tandis que ceux en arts ou lettres le sont davantage par les contraintes financières.</a:t>
              </a:r>
            </a:p>
          </p:txBody>
        </p:sp>
        <p:sp>
          <p:nvSpPr>
            <p:cNvPr id="20" name="Rectangle : avec coins arrondis en haut 19">
              <a:extLst>
                <a:ext uri="{FF2B5EF4-FFF2-40B4-BE49-F238E27FC236}">
                  <a16:creationId xmlns:a16="http://schemas.microsoft.com/office/drawing/2014/main" id="{7C3C9F4D-7F05-6923-B657-BF7D2F7E7C06}"/>
                </a:ext>
              </a:extLst>
            </p:cNvPr>
            <p:cNvSpPr/>
            <p:nvPr/>
          </p:nvSpPr>
          <p:spPr>
            <a:xfrm>
              <a:off x="7953734" y="493739"/>
              <a:ext cx="555585" cy="999496"/>
            </a:xfrm>
            <a:prstGeom prst="round2SameRect">
              <a:avLst/>
            </a:prstGeom>
            <a:solidFill>
              <a:srgbClr val="1048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ZoneTexte 22">
              <a:extLst>
                <a:ext uri="{FF2B5EF4-FFF2-40B4-BE49-F238E27FC236}">
                  <a16:creationId xmlns:a16="http://schemas.microsoft.com/office/drawing/2014/main" id="{68A7FF0F-EA23-E7D0-2357-A17DDB6461CE}"/>
                </a:ext>
              </a:extLst>
            </p:cNvPr>
            <p:cNvSpPr txBox="1"/>
            <p:nvPr/>
          </p:nvSpPr>
          <p:spPr>
            <a:xfrm>
              <a:off x="4529560" y="1712588"/>
              <a:ext cx="6285052" cy="1015663"/>
            </a:xfrm>
            <a:prstGeom prst="rect">
              <a:avLst/>
            </a:prstGeom>
            <a:noFill/>
          </p:spPr>
          <p:txBody>
            <a:bodyPr wrap="square">
              <a:spAutoFit/>
            </a:bodyPr>
            <a:lstStyle/>
            <a:p>
              <a:r>
                <a:rPr lang="fr-FR" sz="6000" b="1" dirty="0">
                  <a:solidFill>
                    <a:schemeClr val="bg1"/>
                  </a:solidFill>
                  <a:latin typeface="Aptos Display" panose="020B0004020202020204" pitchFamily="34" charset="0"/>
                </a:rPr>
                <a:t>FILIERE</a:t>
              </a:r>
            </a:p>
          </p:txBody>
        </p:sp>
      </p:grpSp>
      <p:grpSp>
        <p:nvGrpSpPr>
          <p:cNvPr id="22" name="Groupe 21">
            <a:extLst>
              <a:ext uri="{FF2B5EF4-FFF2-40B4-BE49-F238E27FC236}">
                <a16:creationId xmlns:a16="http://schemas.microsoft.com/office/drawing/2014/main" id="{7495995A-2CFC-ED19-4F9C-F6732659FE1F}"/>
              </a:ext>
            </a:extLst>
          </p:cNvPr>
          <p:cNvGrpSpPr/>
          <p:nvPr/>
        </p:nvGrpSpPr>
        <p:grpSpPr>
          <a:xfrm>
            <a:off x="0" y="21610"/>
            <a:ext cx="7243824" cy="6858000"/>
            <a:chOff x="0" y="0"/>
            <a:chExt cx="7243824" cy="6858000"/>
          </a:xfrm>
        </p:grpSpPr>
        <p:sp>
          <p:nvSpPr>
            <p:cNvPr id="4" name="Rectangle 3">
              <a:extLst>
                <a:ext uri="{FF2B5EF4-FFF2-40B4-BE49-F238E27FC236}">
                  <a16:creationId xmlns:a16="http://schemas.microsoft.com/office/drawing/2014/main" id="{3E12F448-9F7D-948A-218B-5E58F3F3FC0D}"/>
                </a:ext>
              </a:extLst>
            </p:cNvPr>
            <p:cNvSpPr/>
            <p:nvPr/>
          </p:nvSpPr>
          <p:spPr>
            <a:xfrm>
              <a:off x="0" y="0"/>
              <a:ext cx="3970116"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028936BD-A06C-1DD8-E287-BF743C82CC9C}"/>
                </a:ext>
              </a:extLst>
            </p:cNvPr>
            <p:cNvSpPr txBox="1"/>
            <p:nvPr/>
          </p:nvSpPr>
          <p:spPr>
            <a:xfrm>
              <a:off x="958772" y="1669209"/>
              <a:ext cx="6285052" cy="1015663"/>
            </a:xfrm>
            <a:prstGeom prst="rect">
              <a:avLst/>
            </a:prstGeom>
            <a:noFill/>
          </p:spPr>
          <p:txBody>
            <a:bodyPr wrap="square">
              <a:spAutoFit/>
            </a:bodyPr>
            <a:lstStyle/>
            <a:p>
              <a:r>
                <a:rPr lang="fr-FR" sz="6000" b="1" dirty="0">
                  <a:solidFill>
                    <a:schemeClr val="bg1"/>
                  </a:solidFill>
                  <a:latin typeface=""/>
                </a:rPr>
                <a:t>AGE</a:t>
              </a:r>
            </a:p>
          </p:txBody>
        </p:sp>
        <p:sp>
          <p:nvSpPr>
            <p:cNvPr id="10" name="ZoneTexte 9">
              <a:extLst>
                <a:ext uri="{FF2B5EF4-FFF2-40B4-BE49-F238E27FC236}">
                  <a16:creationId xmlns:a16="http://schemas.microsoft.com/office/drawing/2014/main" id="{A86F9F3A-5A8E-8C1C-AD6D-65D737C80B06}"/>
                </a:ext>
              </a:extLst>
            </p:cNvPr>
            <p:cNvSpPr txBox="1"/>
            <p:nvPr/>
          </p:nvSpPr>
          <p:spPr>
            <a:xfrm>
              <a:off x="50639" y="3429000"/>
              <a:ext cx="3964330" cy="2308324"/>
            </a:xfrm>
            <a:prstGeom prst="rect">
              <a:avLst/>
            </a:prstGeom>
            <a:noFill/>
          </p:spPr>
          <p:txBody>
            <a:bodyPr wrap="square">
              <a:spAutoFit/>
            </a:bodyPr>
            <a:lstStyle/>
            <a:p>
              <a:r>
                <a:rPr lang="fr-FR" sz="2400" dirty="0">
                  <a:solidFill>
                    <a:schemeClr val="bg1"/>
                  </a:solidFill>
                  <a:effectLst/>
                  <a:latin typeface="Berlin Sans FB" panose="020E0602020502020306" pitchFamily="34" charset="77"/>
                </a:rPr>
                <a:t>Les étudiants plus jeunes sont davantage freinés par des contraintes financières, tandis que les plus âgés le sont par des obligations familiales ou professionnelles.</a:t>
              </a:r>
            </a:p>
          </p:txBody>
        </p:sp>
        <p:sp>
          <p:nvSpPr>
            <p:cNvPr id="19" name="Rectangle : avec coins arrondis en haut 18">
              <a:extLst>
                <a:ext uri="{FF2B5EF4-FFF2-40B4-BE49-F238E27FC236}">
                  <a16:creationId xmlns:a16="http://schemas.microsoft.com/office/drawing/2014/main" id="{AAF9E5F0-93ED-86F0-F4C3-6AA3A8EAAEF8}"/>
                </a:ext>
              </a:extLst>
            </p:cNvPr>
            <p:cNvSpPr/>
            <p:nvPr/>
          </p:nvSpPr>
          <p:spPr>
            <a:xfrm>
              <a:off x="3901632" y="496781"/>
              <a:ext cx="555585" cy="999496"/>
            </a:xfrm>
            <a:prstGeom prst="round2SameRect">
              <a:avLst/>
            </a:prstGeom>
            <a:solidFill>
              <a:srgbClr val="0B2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28" name="ZoneTexte 27">
            <a:extLst>
              <a:ext uri="{FF2B5EF4-FFF2-40B4-BE49-F238E27FC236}">
                <a16:creationId xmlns:a16="http://schemas.microsoft.com/office/drawing/2014/main" id="{ABB9BDCE-D88D-2EBB-0C9D-F680CBB5EC76}"/>
              </a:ext>
            </a:extLst>
          </p:cNvPr>
          <p:cNvSpPr txBox="1"/>
          <p:nvPr/>
        </p:nvSpPr>
        <p:spPr>
          <a:xfrm>
            <a:off x="16263230" y="2738324"/>
            <a:ext cx="4907665" cy="1015663"/>
          </a:xfrm>
          <a:prstGeom prst="rect">
            <a:avLst/>
          </a:prstGeom>
          <a:noFill/>
        </p:spPr>
        <p:txBody>
          <a:bodyPr wrap="square" rtlCol="0">
            <a:spAutoFit/>
          </a:bodyPr>
          <a:lstStyle/>
          <a:p>
            <a:r>
              <a:rPr lang="fr-FR" sz="6000" dirty="0">
                <a:solidFill>
                  <a:srgbClr val="FFFF00"/>
                </a:solidFill>
                <a:latin typeface="Brush Script MT" panose="03060802040406070304" pitchFamily="66" charset="-122"/>
                <a:ea typeface="Brush Script MT" panose="03060802040406070304" pitchFamily="66" charset="-122"/>
                <a:cs typeface="Brush Script MT" panose="03060802040406070304" pitchFamily="66" charset="-122"/>
              </a:rPr>
              <a:t>Par étape</a:t>
            </a:r>
          </a:p>
        </p:txBody>
      </p:sp>
      <p:sp>
        <p:nvSpPr>
          <p:cNvPr id="27" name="ZoneTexte 26">
            <a:extLst>
              <a:ext uri="{FF2B5EF4-FFF2-40B4-BE49-F238E27FC236}">
                <a16:creationId xmlns:a16="http://schemas.microsoft.com/office/drawing/2014/main" id="{44ED68DD-DEDD-14B7-A5FE-ACC46C7C4410}"/>
              </a:ext>
            </a:extLst>
          </p:cNvPr>
          <p:cNvSpPr txBox="1"/>
          <p:nvPr/>
        </p:nvSpPr>
        <p:spPr>
          <a:xfrm>
            <a:off x="13956732" y="1838157"/>
            <a:ext cx="8384412" cy="1569660"/>
          </a:xfrm>
          <a:prstGeom prst="rect">
            <a:avLst/>
          </a:prstGeom>
          <a:noFill/>
        </p:spPr>
        <p:txBody>
          <a:bodyPr wrap="square" rtlCol="0">
            <a:spAutoFit/>
          </a:bodyPr>
          <a:lstStyle/>
          <a:p>
            <a:r>
              <a:rPr lang="fr-FR" sz="9600" b="1" dirty="0">
                <a:solidFill>
                  <a:schemeClr val="bg1"/>
                </a:solidFill>
                <a:latin typeface=""/>
              </a:rPr>
              <a:t>HYPOTHESE</a:t>
            </a:r>
          </a:p>
        </p:txBody>
      </p:sp>
      <p:sp>
        <p:nvSpPr>
          <p:cNvPr id="2" name="ZoneTexte 1">
            <a:extLst>
              <a:ext uri="{FF2B5EF4-FFF2-40B4-BE49-F238E27FC236}">
                <a16:creationId xmlns:a16="http://schemas.microsoft.com/office/drawing/2014/main" id="{52245C48-37D7-47B4-D458-993738515411}"/>
              </a:ext>
            </a:extLst>
          </p:cNvPr>
          <p:cNvSpPr txBox="1"/>
          <p:nvPr/>
        </p:nvSpPr>
        <p:spPr>
          <a:xfrm>
            <a:off x="11682222" y="6027003"/>
            <a:ext cx="509778"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7</a:t>
            </a:r>
          </a:p>
        </p:txBody>
      </p:sp>
    </p:spTree>
    <p:extLst>
      <p:ext uri="{BB962C8B-B14F-4D97-AF65-F5344CB8AC3E}">
        <p14:creationId xmlns:p14="http://schemas.microsoft.com/office/powerpoint/2010/main" val="4195237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Opération manuelle 5">
            <a:extLst>
              <a:ext uri="{FF2B5EF4-FFF2-40B4-BE49-F238E27FC236}">
                <a16:creationId xmlns:a16="http://schemas.microsoft.com/office/drawing/2014/main" id="{7AEC3984-48D1-A37A-A3EB-D49F5D023914}"/>
              </a:ext>
            </a:extLst>
          </p:cNvPr>
          <p:cNvSpPr/>
          <p:nvPr/>
        </p:nvSpPr>
        <p:spPr>
          <a:xfrm>
            <a:off x="405111" y="2581154"/>
            <a:ext cx="3113591" cy="1516284"/>
          </a:xfrm>
          <a:prstGeom prst="flowChartManualOperation">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D88BA619-55BC-85F5-B0CD-642FE146BA09}"/>
              </a:ext>
            </a:extLst>
          </p:cNvPr>
          <p:cNvSpPr/>
          <p:nvPr/>
        </p:nvSpPr>
        <p:spPr>
          <a:xfrm>
            <a:off x="544007" y="0"/>
            <a:ext cx="2835797" cy="685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 coins arrondis 4">
            <a:extLst>
              <a:ext uri="{FF2B5EF4-FFF2-40B4-BE49-F238E27FC236}">
                <a16:creationId xmlns:a16="http://schemas.microsoft.com/office/drawing/2014/main" id="{214F98D2-2636-17C2-1D44-D71CAAE7696E}"/>
              </a:ext>
            </a:extLst>
          </p:cNvPr>
          <p:cNvSpPr/>
          <p:nvPr/>
        </p:nvSpPr>
        <p:spPr>
          <a:xfrm>
            <a:off x="405111" y="1169042"/>
            <a:ext cx="3113591" cy="1678329"/>
          </a:xfrm>
          <a:prstGeom prst="roundRect">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CB62E127-C9EC-6F30-FE79-E29EBFA71CF2}"/>
              </a:ext>
            </a:extLst>
          </p:cNvPr>
          <p:cNvSpPr txBox="1"/>
          <p:nvPr/>
        </p:nvSpPr>
        <p:spPr>
          <a:xfrm>
            <a:off x="1215342" y="1632031"/>
            <a:ext cx="2835796" cy="646331"/>
          </a:xfrm>
          <a:prstGeom prst="rect">
            <a:avLst/>
          </a:prstGeom>
          <a:noFill/>
        </p:spPr>
        <p:txBody>
          <a:bodyPr wrap="square" rtlCol="0">
            <a:spAutoFit/>
          </a:bodyPr>
          <a:lstStyle/>
          <a:p>
            <a:r>
              <a:rPr lang="fr-FR" sz="3600" b="1" dirty="0">
                <a:latin typeface="Berlin Sans FB Demi" panose="020E0802020502020306" pitchFamily="34" charset="77"/>
              </a:rPr>
              <a:t>FREIN</a:t>
            </a:r>
          </a:p>
        </p:txBody>
      </p:sp>
      <p:pic>
        <p:nvPicPr>
          <p:cNvPr id="8" name="Image 7" descr="Une image contenant texte, capture d’écran, ligne, Tracé&#10;&#10;Le contenu généré par l’IA peut être incorrect.">
            <a:extLst>
              <a:ext uri="{FF2B5EF4-FFF2-40B4-BE49-F238E27FC236}">
                <a16:creationId xmlns:a16="http://schemas.microsoft.com/office/drawing/2014/main" id="{1E24BEE3-1B9B-68DE-A729-8A5CD6391C60}"/>
              </a:ext>
            </a:extLst>
          </p:cNvPr>
          <p:cNvPicPr>
            <a:picLocks noChangeAspect="1"/>
          </p:cNvPicPr>
          <p:nvPr/>
        </p:nvPicPr>
        <p:blipFill>
          <a:blip r:embed="rId2"/>
          <a:stretch>
            <a:fillRect/>
          </a:stretch>
        </p:blipFill>
        <p:spPr>
          <a:xfrm>
            <a:off x="3831220" y="1972121"/>
            <a:ext cx="8129289" cy="3576886"/>
          </a:xfrm>
          <a:prstGeom prst="rect">
            <a:avLst/>
          </a:prstGeom>
        </p:spPr>
      </p:pic>
      <p:sp>
        <p:nvSpPr>
          <p:cNvPr id="9" name="ZoneTexte 8">
            <a:extLst>
              <a:ext uri="{FF2B5EF4-FFF2-40B4-BE49-F238E27FC236}">
                <a16:creationId xmlns:a16="http://schemas.microsoft.com/office/drawing/2014/main" id="{E27D7FDC-602F-C464-F7C9-A10F4D20AE99}"/>
              </a:ext>
            </a:extLst>
          </p:cNvPr>
          <p:cNvSpPr txBox="1"/>
          <p:nvPr/>
        </p:nvSpPr>
        <p:spPr>
          <a:xfrm>
            <a:off x="5796991" y="845876"/>
            <a:ext cx="5752618" cy="646331"/>
          </a:xfrm>
          <a:prstGeom prst="rect">
            <a:avLst/>
          </a:prstGeom>
          <a:noFill/>
        </p:spPr>
        <p:txBody>
          <a:bodyPr wrap="square" rtlCol="0">
            <a:spAutoFit/>
          </a:bodyPr>
          <a:lstStyle/>
          <a:p>
            <a:r>
              <a:rPr lang="en-US" sz="3600" kern="1200" dirty="0" err="1">
                <a:solidFill>
                  <a:schemeClr val="tx1"/>
                </a:solidFill>
                <a:latin typeface="Berlin Sans FB" panose="020E0602020502020306" pitchFamily="34" charset="77"/>
                <a:ea typeface="+mj-ea"/>
                <a:cs typeface="+mj-cs"/>
              </a:rPr>
              <a:t>Analyse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univariée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Frein</a:t>
            </a:r>
            <a:r>
              <a:rPr lang="en-US" sz="3600" kern="1200" dirty="0">
                <a:solidFill>
                  <a:schemeClr val="tx1"/>
                </a:solidFill>
                <a:latin typeface="Berlin Sans FB" panose="020E0602020502020306" pitchFamily="34" charset="77"/>
                <a:ea typeface="+mj-ea"/>
                <a:cs typeface="+mj-cs"/>
              </a:rPr>
              <a:t> </a:t>
            </a:r>
            <a:endParaRPr lang="fr-FR" sz="3600" dirty="0">
              <a:latin typeface="Berlin Sans FB" panose="020E0602020502020306" pitchFamily="34" charset="77"/>
            </a:endParaRPr>
          </a:p>
        </p:txBody>
      </p:sp>
      <p:sp>
        <p:nvSpPr>
          <p:cNvPr id="11" name="ZoneTexte 10">
            <a:extLst>
              <a:ext uri="{FF2B5EF4-FFF2-40B4-BE49-F238E27FC236}">
                <a16:creationId xmlns:a16="http://schemas.microsoft.com/office/drawing/2014/main" id="{4CCC3F6C-3639-680E-8AE8-446ABB494A62}"/>
              </a:ext>
            </a:extLst>
          </p:cNvPr>
          <p:cNvSpPr txBox="1"/>
          <p:nvPr/>
        </p:nvSpPr>
        <p:spPr>
          <a:xfrm>
            <a:off x="1400537" y="4204339"/>
            <a:ext cx="283579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Age</a:t>
            </a:r>
          </a:p>
        </p:txBody>
      </p:sp>
      <p:sp>
        <p:nvSpPr>
          <p:cNvPr id="12" name="ZoneTexte 11">
            <a:extLst>
              <a:ext uri="{FF2B5EF4-FFF2-40B4-BE49-F238E27FC236}">
                <a16:creationId xmlns:a16="http://schemas.microsoft.com/office/drawing/2014/main" id="{EC21E0C8-42CC-95F7-0D60-C5FE86610CC4}"/>
              </a:ext>
            </a:extLst>
          </p:cNvPr>
          <p:cNvSpPr txBox="1"/>
          <p:nvPr/>
        </p:nvSpPr>
        <p:spPr>
          <a:xfrm>
            <a:off x="544007" y="5268954"/>
            <a:ext cx="351870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Département</a:t>
            </a:r>
          </a:p>
        </p:txBody>
      </p:sp>
      <p:sp>
        <p:nvSpPr>
          <p:cNvPr id="13" name="ZoneTexte 12">
            <a:extLst>
              <a:ext uri="{FF2B5EF4-FFF2-40B4-BE49-F238E27FC236}">
                <a16:creationId xmlns:a16="http://schemas.microsoft.com/office/drawing/2014/main" id="{01A8A5A1-C90A-9F56-3B36-D33C8BA5845C}"/>
              </a:ext>
            </a:extLst>
          </p:cNvPr>
          <p:cNvSpPr txBox="1"/>
          <p:nvPr/>
        </p:nvSpPr>
        <p:spPr>
          <a:xfrm>
            <a:off x="1177722" y="3171912"/>
            <a:ext cx="1695691" cy="707886"/>
          </a:xfrm>
          <a:prstGeom prst="rect">
            <a:avLst/>
          </a:prstGeom>
          <a:noFill/>
        </p:spPr>
        <p:txBody>
          <a:bodyPr wrap="square" rtlCol="0">
            <a:spAutoFit/>
          </a:bodyPr>
          <a:lstStyle/>
          <a:p>
            <a:r>
              <a:rPr lang="fr-FR" sz="4000" b="1" dirty="0">
                <a:solidFill>
                  <a:srgbClr val="00FDFF"/>
                </a:solidFill>
                <a:latin typeface="Berlin Sans FB Demi" panose="020E0802020502020306" pitchFamily="34" charset="77"/>
              </a:rPr>
              <a:t>Genre</a:t>
            </a:r>
          </a:p>
        </p:txBody>
      </p:sp>
      <p:sp>
        <p:nvSpPr>
          <p:cNvPr id="15" name="ZoneTexte 14">
            <a:extLst>
              <a:ext uri="{FF2B5EF4-FFF2-40B4-BE49-F238E27FC236}">
                <a16:creationId xmlns:a16="http://schemas.microsoft.com/office/drawing/2014/main" id="{68BEAC4A-2918-D86F-FF1C-A2FA2E9BFEC6}"/>
              </a:ext>
            </a:extLst>
          </p:cNvPr>
          <p:cNvSpPr txBox="1"/>
          <p:nvPr/>
        </p:nvSpPr>
        <p:spPr>
          <a:xfrm>
            <a:off x="5796991" y="6905975"/>
            <a:ext cx="5752618" cy="646331"/>
          </a:xfrm>
          <a:prstGeom prst="rect">
            <a:avLst/>
          </a:prstGeom>
          <a:noFill/>
        </p:spPr>
        <p:txBody>
          <a:bodyPr wrap="square" rtlCol="0">
            <a:spAutoFit/>
          </a:bodyPr>
          <a:lstStyle/>
          <a:p>
            <a:r>
              <a:rPr lang="fr-FR" sz="3600" dirty="0">
                <a:latin typeface="Berlin Sans FB" panose="020E0602020502020306" pitchFamily="34" charset="77"/>
              </a:rPr>
              <a:t>Analyse Univariée: genre </a:t>
            </a:r>
          </a:p>
        </p:txBody>
      </p:sp>
      <p:pic>
        <p:nvPicPr>
          <p:cNvPr id="16" name="Image 15">
            <a:extLst>
              <a:ext uri="{FF2B5EF4-FFF2-40B4-BE49-F238E27FC236}">
                <a16:creationId xmlns:a16="http://schemas.microsoft.com/office/drawing/2014/main" id="{D6B90178-46E3-61E3-53A7-B3C55CC1EF93}"/>
              </a:ext>
            </a:extLst>
          </p:cNvPr>
          <p:cNvPicPr>
            <a:picLocks noChangeAspect="1"/>
          </p:cNvPicPr>
          <p:nvPr/>
        </p:nvPicPr>
        <p:blipFill>
          <a:blip r:embed="rId3"/>
          <a:stretch>
            <a:fillRect/>
          </a:stretch>
        </p:blipFill>
        <p:spPr>
          <a:xfrm>
            <a:off x="4829109" y="8060306"/>
            <a:ext cx="6133509" cy="5280802"/>
          </a:xfrm>
          <a:prstGeom prst="rect">
            <a:avLst/>
          </a:prstGeom>
        </p:spPr>
      </p:pic>
      <p:sp>
        <p:nvSpPr>
          <p:cNvPr id="18" name="ZoneTexte 17">
            <a:extLst>
              <a:ext uri="{FF2B5EF4-FFF2-40B4-BE49-F238E27FC236}">
                <a16:creationId xmlns:a16="http://schemas.microsoft.com/office/drawing/2014/main" id="{EE3CEEAC-F69B-D641-1CD4-CAB8AE0C8156}"/>
              </a:ext>
            </a:extLst>
          </p:cNvPr>
          <p:cNvSpPr txBox="1"/>
          <p:nvPr/>
        </p:nvSpPr>
        <p:spPr>
          <a:xfrm>
            <a:off x="1114060" y="6874924"/>
            <a:ext cx="351870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Filière</a:t>
            </a:r>
          </a:p>
        </p:txBody>
      </p:sp>
      <p:sp>
        <p:nvSpPr>
          <p:cNvPr id="19" name="ZoneTexte 18">
            <a:extLst>
              <a:ext uri="{FF2B5EF4-FFF2-40B4-BE49-F238E27FC236}">
                <a16:creationId xmlns:a16="http://schemas.microsoft.com/office/drawing/2014/main" id="{5919814C-8A83-790C-BDC9-1E025F5A9DDF}"/>
              </a:ext>
            </a:extLst>
          </p:cNvPr>
          <p:cNvSpPr txBox="1"/>
          <p:nvPr/>
        </p:nvSpPr>
        <p:spPr>
          <a:xfrm>
            <a:off x="11682222" y="6027003"/>
            <a:ext cx="509778"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8</a:t>
            </a:r>
          </a:p>
        </p:txBody>
      </p:sp>
    </p:spTree>
    <p:extLst>
      <p:ext uri="{BB962C8B-B14F-4D97-AF65-F5344CB8AC3E}">
        <p14:creationId xmlns:p14="http://schemas.microsoft.com/office/powerpoint/2010/main" val="41333273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41AE7720-41B8-506C-50E5-C248CF42CFFD}"/>
            </a:ext>
          </a:extLst>
        </p:cNvPr>
        <p:cNvGrpSpPr/>
        <p:nvPr/>
      </p:nvGrpSpPr>
      <p:grpSpPr>
        <a:xfrm>
          <a:off x="0" y="0"/>
          <a:ext cx="0" cy="0"/>
          <a:chOff x="0" y="0"/>
          <a:chExt cx="0" cy="0"/>
        </a:xfrm>
      </p:grpSpPr>
      <p:sp>
        <p:nvSpPr>
          <p:cNvPr id="6" name="Opération manuelle 5">
            <a:extLst>
              <a:ext uri="{FF2B5EF4-FFF2-40B4-BE49-F238E27FC236}">
                <a16:creationId xmlns:a16="http://schemas.microsoft.com/office/drawing/2014/main" id="{6ED39061-1BCF-7488-ED0B-35D8C21FD034}"/>
              </a:ext>
            </a:extLst>
          </p:cNvPr>
          <p:cNvSpPr/>
          <p:nvPr/>
        </p:nvSpPr>
        <p:spPr>
          <a:xfrm>
            <a:off x="405111" y="2581154"/>
            <a:ext cx="3113591" cy="1516284"/>
          </a:xfrm>
          <a:prstGeom prst="flowChartManualOperation">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7E794C2-ED28-CCFA-02B0-A596629CE771}"/>
              </a:ext>
            </a:extLst>
          </p:cNvPr>
          <p:cNvSpPr/>
          <p:nvPr/>
        </p:nvSpPr>
        <p:spPr>
          <a:xfrm>
            <a:off x="544007" y="0"/>
            <a:ext cx="2835797" cy="685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 coins arrondis 4">
            <a:extLst>
              <a:ext uri="{FF2B5EF4-FFF2-40B4-BE49-F238E27FC236}">
                <a16:creationId xmlns:a16="http://schemas.microsoft.com/office/drawing/2014/main" id="{FD9BAA94-ADBC-927E-FEF8-DC165A80C600}"/>
              </a:ext>
            </a:extLst>
          </p:cNvPr>
          <p:cNvSpPr/>
          <p:nvPr/>
        </p:nvSpPr>
        <p:spPr>
          <a:xfrm>
            <a:off x="405111" y="1169042"/>
            <a:ext cx="3113591" cy="1678329"/>
          </a:xfrm>
          <a:prstGeom prst="roundRect">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1AA95FF9-5707-9F38-C091-66882E76A093}"/>
              </a:ext>
            </a:extLst>
          </p:cNvPr>
          <p:cNvSpPr txBox="1"/>
          <p:nvPr/>
        </p:nvSpPr>
        <p:spPr>
          <a:xfrm>
            <a:off x="1229382" y="105808"/>
            <a:ext cx="283579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FREIN</a:t>
            </a:r>
          </a:p>
        </p:txBody>
      </p:sp>
      <p:pic>
        <p:nvPicPr>
          <p:cNvPr id="8" name="Image 7" descr="Une image contenant texte, capture d’écran, ligne, Tracé&#10;&#10;Le contenu généré par l’IA peut être incorrect.">
            <a:extLst>
              <a:ext uri="{FF2B5EF4-FFF2-40B4-BE49-F238E27FC236}">
                <a16:creationId xmlns:a16="http://schemas.microsoft.com/office/drawing/2014/main" id="{C9AF51DB-F2DC-E7A8-4654-01F31AC9CD73}"/>
              </a:ext>
            </a:extLst>
          </p:cNvPr>
          <p:cNvPicPr>
            <a:picLocks noChangeAspect="1"/>
          </p:cNvPicPr>
          <p:nvPr/>
        </p:nvPicPr>
        <p:blipFill>
          <a:blip r:embed="rId2"/>
          <a:stretch>
            <a:fillRect/>
          </a:stretch>
        </p:blipFill>
        <p:spPr>
          <a:xfrm>
            <a:off x="3831220" y="-10983289"/>
            <a:ext cx="8129289" cy="3576886"/>
          </a:xfrm>
          <a:prstGeom prst="rect">
            <a:avLst/>
          </a:prstGeom>
        </p:spPr>
      </p:pic>
      <p:sp>
        <p:nvSpPr>
          <p:cNvPr id="9" name="ZoneTexte 8">
            <a:extLst>
              <a:ext uri="{FF2B5EF4-FFF2-40B4-BE49-F238E27FC236}">
                <a16:creationId xmlns:a16="http://schemas.microsoft.com/office/drawing/2014/main" id="{B7B3EBF4-54A5-7571-3E63-F981964808A9}"/>
              </a:ext>
            </a:extLst>
          </p:cNvPr>
          <p:cNvSpPr txBox="1"/>
          <p:nvPr/>
        </p:nvSpPr>
        <p:spPr>
          <a:xfrm>
            <a:off x="5796991" y="-12109534"/>
            <a:ext cx="5752618" cy="646331"/>
          </a:xfrm>
          <a:prstGeom prst="rect">
            <a:avLst/>
          </a:prstGeom>
          <a:noFill/>
        </p:spPr>
        <p:txBody>
          <a:bodyPr wrap="square" rtlCol="0">
            <a:spAutoFit/>
          </a:bodyPr>
          <a:lstStyle/>
          <a:p>
            <a:r>
              <a:rPr lang="en-US" sz="3600" kern="1200" dirty="0" err="1">
                <a:solidFill>
                  <a:schemeClr val="tx1"/>
                </a:solidFill>
                <a:latin typeface="Berlin Sans FB" panose="020E0602020502020306" pitchFamily="34" charset="77"/>
                <a:ea typeface="+mj-ea"/>
                <a:cs typeface="+mj-cs"/>
              </a:rPr>
              <a:t>Analyse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univariée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Frein</a:t>
            </a:r>
            <a:r>
              <a:rPr lang="en-US" sz="3600" kern="1200" dirty="0">
                <a:solidFill>
                  <a:schemeClr val="tx1"/>
                </a:solidFill>
                <a:latin typeface="Berlin Sans FB" panose="020E0602020502020306" pitchFamily="34" charset="77"/>
                <a:ea typeface="+mj-ea"/>
                <a:cs typeface="+mj-cs"/>
              </a:rPr>
              <a:t> </a:t>
            </a:r>
            <a:endParaRPr lang="fr-FR" sz="3600" dirty="0">
              <a:latin typeface="Berlin Sans FB" panose="020E0602020502020306" pitchFamily="34" charset="77"/>
            </a:endParaRPr>
          </a:p>
        </p:txBody>
      </p:sp>
      <p:sp>
        <p:nvSpPr>
          <p:cNvPr id="11" name="ZoneTexte 10">
            <a:extLst>
              <a:ext uri="{FF2B5EF4-FFF2-40B4-BE49-F238E27FC236}">
                <a16:creationId xmlns:a16="http://schemas.microsoft.com/office/drawing/2014/main" id="{E944D8CF-ACFE-2226-A8DE-F5DFFCE5B9ED}"/>
              </a:ext>
            </a:extLst>
          </p:cNvPr>
          <p:cNvSpPr txBox="1"/>
          <p:nvPr/>
        </p:nvSpPr>
        <p:spPr>
          <a:xfrm>
            <a:off x="1414577" y="2678116"/>
            <a:ext cx="283579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Age</a:t>
            </a:r>
          </a:p>
        </p:txBody>
      </p:sp>
      <p:sp>
        <p:nvSpPr>
          <p:cNvPr id="12" name="ZoneTexte 11">
            <a:extLst>
              <a:ext uri="{FF2B5EF4-FFF2-40B4-BE49-F238E27FC236}">
                <a16:creationId xmlns:a16="http://schemas.microsoft.com/office/drawing/2014/main" id="{1E51C263-CFCD-DAEC-6ADA-BE868261601D}"/>
              </a:ext>
            </a:extLst>
          </p:cNvPr>
          <p:cNvSpPr txBox="1"/>
          <p:nvPr/>
        </p:nvSpPr>
        <p:spPr>
          <a:xfrm>
            <a:off x="558047" y="3742731"/>
            <a:ext cx="351870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Département</a:t>
            </a:r>
          </a:p>
        </p:txBody>
      </p:sp>
      <p:sp>
        <p:nvSpPr>
          <p:cNvPr id="13" name="ZoneTexte 12">
            <a:extLst>
              <a:ext uri="{FF2B5EF4-FFF2-40B4-BE49-F238E27FC236}">
                <a16:creationId xmlns:a16="http://schemas.microsoft.com/office/drawing/2014/main" id="{8881FA9A-0AFF-E167-5938-32454548FC8D}"/>
              </a:ext>
            </a:extLst>
          </p:cNvPr>
          <p:cNvSpPr txBox="1"/>
          <p:nvPr/>
        </p:nvSpPr>
        <p:spPr>
          <a:xfrm>
            <a:off x="1185975" y="1414873"/>
            <a:ext cx="1695691" cy="707886"/>
          </a:xfrm>
          <a:prstGeom prst="rect">
            <a:avLst/>
          </a:prstGeom>
          <a:noFill/>
        </p:spPr>
        <p:txBody>
          <a:bodyPr wrap="square" rtlCol="0">
            <a:spAutoFit/>
          </a:bodyPr>
          <a:lstStyle/>
          <a:p>
            <a:r>
              <a:rPr lang="fr-FR" sz="4000" b="1" dirty="0">
                <a:latin typeface="Berlin Sans FB Demi" panose="020E0802020502020306" pitchFamily="34" charset="77"/>
              </a:rPr>
              <a:t>Genre</a:t>
            </a:r>
          </a:p>
        </p:txBody>
      </p:sp>
      <p:sp>
        <p:nvSpPr>
          <p:cNvPr id="15" name="ZoneTexte 14">
            <a:extLst>
              <a:ext uri="{FF2B5EF4-FFF2-40B4-BE49-F238E27FC236}">
                <a16:creationId xmlns:a16="http://schemas.microsoft.com/office/drawing/2014/main" id="{80913378-F94D-FE05-4C79-4E4E9E2B39FA}"/>
              </a:ext>
            </a:extLst>
          </p:cNvPr>
          <p:cNvSpPr txBox="1"/>
          <p:nvPr/>
        </p:nvSpPr>
        <p:spPr>
          <a:xfrm>
            <a:off x="5796991" y="50541"/>
            <a:ext cx="5752618" cy="646331"/>
          </a:xfrm>
          <a:prstGeom prst="rect">
            <a:avLst/>
          </a:prstGeom>
          <a:noFill/>
        </p:spPr>
        <p:txBody>
          <a:bodyPr wrap="square" rtlCol="0">
            <a:spAutoFit/>
          </a:bodyPr>
          <a:lstStyle/>
          <a:p>
            <a:r>
              <a:rPr lang="fr-FR" sz="3600" dirty="0">
                <a:latin typeface="Berlin Sans FB" panose="020E0602020502020306" pitchFamily="34" charset="77"/>
              </a:rPr>
              <a:t>Analyse univariée: Genre</a:t>
            </a:r>
          </a:p>
        </p:txBody>
      </p:sp>
      <p:pic>
        <p:nvPicPr>
          <p:cNvPr id="16" name="Image 15">
            <a:extLst>
              <a:ext uri="{FF2B5EF4-FFF2-40B4-BE49-F238E27FC236}">
                <a16:creationId xmlns:a16="http://schemas.microsoft.com/office/drawing/2014/main" id="{E91CB010-1797-CACB-E412-7AC994DE8EFE}"/>
              </a:ext>
            </a:extLst>
          </p:cNvPr>
          <p:cNvPicPr>
            <a:picLocks noChangeAspect="1"/>
          </p:cNvPicPr>
          <p:nvPr/>
        </p:nvPicPr>
        <p:blipFill>
          <a:blip r:embed="rId3"/>
          <a:stretch>
            <a:fillRect/>
          </a:stretch>
        </p:blipFill>
        <p:spPr>
          <a:xfrm>
            <a:off x="4829109" y="1204872"/>
            <a:ext cx="6133509" cy="5280802"/>
          </a:xfrm>
          <a:prstGeom prst="rect">
            <a:avLst/>
          </a:prstGeom>
        </p:spPr>
      </p:pic>
      <p:sp>
        <p:nvSpPr>
          <p:cNvPr id="3" name="ZoneTexte 2">
            <a:extLst>
              <a:ext uri="{FF2B5EF4-FFF2-40B4-BE49-F238E27FC236}">
                <a16:creationId xmlns:a16="http://schemas.microsoft.com/office/drawing/2014/main" id="{E0320DC4-1E28-F2BF-BC7A-6EFA10F6D38B}"/>
              </a:ext>
            </a:extLst>
          </p:cNvPr>
          <p:cNvSpPr txBox="1"/>
          <p:nvPr/>
        </p:nvSpPr>
        <p:spPr>
          <a:xfrm>
            <a:off x="6096000" y="7192210"/>
            <a:ext cx="6096000" cy="646331"/>
          </a:xfrm>
          <a:prstGeom prst="rect">
            <a:avLst/>
          </a:prstGeom>
          <a:noFill/>
        </p:spPr>
        <p:txBody>
          <a:bodyPr wrap="square">
            <a:spAutoFit/>
          </a:bodyPr>
          <a:lstStyle/>
          <a:p>
            <a:r>
              <a:rPr lang="fr-FR" sz="3600" b="1" dirty="0">
                <a:latin typeface="Berlin Sans FB Demi" panose="020E0802020502020306" pitchFamily="34" charset="77"/>
              </a:rPr>
              <a:t>Univariée: </a:t>
            </a:r>
            <a:r>
              <a:rPr lang="fr-FR" sz="3600" b="1" dirty="0" err="1">
                <a:latin typeface="Berlin Sans FB Demi" panose="020E0802020502020306" pitchFamily="34" charset="77"/>
              </a:rPr>
              <a:t>age</a:t>
            </a:r>
            <a:r>
              <a:rPr lang="fr-FR" sz="3600" b="1" dirty="0">
                <a:latin typeface="Berlin Sans FB Demi" panose="020E0802020502020306" pitchFamily="34" charset="77"/>
              </a:rPr>
              <a:t> </a:t>
            </a:r>
          </a:p>
        </p:txBody>
      </p:sp>
      <p:pic>
        <p:nvPicPr>
          <p:cNvPr id="10" name="Image 9">
            <a:extLst>
              <a:ext uri="{FF2B5EF4-FFF2-40B4-BE49-F238E27FC236}">
                <a16:creationId xmlns:a16="http://schemas.microsoft.com/office/drawing/2014/main" id="{25662391-B4BB-4476-6893-0146807BB475}"/>
              </a:ext>
            </a:extLst>
          </p:cNvPr>
          <p:cNvPicPr>
            <a:picLocks noChangeAspect="1"/>
          </p:cNvPicPr>
          <p:nvPr/>
        </p:nvPicPr>
        <p:blipFill>
          <a:blip r:embed="rId4"/>
          <a:stretch>
            <a:fillRect/>
          </a:stretch>
        </p:blipFill>
        <p:spPr>
          <a:xfrm>
            <a:off x="3777209" y="7976442"/>
            <a:ext cx="7974998" cy="3396013"/>
          </a:xfrm>
          <a:prstGeom prst="rect">
            <a:avLst/>
          </a:prstGeom>
        </p:spPr>
      </p:pic>
      <p:sp>
        <p:nvSpPr>
          <p:cNvPr id="18" name="ZoneTexte 17">
            <a:extLst>
              <a:ext uri="{FF2B5EF4-FFF2-40B4-BE49-F238E27FC236}">
                <a16:creationId xmlns:a16="http://schemas.microsoft.com/office/drawing/2014/main" id="{8C4AA5EF-DE8A-CD75-93C2-D51CBE1621D5}"/>
              </a:ext>
            </a:extLst>
          </p:cNvPr>
          <p:cNvSpPr txBox="1"/>
          <p:nvPr/>
        </p:nvSpPr>
        <p:spPr>
          <a:xfrm>
            <a:off x="1171505" y="4638091"/>
            <a:ext cx="351870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Filière</a:t>
            </a:r>
          </a:p>
        </p:txBody>
      </p:sp>
      <p:sp>
        <p:nvSpPr>
          <p:cNvPr id="19" name="ZoneTexte 18">
            <a:extLst>
              <a:ext uri="{FF2B5EF4-FFF2-40B4-BE49-F238E27FC236}">
                <a16:creationId xmlns:a16="http://schemas.microsoft.com/office/drawing/2014/main" id="{58BDA53B-13EE-B037-9CE6-A9EDBE668E0C}"/>
              </a:ext>
            </a:extLst>
          </p:cNvPr>
          <p:cNvSpPr txBox="1"/>
          <p:nvPr/>
        </p:nvSpPr>
        <p:spPr>
          <a:xfrm>
            <a:off x="11682222" y="6027003"/>
            <a:ext cx="509778"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9</a:t>
            </a:r>
          </a:p>
        </p:txBody>
      </p:sp>
    </p:spTree>
    <p:extLst>
      <p:ext uri="{BB962C8B-B14F-4D97-AF65-F5344CB8AC3E}">
        <p14:creationId xmlns:p14="http://schemas.microsoft.com/office/powerpoint/2010/main" val="392372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0593155F-BFAC-441F-1EF1-9B1AB7DFD156}"/>
            </a:ext>
          </a:extLst>
        </p:cNvPr>
        <p:cNvGrpSpPr/>
        <p:nvPr/>
      </p:nvGrpSpPr>
      <p:grpSpPr>
        <a:xfrm>
          <a:off x="0" y="0"/>
          <a:ext cx="0" cy="0"/>
          <a:chOff x="0" y="0"/>
          <a:chExt cx="0" cy="0"/>
        </a:xfrm>
      </p:grpSpPr>
      <p:sp>
        <p:nvSpPr>
          <p:cNvPr id="6" name="Opération manuelle 5">
            <a:extLst>
              <a:ext uri="{FF2B5EF4-FFF2-40B4-BE49-F238E27FC236}">
                <a16:creationId xmlns:a16="http://schemas.microsoft.com/office/drawing/2014/main" id="{8CAAF6DE-E09B-98EC-F229-C035704DC949}"/>
              </a:ext>
            </a:extLst>
          </p:cNvPr>
          <p:cNvSpPr/>
          <p:nvPr/>
        </p:nvSpPr>
        <p:spPr>
          <a:xfrm>
            <a:off x="405111" y="2581154"/>
            <a:ext cx="3113591" cy="1516284"/>
          </a:xfrm>
          <a:prstGeom prst="flowChartManualOperation">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47DEA71F-1EF1-7605-80E8-38CDE9A8F675}"/>
              </a:ext>
            </a:extLst>
          </p:cNvPr>
          <p:cNvSpPr/>
          <p:nvPr/>
        </p:nvSpPr>
        <p:spPr>
          <a:xfrm>
            <a:off x="544007" y="0"/>
            <a:ext cx="2835797" cy="685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 coins arrondis 4">
            <a:extLst>
              <a:ext uri="{FF2B5EF4-FFF2-40B4-BE49-F238E27FC236}">
                <a16:creationId xmlns:a16="http://schemas.microsoft.com/office/drawing/2014/main" id="{B9AA7BBF-4207-8A32-E9C2-ED4026789B09}"/>
              </a:ext>
            </a:extLst>
          </p:cNvPr>
          <p:cNvSpPr/>
          <p:nvPr/>
        </p:nvSpPr>
        <p:spPr>
          <a:xfrm>
            <a:off x="405111" y="1169042"/>
            <a:ext cx="3113591" cy="1678329"/>
          </a:xfrm>
          <a:prstGeom prst="roundRect">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D7A6F35E-60E1-5C3D-F370-745B598A842B}"/>
              </a:ext>
            </a:extLst>
          </p:cNvPr>
          <p:cNvSpPr txBox="1"/>
          <p:nvPr/>
        </p:nvSpPr>
        <p:spPr>
          <a:xfrm>
            <a:off x="1229382" y="-825739"/>
            <a:ext cx="283579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FREIN</a:t>
            </a:r>
          </a:p>
        </p:txBody>
      </p:sp>
      <p:pic>
        <p:nvPicPr>
          <p:cNvPr id="8" name="Image 7" descr="Une image contenant texte, capture d’écran, ligne, Tracé&#10;&#10;Le contenu généré par l’IA peut être incorrect.">
            <a:extLst>
              <a:ext uri="{FF2B5EF4-FFF2-40B4-BE49-F238E27FC236}">
                <a16:creationId xmlns:a16="http://schemas.microsoft.com/office/drawing/2014/main" id="{529243F5-7F87-80F9-97E7-5368AB47D213}"/>
              </a:ext>
            </a:extLst>
          </p:cNvPr>
          <p:cNvPicPr>
            <a:picLocks noChangeAspect="1"/>
          </p:cNvPicPr>
          <p:nvPr/>
        </p:nvPicPr>
        <p:blipFill>
          <a:blip r:embed="rId2"/>
          <a:stretch>
            <a:fillRect/>
          </a:stretch>
        </p:blipFill>
        <p:spPr>
          <a:xfrm>
            <a:off x="3831220" y="-10983289"/>
            <a:ext cx="8129289" cy="3576886"/>
          </a:xfrm>
          <a:prstGeom prst="rect">
            <a:avLst/>
          </a:prstGeom>
        </p:spPr>
      </p:pic>
      <p:sp>
        <p:nvSpPr>
          <p:cNvPr id="9" name="ZoneTexte 8">
            <a:extLst>
              <a:ext uri="{FF2B5EF4-FFF2-40B4-BE49-F238E27FC236}">
                <a16:creationId xmlns:a16="http://schemas.microsoft.com/office/drawing/2014/main" id="{4D0D74F6-1A3B-3750-50DE-A4D88C9669CA}"/>
              </a:ext>
            </a:extLst>
          </p:cNvPr>
          <p:cNvSpPr txBox="1"/>
          <p:nvPr/>
        </p:nvSpPr>
        <p:spPr>
          <a:xfrm>
            <a:off x="5796991" y="-12109534"/>
            <a:ext cx="5752618" cy="646331"/>
          </a:xfrm>
          <a:prstGeom prst="rect">
            <a:avLst/>
          </a:prstGeom>
          <a:noFill/>
        </p:spPr>
        <p:txBody>
          <a:bodyPr wrap="square" rtlCol="0">
            <a:spAutoFit/>
          </a:bodyPr>
          <a:lstStyle/>
          <a:p>
            <a:r>
              <a:rPr lang="en-US" sz="3600" kern="1200" dirty="0" err="1">
                <a:solidFill>
                  <a:schemeClr val="tx1"/>
                </a:solidFill>
                <a:latin typeface="Berlin Sans FB" panose="020E0602020502020306" pitchFamily="34" charset="77"/>
                <a:ea typeface="+mj-ea"/>
                <a:cs typeface="+mj-cs"/>
              </a:rPr>
              <a:t>Analyse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univariée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Frein</a:t>
            </a:r>
            <a:r>
              <a:rPr lang="en-US" sz="3600" kern="1200" dirty="0">
                <a:solidFill>
                  <a:schemeClr val="tx1"/>
                </a:solidFill>
                <a:latin typeface="Berlin Sans FB" panose="020E0602020502020306" pitchFamily="34" charset="77"/>
                <a:ea typeface="+mj-ea"/>
                <a:cs typeface="+mj-cs"/>
              </a:rPr>
              <a:t> </a:t>
            </a:r>
            <a:endParaRPr lang="fr-FR" sz="3600" dirty="0">
              <a:latin typeface="Berlin Sans FB" panose="020E0602020502020306" pitchFamily="34" charset="77"/>
            </a:endParaRPr>
          </a:p>
        </p:txBody>
      </p:sp>
      <p:sp>
        <p:nvSpPr>
          <p:cNvPr id="11" name="ZoneTexte 10">
            <a:extLst>
              <a:ext uri="{FF2B5EF4-FFF2-40B4-BE49-F238E27FC236}">
                <a16:creationId xmlns:a16="http://schemas.microsoft.com/office/drawing/2014/main" id="{053252A8-027B-DC14-1D9C-19225A27718E}"/>
              </a:ext>
            </a:extLst>
          </p:cNvPr>
          <p:cNvSpPr txBox="1"/>
          <p:nvPr/>
        </p:nvSpPr>
        <p:spPr>
          <a:xfrm>
            <a:off x="1414577" y="1746569"/>
            <a:ext cx="2835796" cy="646331"/>
          </a:xfrm>
          <a:prstGeom prst="rect">
            <a:avLst/>
          </a:prstGeom>
          <a:noFill/>
        </p:spPr>
        <p:txBody>
          <a:bodyPr wrap="square" rtlCol="0">
            <a:spAutoFit/>
          </a:bodyPr>
          <a:lstStyle/>
          <a:p>
            <a:r>
              <a:rPr lang="fr-FR" sz="3600" b="1" dirty="0">
                <a:latin typeface="Berlin Sans FB Demi" panose="020E0802020502020306" pitchFamily="34" charset="77"/>
              </a:rPr>
              <a:t>Age</a:t>
            </a:r>
          </a:p>
        </p:txBody>
      </p:sp>
      <p:sp>
        <p:nvSpPr>
          <p:cNvPr id="12" name="ZoneTexte 11">
            <a:extLst>
              <a:ext uri="{FF2B5EF4-FFF2-40B4-BE49-F238E27FC236}">
                <a16:creationId xmlns:a16="http://schemas.microsoft.com/office/drawing/2014/main" id="{1A5A4AF3-E044-5825-D5A6-5CCAD1A4C951}"/>
              </a:ext>
            </a:extLst>
          </p:cNvPr>
          <p:cNvSpPr txBox="1"/>
          <p:nvPr/>
        </p:nvSpPr>
        <p:spPr>
          <a:xfrm>
            <a:off x="558047" y="2811184"/>
            <a:ext cx="351870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Département</a:t>
            </a:r>
          </a:p>
        </p:txBody>
      </p:sp>
      <p:sp>
        <p:nvSpPr>
          <p:cNvPr id="13" name="ZoneTexte 12">
            <a:extLst>
              <a:ext uri="{FF2B5EF4-FFF2-40B4-BE49-F238E27FC236}">
                <a16:creationId xmlns:a16="http://schemas.microsoft.com/office/drawing/2014/main" id="{F3DF226E-C1D3-9407-18D8-248635AC5EE6}"/>
              </a:ext>
            </a:extLst>
          </p:cNvPr>
          <p:cNvSpPr txBox="1"/>
          <p:nvPr/>
        </p:nvSpPr>
        <p:spPr>
          <a:xfrm>
            <a:off x="1185975" y="483326"/>
            <a:ext cx="1695691" cy="707886"/>
          </a:xfrm>
          <a:prstGeom prst="rect">
            <a:avLst/>
          </a:prstGeom>
          <a:noFill/>
        </p:spPr>
        <p:txBody>
          <a:bodyPr wrap="square" rtlCol="0">
            <a:spAutoFit/>
          </a:bodyPr>
          <a:lstStyle/>
          <a:p>
            <a:r>
              <a:rPr lang="fr-FR" sz="4000" b="1" dirty="0">
                <a:solidFill>
                  <a:srgbClr val="00FDFF"/>
                </a:solidFill>
                <a:latin typeface="Berlin Sans FB Demi" panose="020E0802020502020306" pitchFamily="34" charset="77"/>
              </a:rPr>
              <a:t>Genre</a:t>
            </a:r>
          </a:p>
        </p:txBody>
      </p:sp>
      <p:sp>
        <p:nvSpPr>
          <p:cNvPr id="15" name="ZoneTexte 14">
            <a:extLst>
              <a:ext uri="{FF2B5EF4-FFF2-40B4-BE49-F238E27FC236}">
                <a16:creationId xmlns:a16="http://schemas.microsoft.com/office/drawing/2014/main" id="{8498F6EE-FF33-AD59-72CA-FD78A82A6328}"/>
              </a:ext>
            </a:extLst>
          </p:cNvPr>
          <p:cNvSpPr txBox="1"/>
          <p:nvPr/>
        </p:nvSpPr>
        <p:spPr>
          <a:xfrm>
            <a:off x="5840398" y="-6614540"/>
            <a:ext cx="5646134" cy="646331"/>
          </a:xfrm>
          <a:prstGeom prst="rect">
            <a:avLst/>
          </a:prstGeom>
          <a:noFill/>
        </p:spPr>
        <p:txBody>
          <a:bodyPr wrap="square" rtlCol="0">
            <a:spAutoFit/>
          </a:bodyPr>
          <a:lstStyle/>
          <a:p>
            <a:r>
              <a:rPr lang="fr-FR" sz="3600" dirty="0">
                <a:latin typeface="Berlin Sans FB" panose="020E0602020502020306" pitchFamily="34" charset="77"/>
              </a:rPr>
              <a:t>Univariée: genre </a:t>
            </a:r>
          </a:p>
        </p:txBody>
      </p:sp>
      <p:pic>
        <p:nvPicPr>
          <p:cNvPr id="16" name="Image 15">
            <a:extLst>
              <a:ext uri="{FF2B5EF4-FFF2-40B4-BE49-F238E27FC236}">
                <a16:creationId xmlns:a16="http://schemas.microsoft.com/office/drawing/2014/main" id="{68BFD5DF-A3EE-5AA6-E9F6-8391E81E9799}"/>
              </a:ext>
            </a:extLst>
          </p:cNvPr>
          <p:cNvPicPr>
            <a:picLocks noChangeAspect="1"/>
          </p:cNvPicPr>
          <p:nvPr/>
        </p:nvPicPr>
        <p:blipFill>
          <a:blip r:embed="rId3"/>
          <a:stretch>
            <a:fillRect/>
          </a:stretch>
        </p:blipFill>
        <p:spPr>
          <a:xfrm>
            <a:off x="4872516" y="-5460210"/>
            <a:ext cx="6019975" cy="5183052"/>
          </a:xfrm>
          <a:prstGeom prst="rect">
            <a:avLst/>
          </a:prstGeom>
        </p:spPr>
      </p:pic>
      <p:sp>
        <p:nvSpPr>
          <p:cNvPr id="3" name="ZoneTexte 2">
            <a:extLst>
              <a:ext uri="{FF2B5EF4-FFF2-40B4-BE49-F238E27FC236}">
                <a16:creationId xmlns:a16="http://schemas.microsoft.com/office/drawing/2014/main" id="{6CB7BAA1-7F33-AE47-6023-840C645B2AB8}"/>
              </a:ext>
            </a:extLst>
          </p:cNvPr>
          <p:cNvSpPr txBox="1"/>
          <p:nvPr/>
        </p:nvSpPr>
        <p:spPr>
          <a:xfrm>
            <a:off x="6139407" y="527129"/>
            <a:ext cx="5983160" cy="646331"/>
          </a:xfrm>
          <a:prstGeom prst="rect">
            <a:avLst/>
          </a:prstGeom>
          <a:noFill/>
        </p:spPr>
        <p:txBody>
          <a:bodyPr wrap="square">
            <a:spAutoFit/>
          </a:bodyPr>
          <a:lstStyle/>
          <a:p>
            <a:r>
              <a:rPr lang="fr-FR" sz="3600" b="1" dirty="0">
                <a:latin typeface="Berlin Sans FB Demi" panose="020E0802020502020306" pitchFamily="34" charset="77"/>
              </a:rPr>
              <a:t>Analyse univariée: Age</a:t>
            </a:r>
          </a:p>
        </p:txBody>
      </p:sp>
      <p:pic>
        <p:nvPicPr>
          <p:cNvPr id="10" name="Image 9">
            <a:extLst>
              <a:ext uri="{FF2B5EF4-FFF2-40B4-BE49-F238E27FC236}">
                <a16:creationId xmlns:a16="http://schemas.microsoft.com/office/drawing/2014/main" id="{FD24A9EF-5C11-6C3A-1E1A-B2CAC414C34C}"/>
              </a:ext>
            </a:extLst>
          </p:cNvPr>
          <p:cNvPicPr>
            <a:picLocks noChangeAspect="1"/>
          </p:cNvPicPr>
          <p:nvPr/>
        </p:nvPicPr>
        <p:blipFill>
          <a:blip r:embed="rId4"/>
          <a:stretch>
            <a:fillRect/>
          </a:stretch>
        </p:blipFill>
        <p:spPr>
          <a:xfrm>
            <a:off x="3820616" y="1311360"/>
            <a:ext cx="7871829" cy="3352080"/>
          </a:xfrm>
          <a:prstGeom prst="rect">
            <a:avLst/>
          </a:prstGeom>
        </p:spPr>
      </p:pic>
      <p:sp>
        <p:nvSpPr>
          <p:cNvPr id="14" name="ZoneTexte 13">
            <a:extLst>
              <a:ext uri="{FF2B5EF4-FFF2-40B4-BE49-F238E27FC236}">
                <a16:creationId xmlns:a16="http://schemas.microsoft.com/office/drawing/2014/main" id="{CEA16C89-74BF-1369-0EEC-91C37765D91A}"/>
              </a:ext>
            </a:extLst>
          </p:cNvPr>
          <p:cNvSpPr txBox="1"/>
          <p:nvPr/>
        </p:nvSpPr>
        <p:spPr>
          <a:xfrm>
            <a:off x="1041215" y="3872655"/>
            <a:ext cx="351870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Filière</a:t>
            </a:r>
          </a:p>
        </p:txBody>
      </p:sp>
      <p:sp>
        <p:nvSpPr>
          <p:cNvPr id="17" name="Titre 1">
            <a:extLst>
              <a:ext uri="{FF2B5EF4-FFF2-40B4-BE49-F238E27FC236}">
                <a16:creationId xmlns:a16="http://schemas.microsoft.com/office/drawing/2014/main" id="{AFA83D47-E7F5-F016-ADD2-5FC938EA895F}"/>
              </a:ext>
            </a:extLst>
          </p:cNvPr>
          <p:cNvSpPr txBox="1">
            <a:spLocks/>
          </p:cNvSpPr>
          <p:nvPr/>
        </p:nvSpPr>
        <p:spPr>
          <a:xfrm>
            <a:off x="2642937" y="677274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600" b="1" dirty="0">
                <a:latin typeface="Berlin Sans FB Demi" panose="020E0802020502020306" pitchFamily="34" charset="77"/>
              </a:rPr>
              <a:t>Univariée: </a:t>
            </a:r>
            <a:r>
              <a:rPr lang="fr-FR" sz="3600" b="1" dirty="0" err="1">
                <a:latin typeface="Berlin Sans FB Demi" panose="020E0802020502020306" pitchFamily="34" charset="77"/>
              </a:rPr>
              <a:t>departement</a:t>
            </a:r>
            <a:endParaRPr lang="fr-FR" sz="3600" b="1" dirty="0">
              <a:latin typeface="Berlin Sans FB Demi" panose="020E0802020502020306" pitchFamily="34" charset="77"/>
            </a:endParaRPr>
          </a:p>
        </p:txBody>
      </p:sp>
      <p:pic>
        <p:nvPicPr>
          <p:cNvPr id="18" name="Image 17">
            <a:extLst>
              <a:ext uri="{FF2B5EF4-FFF2-40B4-BE49-F238E27FC236}">
                <a16:creationId xmlns:a16="http://schemas.microsoft.com/office/drawing/2014/main" id="{81ADF23C-E453-F990-46D1-939D13D16AA6}"/>
              </a:ext>
            </a:extLst>
          </p:cNvPr>
          <p:cNvPicPr>
            <a:picLocks noChangeAspect="1"/>
          </p:cNvPicPr>
          <p:nvPr/>
        </p:nvPicPr>
        <p:blipFill>
          <a:blip r:embed="rId5"/>
          <a:stretch>
            <a:fillRect/>
          </a:stretch>
        </p:blipFill>
        <p:spPr>
          <a:xfrm>
            <a:off x="4666879" y="8440605"/>
            <a:ext cx="7025566" cy="4577563"/>
          </a:xfrm>
          <a:prstGeom prst="rect">
            <a:avLst/>
          </a:prstGeom>
        </p:spPr>
      </p:pic>
      <p:sp>
        <p:nvSpPr>
          <p:cNvPr id="19" name="ZoneTexte 18">
            <a:extLst>
              <a:ext uri="{FF2B5EF4-FFF2-40B4-BE49-F238E27FC236}">
                <a16:creationId xmlns:a16="http://schemas.microsoft.com/office/drawing/2014/main" id="{ED5916DC-3317-5935-5340-E45A03ECEF77}"/>
              </a:ext>
            </a:extLst>
          </p:cNvPr>
          <p:cNvSpPr txBox="1"/>
          <p:nvPr/>
        </p:nvSpPr>
        <p:spPr>
          <a:xfrm>
            <a:off x="11271738" y="6027003"/>
            <a:ext cx="920262"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10</a:t>
            </a:r>
          </a:p>
        </p:txBody>
      </p:sp>
    </p:spTree>
    <p:extLst>
      <p:ext uri="{BB962C8B-B14F-4D97-AF65-F5344CB8AC3E}">
        <p14:creationId xmlns:p14="http://schemas.microsoft.com/office/powerpoint/2010/main" val="2220990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5A67583D-F004-3093-B517-ACF97B182056}"/>
            </a:ext>
          </a:extLst>
        </p:cNvPr>
        <p:cNvGrpSpPr/>
        <p:nvPr/>
      </p:nvGrpSpPr>
      <p:grpSpPr>
        <a:xfrm>
          <a:off x="0" y="0"/>
          <a:ext cx="0" cy="0"/>
          <a:chOff x="0" y="0"/>
          <a:chExt cx="0" cy="0"/>
        </a:xfrm>
      </p:grpSpPr>
      <p:sp>
        <p:nvSpPr>
          <p:cNvPr id="6" name="Opération manuelle 5">
            <a:extLst>
              <a:ext uri="{FF2B5EF4-FFF2-40B4-BE49-F238E27FC236}">
                <a16:creationId xmlns:a16="http://schemas.microsoft.com/office/drawing/2014/main" id="{0A41F9F5-BD5A-D6BC-AE80-4B1E275ED2A9}"/>
              </a:ext>
            </a:extLst>
          </p:cNvPr>
          <p:cNvSpPr/>
          <p:nvPr/>
        </p:nvSpPr>
        <p:spPr>
          <a:xfrm>
            <a:off x="405111" y="2581154"/>
            <a:ext cx="3113591" cy="1516284"/>
          </a:xfrm>
          <a:prstGeom prst="flowChartManualOperation">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CCF95A5F-B39A-1430-253D-CFAA1E1A9591}"/>
              </a:ext>
            </a:extLst>
          </p:cNvPr>
          <p:cNvSpPr/>
          <p:nvPr/>
        </p:nvSpPr>
        <p:spPr>
          <a:xfrm>
            <a:off x="544007" y="0"/>
            <a:ext cx="2835797" cy="685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 coins arrondis 4">
            <a:extLst>
              <a:ext uri="{FF2B5EF4-FFF2-40B4-BE49-F238E27FC236}">
                <a16:creationId xmlns:a16="http://schemas.microsoft.com/office/drawing/2014/main" id="{86C26E43-164F-2973-1128-91DD2FD5B9A0}"/>
              </a:ext>
            </a:extLst>
          </p:cNvPr>
          <p:cNvSpPr/>
          <p:nvPr/>
        </p:nvSpPr>
        <p:spPr>
          <a:xfrm>
            <a:off x="405111" y="1169042"/>
            <a:ext cx="3113591" cy="1678329"/>
          </a:xfrm>
          <a:prstGeom prst="roundRect">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1C0CD048-0FE1-2F22-04AD-B82069F5521C}"/>
              </a:ext>
            </a:extLst>
          </p:cNvPr>
          <p:cNvSpPr txBox="1"/>
          <p:nvPr/>
        </p:nvSpPr>
        <p:spPr>
          <a:xfrm>
            <a:off x="1278317" y="-1926411"/>
            <a:ext cx="283579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FREIN</a:t>
            </a:r>
          </a:p>
        </p:txBody>
      </p:sp>
      <p:pic>
        <p:nvPicPr>
          <p:cNvPr id="8" name="Image 7" descr="Une image contenant texte, capture d’écran, ligne, Tracé&#10;&#10;Le contenu généré par l’IA peut être incorrect.">
            <a:extLst>
              <a:ext uri="{FF2B5EF4-FFF2-40B4-BE49-F238E27FC236}">
                <a16:creationId xmlns:a16="http://schemas.microsoft.com/office/drawing/2014/main" id="{DF4689D2-3D6D-3305-C414-A41FE69908F0}"/>
              </a:ext>
            </a:extLst>
          </p:cNvPr>
          <p:cNvPicPr>
            <a:picLocks noChangeAspect="1"/>
          </p:cNvPicPr>
          <p:nvPr/>
        </p:nvPicPr>
        <p:blipFill>
          <a:blip r:embed="rId2"/>
          <a:stretch>
            <a:fillRect/>
          </a:stretch>
        </p:blipFill>
        <p:spPr>
          <a:xfrm>
            <a:off x="3831220" y="-10983289"/>
            <a:ext cx="8129289" cy="3576886"/>
          </a:xfrm>
          <a:prstGeom prst="rect">
            <a:avLst/>
          </a:prstGeom>
        </p:spPr>
      </p:pic>
      <p:sp>
        <p:nvSpPr>
          <p:cNvPr id="9" name="ZoneTexte 8">
            <a:extLst>
              <a:ext uri="{FF2B5EF4-FFF2-40B4-BE49-F238E27FC236}">
                <a16:creationId xmlns:a16="http://schemas.microsoft.com/office/drawing/2014/main" id="{209C3BE3-CB1E-9DED-155A-13F28EB4A4A6}"/>
              </a:ext>
            </a:extLst>
          </p:cNvPr>
          <p:cNvSpPr txBox="1"/>
          <p:nvPr/>
        </p:nvSpPr>
        <p:spPr>
          <a:xfrm>
            <a:off x="5796991" y="-12109534"/>
            <a:ext cx="5752618" cy="646331"/>
          </a:xfrm>
          <a:prstGeom prst="rect">
            <a:avLst/>
          </a:prstGeom>
          <a:noFill/>
        </p:spPr>
        <p:txBody>
          <a:bodyPr wrap="square" rtlCol="0">
            <a:spAutoFit/>
          </a:bodyPr>
          <a:lstStyle/>
          <a:p>
            <a:r>
              <a:rPr lang="en-US" sz="3600" kern="1200" dirty="0" err="1">
                <a:solidFill>
                  <a:schemeClr val="tx1"/>
                </a:solidFill>
                <a:latin typeface="Berlin Sans FB" panose="020E0602020502020306" pitchFamily="34" charset="77"/>
                <a:ea typeface="+mj-ea"/>
                <a:cs typeface="+mj-cs"/>
              </a:rPr>
              <a:t>Analyse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univariée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Frein</a:t>
            </a:r>
            <a:r>
              <a:rPr lang="en-US" sz="3600" kern="1200" dirty="0">
                <a:solidFill>
                  <a:schemeClr val="tx1"/>
                </a:solidFill>
                <a:latin typeface="Berlin Sans FB" panose="020E0602020502020306" pitchFamily="34" charset="77"/>
                <a:ea typeface="+mj-ea"/>
                <a:cs typeface="+mj-cs"/>
              </a:rPr>
              <a:t> </a:t>
            </a:r>
            <a:endParaRPr lang="fr-FR" sz="3600" dirty="0">
              <a:latin typeface="Berlin Sans FB" panose="020E0602020502020306" pitchFamily="34" charset="77"/>
            </a:endParaRPr>
          </a:p>
        </p:txBody>
      </p:sp>
      <p:sp>
        <p:nvSpPr>
          <p:cNvPr id="11" name="ZoneTexte 10">
            <a:extLst>
              <a:ext uri="{FF2B5EF4-FFF2-40B4-BE49-F238E27FC236}">
                <a16:creationId xmlns:a16="http://schemas.microsoft.com/office/drawing/2014/main" id="{CA72D8DE-26BD-80E0-2580-4293258B1727}"/>
              </a:ext>
            </a:extLst>
          </p:cNvPr>
          <p:cNvSpPr txBox="1"/>
          <p:nvPr/>
        </p:nvSpPr>
        <p:spPr>
          <a:xfrm>
            <a:off x="1461530" y="356356"/>
            <a:ext cx="283579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Age</a:t>
            </a:r>
          </a:p>
        </p:txBody>
      </p:sp>
      <p:sp>
        <p:nvSpPr>
          <p:cNvPr id="12" name="ZoneTexte 11">
            <a:extLst>
              <a:ext uri="{FF2B5EF4-FFF2-40B4-BE49-F238E27FC236}">
                <a16:creationId xmlns:a16="http://schemas.microsoft.com/office/drawing/2014/main" id="{21F8EFBB-E3B7-2324-A04E-081BEE8F00BA}"/>
              </a:ext>
            </a:extLst>
          </p:cNvPr>
          <p:cNvSpPr txBox="1"/>
          <p:nvPr/>
        </p:nvSpPr>
        <p:spPr>
          <a:xfrm>
            <a:off x="606982" y="1710512"/>
            <a:ext cx="3518706" cy="646331"/>
          </a:xfrm>
          <a:prstGeom prst="rect">
            <a:avLst/>
          </a:prstGeom>
          <a:noFill/>
        </p:spPr>
        <p:txBody>
          <a:bodyPr wrap="square" rtlCol="0">
            <a:spAutoFit/>
          </a:bodyPr>
          <a:lstStyle/>
          <a:p>
            <a:r>
              <a:rPr lang="fr-FR" sz="3600" b="1" dirty="0">
                <a:latin typeface="Berlin Sans FB Demi" panose="020E0802020502020306" pitchFamily="34" charset="77"/>
              </a:rPr>
              <a:t>Département</a:t>
            </a:r>
          </a:p>
        </p:txBody>
      </p:sp>
      <p:sp>
        <p:nvSpPr>
          <p:cNvPr id="13" name="ZoneTexte 12">
            <a:extLst>
              <a:ext uri="{FF2B5EF4-FFF2-40B4-BE49-F238E27FC236}">
                <a16:creationId xmlns:a16="http://schemas.microsoft.com/office/drawing/2014/main" id="{DA176D74-D0F6-920A-C73C-F6502C2BFC6F}"/>
              </a:ext>
            </a:extLst>
          </p:cNvPr>
          <p:cNvSpPr txBox="1"/>
          <p:nvPr/>
        </p:nvSpPr>
        <p:spPr>
          <a:xfrm>
            <a:off x="1234910" y="-617346"/>
            <a:ext cx="1695691" cy="707886"/>
          </a:xfrm>
          <a:prstGeom prst="rect">
            <a:avLst/>
          </a:prstGeom>
          <a:noFill/>
        </p:spPr>
        <p:txBody>
          <a:bodyPr wrap="square" rtlCol="0">
            <a:spAutoFit/>
          </a:bodyPr>
          <a:lstStyle/>
          <a:p>
            <a:r>
              <a:rPr lang="fr-FR" sz="4000" b="1" dirty="0">
                <a:solidFill>
                  <a:srgbClr val="00FDFF"/>
                </a:solidFill>
                <a:latin typeface="Berlin Sans FB Demi" panose="020E0802020502020306" pitchFamily="34" charset="77"/>
              </a:rPr>
              <a:t>Genre</a:t>
            </a:r>
          </a:p>
        </p:txBody>
      </p:sp>
      <p:sp>
        <p:nvSpPr>
          <p:cNvPr id="15" name="ZoneTexte 14">
            <a:extLst>
              <a:ext uri="{FF2B5EF4-FFF2-40B4-BE49-F238E27FC236}">
                <a16:creationId xmlns:a16="http://schemas.microsoft.com/office/drawing/2014/main" id="{E8F28ECF-3F17-05E6-A4C6-BDD7462DBA56}"/>
              </a:ext>
            </a:extLst>
          </p:cNvPr>
          <p:cNvSpPr txBox="1"/>
          <p:nvPr/>
        </p:nvSpPr>
        <p:spPr>
          <a:xfrm>
            <a:off x="5840398" y="-6614540"/>
            <a:ext cx="5646134" cy="646331"/>
          </a:xfrm>
          <a:prstGeom prst="rect">
            <a:avLst/>
          </a:prstGeom>
          <a:noFill/>
        </p:spPr>
        <p:txBody>
          <a:bodyPr wrap="square" rtlCol="0">
            <a:spAutoFit/>
          </a:bodyPr>
          <a:lstStyle/>
          <a:p>
            <a:r>
              <a:rPr lang="fr-FR" sz="3600" dirty="0">
                <a:latin typeface="Berlin Sans FB" panose="020E0602020502020306" pitchFamily="34" charset="77"/>
              </a:rPr>
              <a:t>Univariée: genre </a:t>
            </a:r>
          </a:p>
        </p:txBody>
      </p:sp>
      <p:pic>
        <p:nvPicPr>
          <p:cNvPr id="16" name="Image 15">
            <a:extLst>
              <a:ext uri="{FF2B5EF4-FFF2-40B4-BE49-F238E27FC236}">
                <a16:creationId xmlns:a16="http://schemas.microsoft.com/office/drawing/2014/main" id="{88964599-081A-0669-6587-495729708960}"/>
              </a:ext>
            </a:extLst>
          </p:cNvPr>
          <p:cNvPicPr>
            <a:picLocks noChangeAspect="1"/>
          </p:cNvPicPr>
          <p:nvPr/>
        </p:nvPicPr>
        <p:blipFill>
          <a:blip r:embed="rId3"/>
          <a:stretch>
            <a:fillRect/>
          </a:stretch>
        </p:blipFill>
        <p:spPr>
          <a:xfrm>
            <a:off x="4729680" y="-10983289"/>
            <a:ext cx="6019975" cy="5183052"/>
          </a:xfrm>
          <a:prstGeom prst="rect">
            <a:avLst/>
          </a:prstGeom>
        </p:spPr>
      </p:pic>
      <p:sp>
        <p:nvSpPr>
          <p:cNvPr id="3" name="ZoneTexte 2">
            <a:extLst>
              <a:ext uri="{FF2B5EF4-FFF2-40B4-BE49-F238E27FC236}">
                <a16:creationId xmlns:a16="http://schemas.microsoft.com/office/drawing/2014/main" id="{4554ABC1-B1EE-96B6-93CC-A44BC98046AD}"/>
              </a:ext>
            </a:extLst>
          </p:cNvPr>
          <p:cNvSpPr txBox="1"/>
          <p:nvPr/>
        </p:nvSpPr>
        <p:spPr>
          <a:xfrm>
            <a:off x="5996571" y="-4995950"/>
            <a:ext cx="5983160" cy="646331"/>
          </a:xfrm>
          <a:prstGeom prst="rect">
            <a:avLst/>
          </a:prstGeom>
          <a:noFill/>
        </p:spPr>
        <p:txBody>
          <a:bodyPr wrap="square">
            <a:spAutoFit/>
          </a:bodyPr>
          <a:lstStyle/>
          <a:p>
            <a:r>
              <a:rPr lang="fr-FR" sz="3600" b="1" dirty="0">
                <a:latin typeface="Berlin Sans FB Demi" panose="020E0802020502020306" pitchFamily="34" charset="77"/>
              </a:rPr>
              <a:t>Univariée: </a:t>
            </a:r>
            <a:r>
              <a:rPr lang="fr-FR" sz="3600" b="1" dirty="0" err="1">
                <a:latin typeface="Berlin Sans FB Demi" panose="020E0802020502020306" pitchFamily="34" charset="77"/>
              </a:rPr>
              <a:t>age</a:t>
            </a:r>
            <a:r>
              <a:rPr lang="fr-FR" sz="3600" b="1" dirty="0">
                <a:latin typeface="Berlin Sans FB Demi" panose="020E0802020502020306" pitchFamily="34" charset="77"/>
              </a:rPr>
              <a:t> </a:t>
            </a:r>
          </a:p>
        </p:txBody>
      </p:sp>
      <p:pic>
        <p:nvPicPr>
          <p:cNvPr id="10" name="Image 9">
            <a:extLst>
              <a:ext uri="{FF2B5EF4-FFF2-40B4-BE49-F238E27FC236}">
                <a16:creationId xmlns:a16="http://schemas.microsoft.com/office/drawing/2014/main" id="{A3F57524-E7C7-C9E2-FA9F-F62E1876660E}"/>
              </a:ext>
            </a:extLst>
          </p:cNvPr>
          <p:cNvPicPr>
            <a:picLocks noChangeAspect="1"/>
          </p:cNvPicPr>
          <p:nvPr/>
        </p:nvPicPr>
        <p:blipFill>
          <a:blip r:embed="rId4"/>
          <a:stretch>
            <a:fillRect/>
          </a:stretch>
        </p:blipFill>
        <p:spPr>
          <a:xfrm>
            <a:off x="3677780" y="-4211719"/>
            <a:ext cx="7871829" cy="3352080"/>
          </a:xfrm>
          <a:prstGeom prst="rect">
            <a:avLst/>
          </a:prstGeom>
        </p:spPr>
      </p:pic>
      <p:sp>
        <p:nvSpPr>
          <p:cNvPr id="14" name="ZoneTexte 13">
            <a:extLst>
              <a:ext uri="{FF2B5EF4-FFF2-40B4-BE49-F238E27FC236}">
                <a16:creationId xmlns:a16="http://schemas.microsoft.com/office/drawing/2014/main" id="{CF73C63D-9FC3-1769-5898-7997568B8C32}"/>
              </a:ext>
            </a:extLst>
          </p:cNvPr>
          <p:cNvSpPr txBox="1"/>
          <p:nvPr/>
        </p:nvSpPr>
        <p:spPr>
          <a:xfrm>
            <a:off x="1120075" y="2983368"/>
            <a:ext cx="351870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Filière</a:t>
            </a:r>
          </a:p>
        </p:txBody>
      </p:sp>
      <p:sp>
        <p:nvSpPr>
          <p:cNvPr id="17" name="Titre 1">
            <a:extLst>
              <a:ext uri="{FF2B5EF4-FFF2-40B4-BE49-F238E27FC236}">
                <a16:creationId xmlns:a16="http://schemas.microsoft.com/office/drawing/2014/main" id="{DA1928B5-344E-EB0B-29FC-D77D44D4D192}"/>
              </a:ext>
            </a:extLst>
          </p:cNvPr>
          <p:cNvSpPr txBox="1">
            <a:spLocks/>
          </p:cNvSpPr>
          <p:nvPr/>
        </p:nvSpPr>
        <p:spPr>
          <a:xfrm>
            <a:off x="2500101" y="-11190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600" b="1" dirty="0">
                <a:latin typeface="Berlin Sans FB Demi" panose="020E0802020502020306" pitchFamily="34" charset="77"/>
              </a:rPr>
              <a:t>Analyse univariée: Département</a:t>
            </a:r>
          </a:p>
        </p:txBody>
      </p:sp>
      <p:pic>
        <p:nvPicPr>
          <p:cNvPr id="18" name="Image 17">
            <a:extLst>
              <a:ext uri="{FF2B5EF4-FFF2-40B4-BE49-F238E27FC236}">
                <a16:creationId xmlns:a16="http://schemas.microsoft.com/office/drawing/2014/main" id="{88A125A6-4D23-28CD-B9F0-5B34FB33B5E3}"/>
              </a:ext>
            </a:extLst>
          </p:cNvPr>
          <p:cNvPicPr>
            <a:picLocks noChangeAspect="1"/>
          </p:cNvPicPr>
          <p:nvPr/>
        </p:nvPicPr>
        <p:blipFill>
          <a:blip r:embed="rId5"/>
          <a:stretch>
            <a:fillRect/>
          </a:stretch>
        </p:blipFill>
        <p:spPr>
          <a:xfrm>
            <a:off x="4524043" y="1555957"/>
            <a:ext cx="7025566" cy="4577563"/>
          </a:xfrm>
          <a:prstGeom prst="rect">
            <a:avLst/>
          </a:prstGeom>
        </p:spPr>
      </p:pic>
      <p:sp>
        <p:nvSpPr>
          <p:cNvPr id="22" name="ZoneTexte 21">
            <a:extLst>
              <a:ext uri="{FF2B5EF4-FFF2-40B4-BE49-F238E27FC236}">
                <a16:creationId xmlns:a16="http://schemas.microsoft.com/office/drawing/2014/main" id="{89559751-21E7-EEBB-D278-B6A37B99BED0}"/>
              </a:ext>
            </a:extLst>
          </p:cNvPr>
          <p:cNvSpPr txBox="1"/>
          <p:nvPr/>
        </p:nvSpPr>
        <p:spPr>
          <a:xfrm>
            <a:off x="11500378" y="6060234"/>
            <a:ext cx="920262"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11</a:t>
            </a:r>
          </a:p>
        </p:txBody>
      </p:sp>
    </p:spTree>
    <p:extLst>
      <p:ext uri="{BB962C8B-B14F-4D97-AF65-F5344CB8AC3E}">
        <p14:creationId xmlns:p14="http://schemas.microsoft.com/office/powerpoint/2010/main" val="3595999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8922CFB3-D36B-CABA-11AF-A1EE7D65D7FB}"/>
            </a:ext>
          </a:extLst>
        </p:cNvPr>
        <p:cNvGrpSpPr/>
        <p:nvPr/>
      </p:nvGrpSpPr>
      <p:grpSpPr>
        <a:xfrm>
          <a:off x="0" y="0"/>
          <a:ext cx="0" cy="0"/>
          <a:chOff x="0" y="0"/>
          <a:chExt cx="0" cy="0"/>
        </a:xfrm>
      </p:grpSpPr>
      <p:sp>
        <p:nvSpPr>
          <p:cNvPr id="6" name="Opération manuelle 5">
            <a:extLst>
              <a:ext uri="{FF2B5EF4-FFF2-40B4-BE49-F238E27FC236}">
                <a16:creationId xmlns:a16="http://schemas.microsoft.com/office/drawing/2014/main" id="{7C02DE1A-7BE2-FC12-B2FF-B16F7F570B87}"/>
              </a:ext>
            </a:extLst>
          </p:cNvPr>
          <p:cNvSpPr/>
          <p:nvPr/>
        </p:nvSpPr>
        <p:spPr>
          <a:xfrm>
            <a:off x="405111" y="2581154"/>
            <a:ext cx="3113591" cy="1516284"/>
          </a:xfrm>
          <a:prstGeom prst="flowChartManualOperation">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978C1D7-5860-1BF8-639F-59749D23F0EC}"/>
              </a:ext>
            </a:extLst>
          </p:cNvPr>
          <p:cNvSpPr/>
          <p:nvPr/>
        </p:nvSpPr>
        <p:spPr>
          <a:xfrm>
            <a:off x="544007" y="0"/>
            <a:ext cx="2835797" cy="685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 coins arrondis 4">
            <a:extLst>
              <a:ext uri="{FF2B5EF4-FFF2-40B4-BE49-F238E27FC236}">
                <a16:creationId xmlns:a16="http://schemas.microsoft.com/office/drawing/2014/main" id="{DD2B3DA4-34B0-A089-599B-655EA0584F89}"/>
              </a:ext>
            </a:extLst>
          </p:cNvPr>
          <p:cNvSpPr/>
          <p:nvPr/>
        </p:nvSpPr>
        <p:spPr>
          <a:xfrm>
            <a:off x="405111" y="1169042"/>
            <a:ext cx="3113591" cy="1678329"/>
          </a:xfrm>
          <a:prstGeom prst="roundRect">
            <a:avLst/>
          </a:prstGeom>
          <a:solidFill>
            <a:srgbClr val="00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44980356-5FC4-A492-8D20-615F198CDC51}"/>
              </a:ext>
            </a:extLst>
          </p:cNvPr>
          <p:cNvSpPr txBox="1"/>
          <p:nvPr/>
        </p:nvSpPr>
        <p:spPr>
          <a:xfrm>
            <a:off x="1278317" y="-1926411"/>
            <a:ext cx="283579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FREIN</a:t>
            </a:r>
          </a:p>
        </p:txBody>
      </p:sp>
      <p:pic>
        <p:nvPicPr>
          <p:cNvPr id="8" name="Image 7" descr="Une image contenant texte, capture d’écran, ligne, Tracé&#10;&#10;Le contenu généré par l’IA peut être incorrect.">
            <a:extLst>
              <a:ext uri="{FF2B5EF4-FFF2-40B4-BE49-F238E27FC236}">
                <a16:creationId xmlns:a16="http://schemas.microsoft.com/office/drawing/2014/main" id="{BDCB7C65-06C4-08E9-ED24-EEA10C8EFE32}"/>
              </a:ext>
            </a:extLst>
          </p:cNvPr>
          <p:cNvPicPr>
            <a:picLocks noChangeAspect="1"/>
          </p:cNvPicPr>
          <p:nvPr/>
        </p:nvPicPr>
        <p:blipFill>
          <a:blip r:embed="rId2"/>
          <a:stretch>
            <a:fillRect/>
          </a:stretch>
        </p:blipFill>
        <p:spPr>
          <a:xfrm>
            <a:off x="3831220" y="-10983289"/>
            <a:ext cx="8129289" cy="3576886"/>
          </a:xfrm>
          <a:prstGeom prst="rect">
            <a:avLst/>
          </a:prstGeom>
        </p:spPr>
      </p:pic>
      <p:sp>
        <p:nvSpPr>
          <p:cNvPr id="9" name="ZoneTexte 8">
            <a:extLst>
              <a:ext uri="{FF2B5EF4-FFF2-40B4-BE49-F238E27FC236}">
                <a16:creationId xmlns:a16="http://schemas.microsoft.com/office/drawing/2014/main" id="{C1D57C2D-B0A8-0176-6B9C-BE671FD383F7}"/>
              </a:ext>
            </a:extLst>
          </p:cNvPr>
          <p:cNvSpPr txBox="1"/>
          <p:nvPr/>
        </p:nvSpPr>
        <p:spPr>
          <a:xfrm>
            <a:off x="5796991" y="-12109534"/>
            <a:ext cx="5752618" cy="646331"/>
          </a:xfrm>
          <a:prstGeom prst="rect">
            <a:avLst/>
          </a:prstGeom>
          <a:noFill/>
        </p:spPr>
        <p:txBody>
          <a:bodyPr wrap="square" rtlCol="0">
            <a:spAutoFit/>
          </a:bodyPr>
          <a:lstStyle/>
          <a:p>
            <a:r>
              <a:rPr lang="en-US" sz="3600" kern="1200" dirty="0" err="1">
                <a:solidFill>
                  <a:schemeClr val="tx1"/>
                </a:solidFill>
                <a:latin typeface="Berlin Sans FB" panose="020E0602020502020306" pitchFamily="34" charset="77"/>
                <a:ea typeface="+mj-ea"/>
                <a:cs typeface="+mj-cs"/>
              </a:rPr>
              <a:t>Analyse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univariée</a:t>
            </a:r>
            <a:r>
              <a:rPr lang="en-US" sz="3600" kern="1200" dirty="0">
                <a:solidFill>
                  <a:schemeClr val="tx1"/>
                </a:solidFill>
                <a:latin typeface="Berlin Sans FB" panose="020E0602020502020306" pitchFamily="34" charset="77"/>
                <a:ea typeface="+mj-ea"/>
                <a:cs typeface="+mj-cs"/>
              </a:rPr>
              <a:t>: </a:t>
            </a:r>
            <a:r>
              <a:rPr lang="en-US" sz="3600" kern="1200" dirty="0" err="1">
                <a:solidFill>
                  <a:schemeClr val="tx1"/>
                </a:solidFill>
                <a:latin typeface="Berlin Sans FB" panose="020E0602020502020306" pitchFamily="34" charset="77"/>
                <a:ea typeface="+mj-ea"/>
                <a:cs typeface="+mj-cs"/>
              </a:rPr>
              <a:t>Frein</a:t>
            </a:r>
            <a:r>
              <a:rPr lang="en-US" sz="3600" kern="1200" dirty="0">
                <a:solidFill>
                  <a:schemeClr val="tx1"/>
                </a:solidFill>
                <a:latin typeface="Berlin Sans FB" panose="020E0602020502020306" pitchFamily="34" charset="77"/>
                <a:ea typeface="+mj-ea"/>
                <a:cs typeface="+mj-cs"/>
              </a:rPr>
              <a:t> </a:t>
            </a:r>
            <a:endParaRPr lang="fr-FR" sz="3600" dirty="0">
              <a:latin typeface="Berlin Sans FB" panose="020E0602020502020306" pitchFamily="34" charset="77"/>
            </a:endParaRPr>
          </a:p>
        </p:txBody>
      </p:sp>
      <p:sp>
        <p:nvSpPr>
          <p:cNvPr id="11" name="ZoneTexte 10">
            <a:extLst>
              <a:ext uri="{FF2B5EF4-FFF2-40B4-BE49-F238E27FC236}">
                <a16:creationId xmlns:a16="http://schemas.microsoft.com/office/drawing/2014/main" id="{8DAB44E9-19D5-7CE3-2C9B-65AF660A2CC4}"/>
              </a:ext>
            </a:extLst>
          </p:cNvPr>
          <p:cNvSpPr txBox="1"/>
          <p:nvPr/>
        </p:nvSpPr>
        <p:spPr>
          <a:xfrm>
            <a:off x="1398513" y="-747736"/>
            <a:ext cx="283579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Age</a:t>
            </a:r>
          </a:p>
        </p:txBody>
      </p:sp>
      <p:sp>
        <p:nvSpPr>
          <p:cNvPr id="12" name="ZoneTexte 11">
            <a:extLst>
              <a:ext uri="{FF2B5EF4-FFF2-40B4-BE49-F238E27FC236}">
                <a16:creationId xmlns:a16="http://schemas.microsoft.com/office/drawing/2014/main" id="{255BD0B2-362F-B668-D34F-C3370CDCC603}"/>
              </a:ext>
            </a:extLst>
          </p:cNvPr>
          <p:cNvSpPr txBox="1"/>
          <p:nvPr/>
        </p:nvSpPr>
        <p:spPr>
          <a:xfrm>
            <a:off x="487406" y="170519"/>
            <a:ext cx="3518706" cy="646331"/>
          </a:xfrm>
          <a:prstGeom prst="rect">
            <a:avLst/>
          </a:prstGeom>
          <a:noFill/>
        </p:spPr>
        <p:txBody>
          <a:bodyPr wrap="square" rtlCol="0">
            <a:spAutoFit/>
          </a:bodyPr>
          <a:lstStyle/>
          <a:p>
            <a:r>
              <a:rPr lang="fr-FR" sz="3600" b="1" dirty="0">
                <a:solidFill>
                  <a:srgbClr val="00FDFF"/>
                </a:solidFill>
                <a:latin typeface="Berlin Sans FB Demi" panose="020E0802020502020306" pitchFamily="34" charset="77"/>
              </a:rPr>
              <a:t>Département</a:t>
            </a:r>
          </a:p>
        </p:txBody>
      </p:sp>
      <p:sp>
        <p:nvSpPr>
          <p:cNvPr id="13" name="ZoneTexte 12">
            <a:extLst>
              <a:ext uri="{FF2B5EF4-FFF2-40B4-BE49-F238E27FC236}">
                <a16:creationId xmlns:a16="http://schemas.microsoft.com/office/drawing/2014/main" id="{F6A0D823-FBD6-6536-433A-FEF210034DAA}"/>
              </a:ext>
            </a:extLst>
          </p:cNvPr>
          <p:cNvSpPr txBox="1"/>
          <p:nvPr/>
        </p:nvSpPr>
        <p:spPr>
          <a:xfrm>
            <a:off x="1234910" y="-617346"/>
            <a:ext cx="1695691" cy="707886"/>
          </a:xfrm>
          <a:prstGeom prst="rect">
            <a:avLst/>
          </a:prstGeom>
          <a:noFill/>
        </p:spPr>
        <p:txBody>
          <a:bodyPr wrap="square" rtlCol="0">
            <a:spAutoFit/>
          </a:bodyPr>
          <a:lstStyle/>
          <a:p>
            <a:r>
              <a:rPr lang="fr-FR" sz="4000" b="1" dirty="0">
                <a:solidFill>
                  <a:srgbClr val="00FDFF"/>
                </a:solidFill>
                <a:latin typeface="Berlin Sans FB Demi" panose="020E0802020502020306" pitchFamily="34" charset="77"/>
              </a:rPr>
              <a:t>Genre</a:t>
            </a:r>
          </a:p>
        </p:txBody>
      </p:sp>
      <p:sp>
        <p:nvSpPr>
          <p:cNvPr id="15" name="ZoneTexte 14">
            <a:extLst>
              <a:ext uri="{FF2B5EF4-FFF2-40B4-BE49-F238E27FC236}">
                <a16:creationId xmlns:a16="http://schemas.microsoft.com/office/drawing/2014/main" id="{86A0E7C8-7770-7955-D448-255503BD1881}"/>
              </a:ext>
            </a:extLst>
          </p:cNvPr>
          <p:cNvSpPr txBox="1"/>
          <p:nvPr/>
        </p:nvSpPr>
        <p:spPr>
          <a:xfrm>
            <a:off x="5840398" y="-6614540"/>
            <a:ext cx="5646134" cy="646331"/>
          </a:xfrm>
          <a:prstGeom prst="rect">
            <a:avLst/>
          </a:prstGeom>
          <a:noFill/>
        </p:spPr>
        <p:txBody>
          <a:bodyPr wrap="square" rtlCol="0">
            <a:spAutoFit/>
          </a:bodyPr>
          <a:lstStyle/>
          <a:p>
            <a:r>
              <a:rPr lang="fr-FR" sz="3600" dirty="0">
                <a:latin typeface="Berlin Sans FB" panose="020E0602020502020306" pitchFamily="34" charset="77"/>
              </a:rPr>
              <a:t>Univariée: genre </a:t>
            </a:r>
          </a:p>
        </p:txBody>
      </p:sp>
      <p:pic>
        <p:nvPicPr>
          <p:cNvPr id="16" name="Image 15">
            <a:extLst>
              <a:ext uri="{FF2B5EF4-FFF2-40B4-BE49-F238E27FC236}">
                <a16:creationId xmlns:a16="http://schemas.microsoft.com/office/drawing/2014/main" id="{A912E07A-86CF-63A4-3F2B-A341917151FE}"/>
              </a:ext>
            </a:extLst>
          </p:cNvPr>
          <p:cNvPicPr>
            <a:picLocks noChangeAspect="1"/>
          </p:cNvPicPr>
          <p:nvPr/>
        </p:nvPicPr>
        <p:blipFill>
          <a:blip r:embed="rId3"/>
          <a:stretch>
            <a:fillRect/>
          </a:stretch>
        </p:blipFill>
        <p:spPr>
          <a:xfrm>
            <a:off x="4729680" y="-10983289"/>
            <a:ext cx="6019975" cy="5183052"/>
          </a:xfrm>
          <a:prstGeom prst="rect">
            <a:avLst/>
          </a:prstGeom>
        </p:spPr>
      </p:pic>
      <p:sp>
        <p:nvSpPr>
          <p:cNvPr id="3" name="ZoneTexte 2">
            <a:extLst>
              <a:ext uri="{FF2B5EF4-FFF2-40B4-BE49-F238E27FC236}">
                <a16:creationId xmlns:a16="http://schemas.microsoft.com/office/drawing/2014/main" id="{8FC9537D-947A-CD1D-101B-178FAE755C70}"/>
              </a:ext>
            </a:extLst>
          </p:cNvPr>
          <p:cNvSpPr txBox="1"/>
          <p:nvPr/>
        </p:nvSpPr>
        <p:spPr>
          <a:xfrm>
            <a:off x="5996571" y="-4995950"/>
            <a:ext cx="5983160" cy="646331"/>
          </a:xfrm>
          <a:prstGeom prst="rect">
            <a:avLst/>
          </a:prstGeom>
          <a:noFill/>
        </p:spPr>
        <p:txBody>
          <a:bodyPr wrap="square">
            <a:spAutoFit/>
          </a:bodyPr>
          <a:lstStyle/>
          <a:p>
            <a:r>
              <a:rPr lang="fr-FR" sz="3600" b="1" dirty="0">
                <a:latin typeface="Berlin Sans FB Demi" panose="020E0802020502020306" pitchFamily="34" charset="77"/>
              </a:rPr>
              <a:t>Univariée: </a:t>
            </a:r>
            <a:r>
              <a:rPr lang="fr-FR" sz="3600" b="1" dirty="0" err="1">
                <a:latin typeface="Berlin Sans FB Demi" panose="020E0802020502020306" pitchFamily="34" charset="77"/>
              </a:rPr>
              <a:t>age</a:t>
            </a:r>
            <a:r>
              <a:rPr lang="fr-FR" sz="3600" b="1" dirty="0">
                <a:latin typeface="Berlin Sans FB Demi" panose="020E0802020502020306" pitchFamily="34" charset="77"/>
              </a:rPr>
              <a:t> </a:t>
            </a:r>
          </a:p>
        </p:txBody>
      </p:sp>
      <p:pic>
        <p:nvPicPr>
          <p:cNvPr id="10" name="Image 9">
            <a:extLst>
              <a:ext uri="{FF2B5EF4-FFF2-40B4-BE49-F238E27FC236}">
                <a16:creationId xmlns:a16="http://schemas.microsoft.com/office/drawing/2014/main" id="{0615C816-5177-BA7C-4C9E-A98221F1EC56}"/>
              </a:ext>
            </a:extLst>
          </p:cNvPr>
          <p:cNvPicPr>
            <a:picLocks noChangeAspect="1"/>
          </p:cNvPicPr>
          <p:nvPr/>
        </p:nvPicPr>
        <p:blipFill>
          <a:blip r:embed="rId4"/>
          <a:stretch>
            <a:fillRect/>
          </a:stretch>
        </p:blipFill>
        <p:spPr>
          <a:xfrm>
            <a:off x="3677780" y="-4211719"/>
            <a:ext cx="7871829" cy="3352080"/>
          </a:xfrm>
          <a:prstGeom prst="rect">
            <a:avLst/>
          </a:prstGeom>
        </p:spPr>
      </p:pic>
      <p:sp>
        <p:nvSpPr>
          <p:cNvPr id="14" name="ZoneTexte 13">
            <a:extLst>
              <a:ext uri="{FF2B5EF4-FFF2-40B4-BE49-F238E27FC236}">
                <a16:creationId xmlns:a16="http://schemas.microsoft.com/office/drawing/2014/main" id="{AF5AC4E9-55DE-8980-A027-83EE69575698}"/>
              </a:ext>
            </a:extLst>
          </p:cNvPr>
          <p:cNvSpPr txBox="1"/>
          <p:nvPr/>
        </p:nvSpPr>
        <p:spPr>
          <a:xfrm>
            <a:off x="1221936" y="1521087"/>
            <a:ext cx="3518706" cy="646331"/>
          </a:xfrm>
          <a:prstGeom prst="rect">
            <a:avLst/>
          </a:prstGeom>
          <a:noFill/>
        </p:spPr>
        <p:txBody>
          <a:bodyPr wrap="square" rtlCol="0">
            <a:spAutoFit/>
          </a:bodyPr>
          <a:lstStyle/>
          <a:p>
            <a:r>
              <a:rPr lang="fr-FR" sz="3600" b="1" dirty="0">
                <a:latin typeface="Berlin Sans FB Demi" panose="020E0802020502020306" pitchFamily="34" charset="77"/>
              </a:rPr>
              <a:t>Filière</a:t>
            </a:r>
          </a:p>
        </p:txBody>
      </p:sp>
      <p:sp>
        <p:nvSpPr>
          <p:cNvPr id="17" name="Titre 1">
            <a:extLst>
              <a:ext uri="{FF2B5EF4-FFF2-40B4-BE49-F238E27FC236}">
                <a16:creationId xmlns:a16="http://schemas.microsoft.com/office/drawing/2014/main" id="{3449CC1A-C8D3-98E5-C3DA-93D7D0D37F47}"/>
              </a:ext>
            </a:extLst>
          </p:cNvPr>
          <p:cNvSpPr txBox="1">
            <a:spLocks/>
          </p:cNvSpPr>
          <p:nvPr/>
        </p:nvSpPr>
        <p:spPr>
          <a:xfrm>
            <a:off x="2246759" y="-7304998"/>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600" b="1" dirty="0">
                <a:latin typeface="Berlin Sans FB Demi" panose="020E0802020502020306" pitchFamily="34" charset="77"/>
              </a:rPr>
              <a:t>Univariée: Département</a:t>
            </a:r>
          </a:p>
        </p:txBody>
      </p:sp>
      <p:pic>
        <p:nvPicPr>
          <p:cNvPr id="18" name="Image 17">
            <a:extLst>
              <a:ext uri="{FF2B5EF4-FFF2-40B4-BE49-F238E27FC236}">
                <a16:creationId xmlns:a16="http://schemas.microsoft.com/office/drawing/2014/main" id="{3EC44992-73A9-844B-7121-C16F54075421}"/>
              </a:ext>
            </a:extLst>
          </p:cNvPr>
          <p:cNvPicPr>
            <a:picLocks noChangeAspect="1"/>
          </p:cNvPicPr>
          <p:nvPr/>
        </p:nvPicPr>
        <p:blipFill>
          <a:blip r:embed="rId5"/>
          <a:stretch>
            <a:fillRect/>
          </a:stretch>
        </p:blipFill>
        <p:spPr>
          <a:xfrm>
            <a:off x="4270701" y="-5637138"/>
            <a:ext cx="7025566" cy="4577563"/>
          </a:xfrm>
          <a:prstGeom prst="rect">
            <a:avLst/>
          </a:prstGeom>
        </p:spPr>
      </p:pic>
      <p:sp>
        <p:nvSpPr>
          <p:cNvPr id="19" name="Titre 1">
            <a:extLst>
              <a:ext uri="{FF2B5EF4-FFF2-40B4-BE49-F238E27FC236}">
                <a16:creationId xmlns:a16="http://schemas.microsoft.com/office/drawing/2014/main" id="{DC327B72-9077-A5E6-B51A-AC735D4BCAFC}"/>
              </a:ext>
            </a:extLst>
          </p:cNvPr>
          <p:cNvSpPr txBox="1">
            <a:spLocks/>
          </p:cNvSpPr>
          <p:nvPr/>
        </p:nvSpPr>
        <p:spPr>
          <a:xfrm>
            <a:off x="2647884" y="-7485611"/>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600" b="1" dirty="0">
                <a:latin typeface="Berlin Sans FB Demi" panose="020E0802020502020306" pitchFamily="34" charset="77"/>
              </a:rPr>
              <a:t>Univariée: campus</a:t>
            </a:r>
          </a:p>
        </p:txBody>
      </p:sp>
      <p:pic>
        <p:nvPicPr>
          <p:cNvPr id="20" name="Image 19">
            <a:extLst>
              <a:ext uri="{FF2B5EF4-FFF2-40B4-BE49-F238E27FC236}">
                <a16:creationId xmlns:a16="http://schemas.microsoft.com/office/drawing/2014/main" id="{08FA6757-7C69-137B-98ED-8342048AAEE9}"/>
              </a:ext>
            </a:extLst>
          </p:cNvPr>
          <p:cNvPicPr>
            <a:picLocks noChangeAspect="1"/>
          </p:cNvPicPr>
          <p:nvPr/>
        </p:nvPicPr>
        <p:blipFill>
          <a:blip r:embed="rId6"/>
          <a:stretch>
            <a:fillRect/>
          </a:stretch>
        </p:blipFill>
        <p:spPr>
          <a:xfrm>
            <a:off x="3801120" y="-5762542"/>
            <a:ext cx="7630236" cy="4867723"/>
          </a:xfrm>
          <a:prstGeom prst="rect">
            <a:avLst/>
          </a:prstGeom>
        </p:spPr>
      </p:pic>
      <p:sp>
        <p:nvSpPr>
          <p:cNvPr id="21" name="Titre 1">
            <a:extLst>
              <a:ext uri="{FF2B5EF4-FFF2-40B4-BE49-F238E27FC236}">
                <a16:creationId xmlns:a16="http://schemas.microsoft.com/office/drawing/2014/main" id="{8CAEC287-3F1F-1854-79E2-A7DCA3292C88}"/>
              </a:ext>
            </a:extLst>
          </p:cNvPr>
          <p:cNvSpPr txBox="1">
            <a:spLocks/>
          </p:cNvSpPr>
          <p:nvPr/>
        </p:nvSpPr>
        <p:spPr>
          <a:xfrm>
            <a:off x="2689050" y="-21771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600" b="1" dirty="0">
                <a:latin typeface="Berlin Sans FB Demi" panose="020E0802020502020306" pitchFamily="34" charset="77"/>
              </a:rPr>
              <a:t>Analyse univariée: Filière</a:t>
            </a:r>
          </a:p>
        </p:txBody>
      </p:sp>
      <p:pic>
        <p:nvPicPr>
          <p:cNvPr id="22" name="Image 21">
            <a:extLst>
              <a:ext uri="{FF2B5EF4-FFF2-40B4-BE49-F238E27FC236}">
                <a16:creationId xmlns:a16="http://schemas.microsoft.com/office/drawing/2014/main" id="{3EA90079-23EB-C360-807A-A8FE5809BCF1}"/>
              </a:ext>
            </a:extLst>
          </p:cNvPr>
          <p:cNvPicPr>
            <a:picLocks noChangeAspect="1"/>
          </p:cNvPicPr>
          <p:nvPr/>
        </p:nvPicPr>
        <p:blipFill>
          <a:blip r:embed="rId7"/>
          <a:stretch>
            <a:fillRect/>
          </a:stretch>
        </p:blipFill>
        <p:spPr>
          <a:xfrm>
            <a:off x="4060650" y="1268705"/>
            <a:ext cx="7772400" cy="4509911"/>
          </a:xfrm>
          <a:prstGeom prst="rect">
            <a:avLst/>
          </a:prstGeom>
        </p:spPr>
      </p:pic>
      <p:sp>
        <p:nvSpPr>
          <p:cNvPr id="24" name="ZoneTexte 23">
            <a:extLst>
              <a:ext uri="{FF2B5EF4-FFF2-40B4-BE49-F238E27FC236}">
                <a16:creationId xmlns:a16="http://schemas.microsoft.com/office/drawing/2014/main" id="{C35D2D75-AB7F-5803-A66E-D2CEF486CCBA}"/>
              </a:ext>
            </a:extLst>
          </p:cNvPr>
          <p:cNvSpPr txBox="1"/>
          <p:nvPr/>
        </p:nvSpPr>
        <p:spPr>
          <a:xfrm>
            <a:off x="11486532" y="6038571"/>
            <a:ext cx="839159"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13</a:t>
            </a:r>
          </a:p>
        </p:txBody>
      </p:sp>
    </p:spTree>
    <p:extLst>
      <p:ext uri="{BB962C8B-B14F-4D97-AF65-F5344CB8AC3E}">
        <p14:creationId xmlns:p14="http://schemas.microsoft.com/office/powerpoint/2010/main" val="1228265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8" name="Zoom de diapositive 7">
                <a:extLst>
                  <a:ext uri="{FF2B5EF4-FFF2-40B4-BE49-F238E27FC236}">
                    <a16:creationId xmlns:a16="http://schemas.microsoft.com/office/drawing/2014/main" id="{164087F3-17CE-A0CF-AD83-B55E10F70B12}"/>
                  </a:ext>
                </a:extLst>
              </p:cNvPr>
              <p:cNvGraphicFramePr>
                <a:graphicFrameLocks noChangeAspect="1"/>
              </p:cNvGraphicFramePr>
              <p:nvPr>
                <p:extLst>
                  <p:ext uri="{D42A27DB-BD31-4B8C-83A1-F6EECF244321}">
                    <p14:modId xmlns:p14="http://schemas.microsoft.com/office/powerpoint/2010/main" val="3948549134"/>
                  </p:ext>
                </p:extLst>
              </p:nvPr>
            </p:nvGraphicFramePr>
            <p:xfrm>
              <a:off x="1696065" y="3303437"/>
              <a:ext cx="349233" cy="196443"/>
            </p:xfrm>
            <a:graphic>
              <a:graphicData uri="http://schemas.microsoft.com/office/powerpoint/2016/slidezoom">
                <pslz:sldZm>
                  <pslz:sldZmObj sldId="268" cId="2094166904">
                    <pslz:zmPr id="{FA004944-0836-F440-9A46-6175D8D319BC}" returnToParent="0" transitionDur="1000">
                      <p166:blipFill xmlns:p166="http://schemas.microsoft.com/office/powerpoint/2016/6/main">
                        <a:blip r:embed="rId2"/>
                        <a:stretch>
                          <a:fillRect/>
                        </a:stretch>
                      </p166:blipFill>
                      <p166:spPr xmlns:p166="http://schemas.microsoft.com/office/powerpoint/2016/6/main">
                        <a:xfrm>
                          <a:off x="0" y="0"/>
                          <a:ext cx="349233" cy="196443"/>
                        </a:xfrm>
                        <a:prstGeom prst="rect">
                          <a:avLst/>
                        </a:prstGeom>
                        <a:ln w="3175">
                          <a:solidFill>
                            <a:prstClr val="ltGray"/>
                          </a:solidFill>
                        </a:ln>
                      </p166:spPr>
                    </pslz:zmPr>
                  </pslz:sldZmObj>
                </pslz:sldZm>
              </a:graphicData>
            </a:graphic>
          </p:graphicFrame>
        </mc:Choice>
        <mc:Fallback xmlns="">
          <p:pic>
            <p:nvPicPr>
              <p:cNvPr id="8" name="Zoom de diapositive 7">
                <a:hlinkClick r:id="rId3" action="ppaction://hlinksldjump"/>
                <a:extLst>
                  <a:ext uri="{FF2B5EF4-FFF2-40B4-BE49-F238E27FC236}">
                    <a16:creationId xmlns:a16="http://schemas.microsoft.com/office/drawing/2014/main" id="{164087F3-17CE-A0CF-AD83-B55E10F70B12}"/>
                  </a:ext>
                </a:extLst>
              </p:cNvPr>
              <p:cNvPicPr>
                <a:picLocks noGrp="1" noRot="1" noChangeAspect="1" noMove="1" noResize="1" noEditPoints="1" noAdjustHandles="1" noChangeArrowheads="1" noChangeShapeType="1"/>
              </p:cNvPicPr>
              <p:nvPr/>
            </p:nvPicPr>
            <p:blipFill>
              <a:blip r:embed="rId4"/>
              <a:stretch>
                <a:fillRect/>
              </a:stretch>
            </p:blipFill>
            <p:spPr>
              <a:xfrm>
                <a:off x="1696065" y="3303437"/>
                <a:ext cx="349233" cy="19644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Zoom de diapositive 8">
                <a:extLst>
                  <a:ext uri="{FF2B5EF4-FFF2-40B4-BE49-F238E27FC236}">
                    <a16:creationId xmlns:a16="http://schemas.microsoft.com/office/drawing/2014/main" id="{9DAC6AE1-E6ED-F785-7A60-EDA20CDD3ABA}"/>
                  </a:ext>
                </a:extLst>
              </p:cNvPr>
              <p:cNvGraphicFramePr>
                <a:graphicFrameLocks noChangeAspect="1"/>
              </p:cNvGraphicFramePr>
              <p:nvPr>
                <p:extLst>
                  <p:ext uri="{D42A27DB-BD31-4B8C-83A1-F6EECF244321}">
                    <p14:modId xmlns:p14="http://schemas.microsoft.com/office/powerpoint/2010/main" val="315524710"/>
                  </p:ext>
                </p:extLst>
              </p:nvPr>
            </p:nvGraphicFramePr>
            <p:xfrm>
              <a:off x="3984843" y="3270184"/>
              <a:ext cx="388239" cy="218385"/>
            </p:xfrm>
            <a:graphic>
              <a:graphicData uri="http://schemas.microsoft.com/office/powerpoint/2016/slidezoom">
                <pslz:sldZm>
                  <pslz:sldZmObj sldId="269" cId="536397171">
                    <pslz:zmPr id="{DDC18A97-5E74-8C48-A30A-2C44ED643AC5}" returnToParent="0" transitionDur="1000">
                      <p166:blipFill xmlns:p166="http://schemas.microsoft.com/office/powerpoint/2016/6/main">
                        <a:blip r:embed="rId5"/>
                        <a:stretch>
                          <a:fillRect/>
                        </a:stretch>
                      </p166:blipFill>
                      <p166:spPr xmlns:p166="http://schemas.microsoft.com/office/powerpoint/2016/6/main">
                        <a:xfrm>
                          <a:off x="0" y="0"/>
                          <a:ext cx="388239" cy="218385"/>
                        </a:xfrm>
                        <a:prstGeom prst="rect">
                          <a:avLst/>
                        </a:prstGeom>
                        <a:ln w="3175">
                          <a:solidFill>
                            <a:prstClr val="ltGray"/>
                          </a:solidFill>
                        </a:ln>
                      </p166:spPr>
                    </pslz:zmPr>
                  </pslz:sldZmObj>
                </pslz:sldZm>
              </a:graphicData>
            </a:graphic>
          </p:graphicFrame>
        </mc:Choice>
        <mc:Fallback xmlns="">
          <p:pic>
            <p:nvPicPr>
              <p:cNvPr id="9" name="Zoom de diapositive 8">
                <a:hlinkClick r:id="rId6" action="ppaction://hlinksldjump"/>
                <a:extLst>
                  <a:ext uri="{FF2B5EF4-FFF2-40B4-BE49-F238E27FC236}">
                    <a16:creationId xmlns:a16="http://schemas.microsoft.com/office/drawing/2014/main" id="{9DAC6AE1-E6ED-F785-7A60-EDA20CDD3ABA}"/>
                  </a:ext>
                </a:extLst>
              </p:cNvPr>
              <p:cNvPicPr>
                <a:picLocks noGrp="1" noRot="1" noChangeAspect="1" noMove="1" noResize="1" noEditPoints="1" noAdjustHandles="1" noChangeArrowheads="1" noChangeShapeType="1"/>
              </p:cNvPicPr>
              <p:nvPr/>
            </p:nvPicPr>
            <p:blipFill>
              <a:blip r:embed="rId7"/>
              <a:stretch>
                <a:fillRect/>
              </a:stretch>
            </p:blipFill>
            <p:spPr>
              <a:xfrm>
                <a:off x="3984843" y="3270184"/>
                <a:ext cx="388239" cy="21838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Zoom de diapositive 9">
                <a:extLst>
                  <a:ext uri="{FF2B5EF4-FFF2-40B4-BE49-F238E27FC236}">
                    <a16:creationId xmlns:a16="http://schemas.microsoft.com/office/drawing/2014/main" id="{4F4AB386-67AB-5339-41CF-5ED18D3819CB}"/>
                  </a:ext>
                </a:extLst>
              </p:cNvPr>
              <p:cNvGraphicFramePr>
                <a:graphicFrameLocks noChangeAspect="1"/>
              </p:cNvGraphicFramePr>
              <p:nvPr>
                <p:extLst>
                  <p:ext uri="{D42A27DB-BD31-4B8C-83A1-F6EECF244321}">
                    <p14:modId xmlns:p14="http://schemas.microsoft.com/office/powerpoint/2010/main" val="832503036"/>
                  </p:ext>
                </p:extLst>
              </p:nvPr>
            </p:nvGraphicFramePr>
            <p:xfrm>
              <a:off x="6219994" y="3251463"/>
              <a:ext cx="400332" cy="225187"/>
            </p:xfrm>
            <a:graphic>
              <a:graphicData uri="http://schemas.microsoft.com/office/powerpoint/2016/slidezoom">
                <pslz:sldZm>
                  <pslz:sldZmObj sldId="270" cId="951537987">
                    <pslz:zmPr id="{C1EF4036-DE8D-684B-9E67-22E20C8283AB}" returnToParent="0" transitionDur="1000">
                      <p166:blipFill xmlns:p166="http://schemas.microsoft.com/office/powerpoint/2016/6/main">
                        <a:blip r:embed="rId8"/>
                        <a:stretch>
                          <a:fillRect/>
                        </a:stretch>
                      </p166:blipFill>
                      <p166:spPr xmlns:p166="http://schemas.microsoft.com/office/powerpoint/2016/6/main">
                        <a:xfrm>
                          <a:off x="0" y="0"/>
                          <a:ext cx="400332" cy="225187"/>
                        </a:xfrm>
                        <a:prstGeom prst="rect">
                          <a:avLst/>
                        </a:prstGeom>
                        <a:ln w="3175">
                          <a:solidFill>
                            <a:prstClr val="ltGray"/>
                          </a:solidFill>
                        </a:ln>
                      </p166:spPr>
                    </pslz:zmPr>
                  </pslz:sldZmObj>
                </pslz:sldZm>
              </a:graphicData>
            </a:graphic>
          </p:graphicFrame>
        </mc:Choice>
        <mc:Fallback xmlns="">
          <p:pic>
            <p:nvPicPr>
              <p:cNvPr id="10" name="Zoom de diapositive 9">
                <a:hlinkClick r:id="rId9" action="ppaction://hlinksldjump"/>
                <a:extLst>
                  <a:ext uri="{FF2B5EF4-FFF2-40B4-BE49-F238E27FC236}">
                    <a16:creationId xmlns:a16="http://schemas.microsoft.com/office/drawing/2014/main" id="{4F4AB386-67AB-5339-41CF-5ED18D3819CB}"/>
                  </a:ext>
                </a:extLst>
              </p:cNvPr>
              <p:cNvPicPr>
                <a:picLocks noGrp="1" noRot="1" noChangeAspect="1" noMove="1" noResize="1" noEditPoints="1" noAdjustHandles="1" noChangeArrowheads="1" noChangeShapeType="1"/>
              </p:cNvPicPr>
              <p:nvPr/>
            </p:nvPicPr>
            <p:blipFill>
              <a:blip r:embed="rId10"/>
              <a:stretch>
                <a:fillRect/>
              </a:stretch>
            </p:blipFill>
            <p:spPr>
              <a:xfrm>
                <a:off x="6219994" y="3251463"/>
                <a:ext cx="400332" cy="22518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Zoom de diapositive 10">
                <a:extLst>
                  <a:ext uri="{FF2B5EF4-FFF2-40B4-BE49-F238E27FC236}">
                    <a16:creationId xmlns:a16="http://schemas.microsoft.com/office/drawing/2014/main" id="{2946C723-D887-DCF1-9A95-CF9BB4B2F78F}"/>
                  </a:ext>
                </a:extLst>
              </p:cNvPr>
              <p:cNvGraphicFramePr>
                <a:graphicFrameLocks noChangeAspect="1"/>
              </p:cNvGraphicFramePr>
              <p:nvPr>
                <p:extLst>
                  <p:ext uri="{D42A27DB-BD31-4B8C-83A1-F6EECF244321}">
                    <p14:modId xmlns:p14="http://schemas.microsoft.com/office/powerpoint/2010/main" val="1036317953"/>
                  </p:ext>
                </p:extLst>
              </p:nvPr>
            </p:nvGraphicFramePr>
            <p:xfrm>
              <a:off x="8525821" y="3210225"/>
              <a:ext cx="415059" cy="233471"/>
            </p:xfrm>
            <a:graphic>
              <a:graphicData uri="http://schemas.microsoft.com/office/powerpoint/2016/slidezoom">
                <pslz:sldZm>
                  <pslz:sldZmObj sldId="271" cId="829730001">
                    <pslz:zmPr id="{7C91878C-6652-2345-882B-D4372DA4D761}" returnToParent="0" transitionDur="1000">
                      <p166:blipFill xmlns:p166="http://schemas.microsoft.com/office/powerpoint/2016/6/main">
                        <a:blip r:embed="rId11"/>
                        <a:stretch>
                          <a:fillRect/>
                        </a:stretch>
                      </p166:blipFill>
                      <p166:spPr xmlns:p166="http://schemas.microsoft.com/office/powerpoint/2016/6/main">
                        <a:xfrm>
                          <a:off x="0" y="0"/>
                          <a:ext cx="415059" cy="233471"/>
                        </a:xfrm>
                        <a:prstGeom prst="rect">
                          <a:avLst/>
                        </a:prstGeom>
                        <a:ln w="3175">
                          <a:solidFill>
                            <a:prstClr val="ltGray"/>
                          </a:solidFill>
                        </a:ln>
                      </p166:spPr>
                    </pslz:zmPr>
                  </pslz:sldZmObj>
                </pslz:sldZm>
              </a:graphicData>
            </a:graphic>
          </p:graphicFrame>
        </mc:Choice>
        <mc:Fallback xmlns="">
          <p:pic>
            <p:nvPicPr>
              <p:cNvPr id="11" name="Zoom de diapositive 10">
                <a:hlinkClick r:id="rId12" action="ppaction://hlinksldjump"/>
                <a:extLst>
                  <a:ext uri="{FF2B5EF4-FFF2-40B4-BE49-F238E27FC236}">
                    <a16:creationId xmlns:a16="http://schemas.microsoft.com/office/drawing/2014/main" id="{2946C723-D887-DCF1-9A95-CF9BB4B2F78F}"/>
                  </a:ext>
                </a:extLst>
              </p:cNvPr>
              <p:cNvPicPr>
                <a:picLocks noGrp="1" noRot="1" noChangeAspect="1" noMove="1" noResize="1" noEditPoints="1" noAdjustHandles="1" noChangeArrowheads="1" noChangeShapeType="1"/>
              </p:cNvPicPr>
              <p:nvPr/>
            </p:nvPicPr>
            <p:blipFill>
              <a:blip r:embed="rId13"/>
              <a:stretch>
                <a:fillRect/>
              </a:stretch>
            </p:blipFill>
            <p:spPr>
              <a:xfrm>
                <a:off x="8525821" y="3210225"/>
                <a:ext cx="415059" cy="23347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 name="Zoom de diapositive 11">
                <a:extLst>
                  <a:ext uri="{FF2B5EF4-FFF2-40B4-BE49-F238E27FC236}">
                    <a16:creationId xmlns:a16="http://schemas.microsoft.com/office/drawing/2014/main" id="{E2DC7CBE-F676-E508-53B3-24E6A5EAD7B0}"/>
                  </a:ext>
                </a:extLst>
              </p:cNvPr>
              <p:cNvGraphicFramePr>
                <a:graphicFrameLocks noChangeAspect="1"/>
              </p:cNvGraphicFramePr>
              <p:nvPr>
                <p:extLst>
                  <p:ext uri="{D42A27DB-BD31-4B8C-83A1-F6EECF244321}">
                    <p14:modId xmlns:p14="http://schemas.microsoft.com/office/powerpoint/2010/main" val="498093160"/>
                  </p:ext>
                </p:extLst>
              </p:nvPr>
            </p:nvGraphicFramePr>
            <p:xfrm>
              <a:off x="10839651" y="3235001"/>
              <a:ext cx="413368" cy="232520"/>
            </p:xfrm>
            <a:graphic>
              <a:graphicData uri="http://schemas.microsoft.com/office/powerpoint/2016/slidezoom">
                <pslz:sldZm>
                  <pslz:sldZmObj sldId="272" cId="17685953">
                    <pslz:zmPr id="{73D1B2D8-0A58-A941-BC1E-58BD91FA3294}" returnToParent="0" transitionDur="1000">
                      <p166:blipFill xmlns:p166="http://schemas.microsoft.com/office/powerpoint/2016/6/main">
                        <a:blip r:embed="rId14"/>
                        <a:stretch>
                          <a:fillRect/>
                        </a:stretch>
                      </p166:blipFill>
                      <p166:spPr xmlns:p166="http://schemas.microsoft.com/office/powerpoint/2016/6/main">
                        <a:xfrm>
                          <a:off x="0" y="0"/>
                          <a:ext cx="413368" cy="232520"/>
                        </a:xfrm>
                        <a:prstGeom prst="rect">
                          <a:avLst/>
                        </a:prstGeom>
                        <a:ln w="3175">
                          <a:solidFill>
                            <a:prstClr val="ltGray"/>
                          </a:solidFill>
                        </a:ln>
                      </p166:spPr>
                    </pslz:zmPr>
                  </pslz:sldZmObj>
                </pslz:sldZm>
              </a:graphicData>
            </a:graphic>
          </p:graphicFrame>
        </mc:Choice>
        <mc:Fallback xmlns="">
          <p:pic>
            <p:nvPicPr>
              <p:cNvPr id="12" name="Zoom de diapositive 11">
                <a:hlinkClick r:id="rId15" action="ppaction://hlinksldjump"/>
                <a:extLst>
                  <a:ext uri="{FF2B5EF4-FFF2-40B4-BE49-F238E27FC236}">
                    <a16:creationId xmlns:a16="http://schemas.microsoft.com/office/drawing/2014/main" id="{E2DC7CBE-F676-E508-53B3-24E6A5EAD7B0}"/>
                  </a:ext>
                </a:extLst>
              </p:cNvPr>
              <p:cNvPicPr>
                <a:picLocks noGrp="1" noRot="1" noChangeAspect="1" noMove="1" noResize="1" noEditPoints="1" noAdjustHandles="1" noChangeArrowheads="1" noChangeShapeType="1"/>
              </p:cNvPicPr>
              <p:nvPr/>
            </p:nvPicPr>
            <p:blipFill>
              <a:blip r:embed="rId16"/>
              <a:stretch>
                <a:fillRect/>
              </a:stretch>
            </p:blipFill>
            <p:spPr>
              <a:xfrm>
                <a:off x="10839651" y="3235001"/>
                <a:ext cx="413368" cy="232520"/>
              </a:xfrm>
              <a:prstGeom prst="rect">
                <a:avLst/>
              </a:prstGeom>
              <a:ln w="3175">
                <a:solidFill>
                  <a:prstClr val="ltGray"/>
                </a:solidFill>
              </a:ln>
            </p:spPr>
          </p:pic>
        </mc:Fallback>
      </mc:AlternateContent>
      <p:sp>
        <p:nvSpPr>
          <p:cNvPr id="4" name="ZoneTexte 3">
            <a:extLst>
              <a:ext uri="{FF2B5EF4-FFF2-40B4-BE49-F238E27FC236}">
                <a16:creationId xmlns:a16="http://schemas.microsoft.com/office/drawing/2014/main" id="{42FF895C-B96B-9272-1B55-5292051551D2}"/>
              </a:ext>
            </a:extLst>
          </p:cNvPr>
          <p:cNvSpPr txBox="1"/>
          <p:nvPr/>
        </p:nvSpPr>
        <p:spPr>
          <a:xfrm>
            <a:off x="324464" y="2644170"/>
            <a:ext cx="12196917" cy="1569660"/>
          </a:xfrm>
          <a:prstGeom prst="rect">
            <a:avLst/>
          </a:prstGeom>
          <a:noFill/>
        </p:spPr>
        <p:txBody>
          <a:bodyPr wrap="square" rtlCol="0">
            <a:spAutoFit/>
          </a:bodyPr>
          <a:lstStyle/>
          <a:p>
            <a:r>
              <a:rPr lang="fr-FR" sz="9600" b="1" dirty="0">
                <a:solidFill>
                  <a:schemeClr val="bg1"/>
                </a:solidFill>
                <a:latin typeface="Berlin Sans FB" panose="020E0602020502020306" pitchFamily="34" charset="77"/>
                <a:ea typeface="STHupo" panose="02010800040101010101" pitchFamily="2" charset="-122"/>
              </a:rPr>
              <a:t>ANALYSE BIVARIEE</a:t>
            </a:r>
          </a:p>
        </p:txBody>
      </p:sp>
      <p:pic>
        <p:nvPicPr>
          <p:cNvPr id="7" name="Image 6">
            <a:extLst>
              <a:ext uri="{FF2B5EF4-FFF2-40B4-BE49-F238E27FC236}">
                <a16:creationId xmlns:a16="http://schemas.microsoft.com/office/drawing/2014/main" id="{39EB7A30-7B5E-F416-48DA-027D3F0382E1}"/>
              </a:ext>
            </a:extLst>
          </p:cNvPr>
          <p:cNvPicPr>
            <a:picLocks noChangeAspect="1"/>
          </p:cNvPicPr>
          <p:nvPr/>
        </p:nvPicPr>
        <p:blipFill>
          <a:blip r:embed="rId17"/>
          <a:srcRect t="53137"/>
          <a:stretch/>
        </p:blipFill>
        <p:spPr>
          <a:xfrm>
            <a:off x="0" y="3429000"/>
            <a:ext cx="12106606" cy="1762432"/>
          </a:xfrm>
          <a:prstGeom prst="rect">
            <a:avLst/>
          </a:prstGeom>
        </p:spPr>
      </p:pic>
      <p:pic>
        <p:nvPicPr>
          <p:cNvPr id="5" name="Image 4">
            <a:extLst>
              <a:ext uri="{FF2B5EF4-FFF2-40B4-BE49-F238E27FC236}">
                <a16:creationId xmlns:a16="http://schemas.microsoft.com/office/drawing/2014/main" id="{8AEC4945-A9A3-1E17-733B-3FE7FF871878}"/>
              </a:ext>
            </a:extLst>
          </p:cNvPr>
          <p:cNvPicPr>
            <a:picLocks noChangeAspect="1"/>
          </p:cNvPicPr>
          <p:nvPr/>
        </p:nvPicPr>
        <p:blipFill>
          <a:blip r:embed="rId17"/>
          <a:srcRect l="-2" r="-2" b="47070"/>
          <a:stretch/>
        </p:blipFill>
        <p:spPr>
          <a:xfrm>
            <a:off x="-23738" y="1430593"/>
            <a:ext cx="12154082" cy="1998407"/>
          </a:xfrm>
          <a:prstGeom prst="rect">
            <a:avLst/>
          </a:prstGeom>
        </p:spPr>
      </p:pic>
      <p:sp>
        <p:nvSpPr>
          <p:cNvPr id="13" name="ZoneTexte 12">
            <a:extLst>
              <a:ext uri="{FF2B5EF4-FFF2-40B4-BE49-F238E27FC236}">
                <a16:creationId xmlns:a16="http://schemas.microsoft.com/office/drawing/2014/main" id="{61079900-A84D-6D6E-F987-90DD7DD1E724}"/>
              </a:ext>
            </a:extLst>
          </p:cNvPr>
          <p:cNvSpPr txBox="1"/>
          <p:nvPr/>
        </p:nvSpPr>
        <p:spPr>
          <a:xfrm>
            <a:off x="11486532" y="6038571"/>
            <a:ext cx="839159"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14</a:t>
            </a:r>
          </a:p>
        </p:txBody>
      </p:sp>
    </p:spTree>
    <p:extLst>
      <p:ext uri="{BB962C8B-B14F-4D97-AF65-F5344CB8AC3E}">
        <p14:creationId xmlns:p14="http://schemas.microsoft.com/office/powerpoint/2010/main" val="4117038897"/>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a:extLst>
            <a:ext uri="{FF2B5EF4-FFF2-40B4-BE49-F238E27FC236}">
              <a16:creationId xmlns:a16="http://schemas.microsoft.com/office/drawing/2014/main" id="{935E460E-A40E-8D88-3B96-4FA82098076F}"/>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AB502F50-28CC-387E-51D6-1D1ED535E177}"/>
              </a:ext>
            </a:extLst>
          </p:cNvPr>
          <p:cNvPicPr>
            <a:picLocks noChangeAspect="1"/>
          </p:cNvPicPr>
          <p:nvPr/>
        </p:nvPicPr>
        <p:blipFill>
          <a:blip r:embed="rId2"/>
          <a:srcRect t="53137"/>
          <a:stretch/>
        </p:blipFill>
        <p:spPr>
          <a:xfrm>
            <a:off x="85394" y="3864601"/>
            <a:ext cx="12106606" cy="1762432"/>
          </a:xfrm>
          <a:prstGeom prst="rect">
            <a:avLst/>
          </a:prstGeom>
        </p:spPr>
      </p:pic>
      <p:pic>
        <p:nvPicPr>
          <p:cNvPr id="5" name="Image 4">
            <a:extLst>
              <a:ext uri="{FF2B5EF4-FFF2-40B4-BE49-F238E27FC236}">
                <a16:creationId xmlns:a16="http://schemas.microsoft.com/office/drawing/2014/main" id="{78FA5EC2-41A2-BADE-B6D2-41CD368DD9C1}"/>
              </a:ext>
            </a:extLst>
          </p:cNvPr>
          <p:cNvPicPr>
            <a:picLocks noChangeAspect="1"/>
          </p:cNvPicPr>
          <p:nvPr/>
        </p:nvPicPr>
        <p:blipFill>
          <a:blip r:embed="rId2"/>
          <a:srcRect l="-2" r="-2" b="47070"/>
          <a:stretch/>
        </p:blipFill>
        <p:spPr>
          <a:xfrm>
            <a:off x="42697" y="645763"/>
            <a:ext cx="12154082" cy="1998407"/>
          </a:xfrm>
          <a:prstGeom prst="rect">
            <a:avLst/>
          </a:prstGeom>
        </p:spPr>
      </p:pic>
      <mc:AlternateContent xmlns:mc="http://schemas.openxmlformats.org/markup-compatibility/2006" xmlns:pslz="http://schemas.microsoft.com/office/powerpoint/2016/slidezoom">
        <mc:Choice Requires="pslz">
          <p:graphicFrame>
            <p:nvGraphicFramePr>
              <p:cNvPr id="8" name="Zoom de diapositive 7">
                <a:extLst>
                  <a:ext uri="{FF2B5EF4-FFF2-40B4-BE49-F238E27FC236}">
                    <a16:creationId xmlns:a16="http://schemas.microsoft.com/office/drawing/2014/main" id="{D5072821-A3C6-3AEF-C285-6194CD20F1EF}"/>
                  </a:ext>
                </a:extLst>
              </p:cNvPr>
              <p:cNvGraphicFramePr>
                <a:graphicFrameLocks noChangeAspect="1"/>
              </p:cNvGraphicFramePr>
              <p:nvPr>
                <p:extLst>
                  <p:ext uri="{D42A27DB-BD31-4B8C-83A1-F6EECF244321}">
                    <p14:modId xmlns:p14="http://schemas.microsoft.com/office/powerpoint/2010/main" val="3847036002"/>
                  </p:ext>
                </p:extLst>
              </p:nvPr>
            </p:nvGraphicFramePr>
            <p:xfrm>
              <a:off x="424680" y="2753401"/>
              <a:ext cx="1738605" cy="977965"/>
            </p:xfrm>
            <a:graphic>
              <a:graphicData uri="http://schemas.microsoft.com/office/powerpoint/2016/slidezoom">
                <pslz:sldZm>
                  <pslz:sldZmObj sldId="268" cId="2094166904">
                    <pslz:zmPr id="{FA004944-0836-F440-9A46-6175D8D319BC}" returnToParent="0" transitionDur="1000">
                      <p166:blipFill xmlns:p166="http://schemas.microsoft.com/office/powerpoint/2016/6/main">
                        <a:blip r:embed="rId3"/>
                        <a:stretch>
                          <a:fillRect/>
                        </a:stretch>
                      </p166:blipFill>
                      <p166:spPr xmlns:p166="http://schemas.microsoft.com/office/powerpoint/2016/6/main">
                        <a:xfrm>
                          <a:off x="0" y="0"/>
                          <a:ext cx="1738605" cy="977965"/>
                        </a:xfrm>
                        <a:prstGeom prst="rect">
                          <a:avLst/>
                        </a:prstGeom>
                        <a:ln w="3175">
                          <a:solidFill>
                            <a:prstClr val="ltGray"/>
                          </a:solidFill>
                        </a:ln>
                      </p166:spPr>
                    </pslz:zmPr>
                  </pslz:sldZmObj>
                </pslz:sldZm>
              </a:graphicData>
            </a:graphic>
          </p:graphicFrame>
        </mc:Choice>
        <mc:Fallback xmlns="">
          <p:pic>
            <p:nvPicPr>
              <p:cNvPr id="8" name="Zoom de diapositive 7">
                <a:hlinkClick r:id="rId4" action="ppaction://hlinksldjump"/>
                <a:extLst>
                  <a:ext uri="{FF2B5EF4-FFF2-40B4-BE49-F238E27FC236}">
                    <a16:creationId xmlns:a16="http://schemas.microsoft.com/office/drawing/2014/main" id="{D5072821-A3C6-3AEF-C285-6194CD20F1EF}"/>
                  </a:ext>
                </a:extLst>
              </p:cNvPr>
              <p:cNvPicPr>
                <a:picLocks noGrp="1" noRot="1" noChangeAspect="1" noMove="1" noResize="1" noEditPoints="1" noAdjustHandles="1" noChangeArrowheads="1" noChangeShapeType="1"/>
              </p:cNvPicPr>
              <p:nvPr/>
            </p:nvPicPr>
            <p:blipFill>
              <a:blip r:embed="rId5"/>
              <a:stretch>
                <a:fillRect/>
              </a:stretch>
            </p:blipFill>
            <p:spPr>
              <a:xfrm>
                <a:off x="424680" y="2753401"/>
                <a:ext cx="1738605" cy="97796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Zoom de diapositive 9">
                <a:extLst>
                  <a:ext uri="{FF2B5EF4-FFF2-40B4-BE49-F238E27FC236}">
                    <a16:creationId xmlns:a16="http://schemas.microsoft.com/office/drawing/2014/main" id="{F6739C9F-3E61-656A-B51B-79C470622F0B}"/>
                  </a:ext>
                </a:extLst>
              </p:cNvPr>
              <p:cNvGraphicFramePr>
                <a:graphicFrameLocks noChangeAspect="1"/>
              </p:cNvGraphicFramePr>
              <p:nvPr>
                <p:extLst>
                  <p:ext uri="{D42A27DB-BD31-4B8C-83A1-F6EECF244321}">
                    <p14:modId xmlns:p14="http://schemas.microsoft.com/office/powerpoint/2010/main" val="3877617204"/>
                  </p:ext>
                </p:extLst>
              </p:nvPr>
            </p:nvGraphicFramePr>
            <p:xfrm>
              <a:off x="2558276" y="2720148"/>
              <a:ext cx="1932793" cy="1087196"/>
            </p:xfrm>
            <a:graphic>
              <a:graphicData uri="http://schemas.microsoft.com/office/powerpoint/2016/slidezoom">
                <pslz:sldZm>
                  <pslz:sldZmObj sldId="269" cId="536397171">
                    <pslz:zmPr id="{DDC18A97-5E74-8C48-A30A-2C44ED643AC5}" returnToParent="0" transitionDur="1000">
                      <p166:blipFill xmlns:p166="http://schemas.microsoft.com/office/powerpoint/2016/6/main">
                        <a:blip r:embed="rId6"/>
                        <a:stretch>
                          <a:fillRect/>
                        </a:stretch>
                      </p166:blipFill>
                      <p166:spPr xmlns:p166="http://schemas.microsoft.com/office/powerpoint/2016/6/main">
                        <a:xfrm>
                          <a:off x="0" y="0"/>
                          <a:ext cx="1932793" cy="1087196"/>
                        </a:xfrm>
                        <a:prstGeom prst="rect">
                          <a:avLst/>
                        </a:prstGeom>
                        <a:ln w="3175">
                          <a:solidFill>
                            <a:prstClr val="ltGray"/>
                          </a:solidFill>
                        </a:ln>
                      </p166:spPr>
                    </pslz:zmPr>
                  </pslz:sldZmObj>
                </pslz:sldZm>
              </a:graphicData>
            </a:graphic>
          </p:graphicFrame>
        </mc:Choice>
        <mc:Fallback xmlns="">
          <p:pic>
            <p:nvPicPr>
              <p:cNvPr id="10" name="Zoom de diapositive 9">
                <a:hlinkClick r:id="rId7" action="ppaction://hlinksldjump"/>
                <a:extLst>
                  <a:ext uri="{FF2B5EF4-FFF2-40B4-BE49-F238E27FC236}">
                    <a16:creationId xmlns:a16="http://schemas.microsoft.com/office/drawing/2014/main" id="{F6739C9F-3E61-656A-B51B-79C470622F0B}"/>
                  </a:ext>
                </a:extLst>
              </p:cNvPr>
              <p:cNvPicPr>
                <a:picLocks noGrp="1" noRot="1" noChangeAspect="1" noMove="1" noResize="1" noEditPoints="1" noAdjustHandles="1" noChangeArrowheads="1" noChangeShapeType="1"/>
              </p:cNvPicPr>
              <p:nvPr/>
            </p:nvPicPr>
            <p:blipFill>
              <a:blip r:embed="rId8"/>
              <a:stretch>
                <a:fillRect/>
              </a:stretch>
            </p:blipFill>
            <p:spPr>
              <a:xfrm>
                <a:off x="2558276" y="2720148"/>
                <a:ext cx="1932793" cy="108719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 name="Zoom de diapositive 11">
                <a:extLst>
                  <a:ext uri="{FF2B5EF4-FFF2-40B4-BE49-F238E27FC236}">
                    <a16:creationId xmlns:a16="http://schemas.microsoft.com/office/drawing/2014/main" id="{70D76ABA-4E26-63D1-8413-026B02896C88}"/>
                  </a:ext>
                </a:extLst>
              </p:cNvPr>
              <p:cNvGraphicFramePr>
                <a:graphicFrameLocks noChangeAspect="1"/>
              </p:cNvGraphicFramePr>
              <p:nvPr>
                <p:extLst>
                  <p:ext uri="{D42A27DB-BD31-4B8C-83A1-F6EECF244321}">
                    <p14:modId xmlns:p14="http://schemas.microsoft.com/office/powerpoint/2010/main" val="2165463399"/>
                  </p:ext>
                </p:extLst>
              </p:nvPr>
            </p:nvGraphicFramePr>
            <p:xfrm>
              <a:off x="4745316" y="2701427"/>
              <a:ext cx="1992997" cy="1121060"/>
            </p:xfrm>
            <a:graphic>
              <a:graphicData uri="http://schemas.microsoft.com/office/powerpoint/2016/slidezoom">
                <pslz:sldZm>
                  <pslz:sldZmObj sldId="270" cId="951537987">
                    <pslz:zmPr id="{C1EF4036-DE8D-684B-9E67-22E20C8283AB}" returnToParent="0" transitionDur="1000">
                      <p166:blipFill xmlns:p166="http://schemas.microsoft.com/office/powerpoint/2016/6/main">
                        <a:blip r:embed="rId9"/>
                        <a:stretch>
                          <a:fillRect/>
                        </a:stretch>
                      </p166:blipFill>
                      <p166:spPr xmlns:p166="http://schemas.microsoft.com/office/powerpoint/2016/6/main">
                        <a:xfrm>
                          <a:off x="0" y="0"/>
                          <a:ext cx="1992997" cy="1121060"/>
                        </a:xfrm>
                        <a:prstGeom prst="rect">
                          <a:avLst/>
                        </a:prstGeom>
                        <a:ln w="3175">
                          <a:solidFill>
                            <a:prstClr val="ltGray"/>
                          </a:solidFill>
                        </a:ln>
                      </p166:spPr>
                    </pslz:zmPr>
                  </pslz:sldZmObj>
                </pslz:sldZm>
              </a:graphicData>
            </a:graphic>
          </p:graphicFrame>
        </mc:Choice>
        <mc:Fallback xmlns="">
          <p:pic>
            <p:nvPicPr>
              <p:cNvPr id="12" name="Zoom de diapositive 11">
                <a:hlinkClick r:id="rId10" action="ppaction://hlinksldjump"/>
                <a:extLst>
                  <a:ext uri="{FF2B5EF4-FFF2-40B4-BE49-F238E27FC236}">
                    <a16:creationId xmlns:a16="http://schemas.microsoft.com/office/drawing/2014/main" id="{70D76ABA-4E26-63D1-8413-026B02896C88}"/>
                  </a:ext>
                </a:extLst>
              </p:cNvPr>
              <p:cNvPicPr>
                <a:picLocks noGrp="1" noRot="1" noChangeAspect="1" noMove="1" noResize="1" noEditPoints="1" noAdjustHandles="1" noChangeArrowheads="1" noChangeShapeType="1"/>
              </p:cNvPicPr>
              <p:nvPr/>
            </p:nvPicPr>
            <p:blipFill>
              <a:blip r:embed="rId11"/>
              <a:stretch>
                <a:fillRect/>
              </a:stretch>
            </p:blipFill>
            <p:spPr>
              <a:xfrm>
                <a:off x="4745316" y="2701427"/>
                <a:ext cx="1992997" cy="112106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 name="Zoom de diapositive 13">
                <a:extLst>
                  <a:ext uri="{FF2B5EF4-FFF2-40B4-BE49-F238E27FC236}">
                    <a16:creationId xmlns:a16="http://schemas.microsoft.com/office/drawing/2014/main" id="{2CC58A22-7E14-B914-DB51-2419BB6903BA}"/>
                  </a:ext>
                </a:extLst>
              </p:cNvPr>
              <p:cNvGraphicFramePr>
                <a:graphicFrameLocks noChangeAspect="1"/>
              </p:cNvGraphicFramePr>
              <p:nvPr>
                <p:extLst>
                  <p:ext uri="{D42A27DB-BD31-4B8C-83A1-F6EECF244321}">
                    <p14:modId xmlns:p14="http://schemas.microsoft.com/office/powerpoint/2010/main" val="3174604363"/>
                  </p:ext>
                </p:extLst>
              </p:nvPr>
            </p:nvGraphicFramePr>
            <p:xfrm>
              <a:off x="6992560" y="2660189"/>
              <a:ext cx="2066308" cy="1162298"/>
            </p:xfrm>
            <a:graphic>
              <a:graphicData uri="http://schemas.microsoft.com/office/powerpoint/2016/slidezoom">
                <pslz:sldZm>
                  <pslz:sldZmObj sldId="271" cId="829730001">
                    <pslz:zmPr id="{7C91878C-6652-2345-882B-D4372DA4D761}" returnToParent="0" transitionDur="1000">
                      <p166:blipFill xmlns:p166="http://schemas.microsoft.com/office/powerpoint/2016/6/main">
                        <a:blip r:embed="rId12"/>
                        <a:stretch>
                          <a:fillRect/>
                        </a:stretch>
                      </p166:blipFill>
                      <p166:spPr xmlns:p166="http://schemas.microsoft.com/office/powerpoint/2016/6/main">
                        <a:xfrm>
                          <a:off x="0" y="0"/>
                          <a:ext cx="2066308" cy="1162298"/>
                        </a:xfrm>
                        <a:prstGeom prst="rect">
                          <a:avLst/>
                        </a:prstGeom>
                        <a:ln w="3175">
                          <a:solidFill>
                            <a:prstClr val="ltGray"/>
                          </a:solidFill>
                        </a:ln>
                      </p166:spPr>
                    </pslz:zmPr>
                  </pslz:sldZmObj>
                </pslz:sldZm>
              </a:graphicData>
            </a:graphic>
          </p:graphicFrame>
        </mc:Choice>
        <mc:Fallback xmlns="">
          <p:pic>
            <p:nvPicPr>
              <p:cNvPr id="14" name="Zoom de diapositive 13">
                <a:hlinkClick r:id="rId13" action="ppaction://hlinksldjump"/>
                <a:extLst>
                  <a:ext uri="{FF2B5EF4-FFF2-40B4-BE49-F238E27FC236}">
                    <a16:creationId xmlns:a16="http://schemas.microsoft.com/office/drawing/2014/main" id="{2CC58A22-7E14-B914-DB51-2419BB6903BA}"/>
                  </a:ext>
                </a:extLst>
              </p:cNvPr>
              <p:cNvPicPr>
                <a:picLocks noGrp="1" noRot="1" noChangeAspect="1" noMove="1" noResize="1" noEditPoints="1" noAdjustHandles="1" noChangeArrowheads="1" noChangeShapeType="1"/>
              </p:cNvPicPr>
              <p:nvPr/>
            </p:nvPicPr>
            <p:blipFill>
              <a:blip r:embed="rId14"/>
              <a:stretch>
                <a:fillRect/>
              </a:stretch>
            </p:blipFill>
            <p:spPr>
              <a:xfrm>
                <a:off x="6992560" y="2660189"/>
                <a:ext cx="2066308" cy="116229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6" name="Zoom de diapositive 15">
                <a:extLst>
                  <a:ext uri="{FF2B5EF4-FFF2-40B4-BE49-F238E27FC236}">
                    <a16:creationId xmlns:a16="http://schemas.microsoft.com/office/drawing/2014/main" id="{6A777333-EAB7-1740-515C-0BDEF8C1FDC7}"/>
                  </a:ext>
                </a:extLst>
              </p:cNvPr>
              <p:cNvGraphicFramePr>
                <a:graphicFrameLocks noChangeAspect="1"/>
              </p:cNvGraphicFramePr>
              <p:nvPr>
                <p:extLst>
                  <p:ext uri="{D42A27DB-BD31-4B8C-83A1-F6EECF244321}">
                    <p14:modId xmlns:p14="http://schemas.microsoft.com/office/powerpoint/2010/main" val="1314615622"/>
                  </p:ext>
                </p:extLst>
              </p:nvPr>
            </p:nvGraphicFramePr>
            <p:xfrm>
              <a:off x="9313115" y="2684964"/>
              <a:ext cx="2057891" cy="1157564"/>
            </p:xfrm>
            <a:graphic>
              <a:graphicData uri="http://schemas.microsoft.com/office/powerpoint/2016/slidezoom">
                <pslz:sldZm>
                  <pslz:sldZmObj sldId="272" cId="17685953">
                    <pslz:zmPr id="{73D1B2D8-0A58-A941-BC1E-58BD91FA3294}" returnToParent="0" transitionDur="1000">
                      <p166:blipFill xmlns:p166="http://schemas.microsoft.com/office/powerpoint/2016/6/main">
                        <a:blip r:embed="rId15"/>
                        <a:stretch>
                          <a:fillRect/>
                        </a:stretch>
                      </p166:blipFill>
                      <p166:spPr xmlns:p166="http://schemas.microsoft.com/office/powerpoint/2016/6/main">
                        <a:xfrm>
                          <a:off x="0" y="0"/>
                          <a:ext cx="2057891" cy="1157564"/>
                        </a:xfrm>
                        <a:prstGeom prst="rect">
                          <a:avLst/>
                        </a:prstGeom>
                        <a:ln w="3175">
                          <a:solidFill>
                            <a:prstClr val="ltGray"/>
                          </a:solidFill>
                        </a:ln>
                      </p166:spPr>
                    </pslz:zmPr>
                  </pslz:sldZmObj>
                </pslz:sldZm>
              </a:graphicData>
            </a:graphic>
          </p:graphicFrame>
        </mc:Choice>
        <mc:Fallback xmlns="">
          <p:pic>
            <p:nvPicPr>
              <p:cNvPr id="16" name="Zoom de diapositive 15">
                <a:hlinkClick r:id="rId16" action="ppaction://hlinksldjump"/>
                <a:extLst>
                  <a:ext uri="{FF2B5EF4-FFF2-40B4-BE49-F238E27FC236}">
                    <a16:creationId xmlns:a16="http://schemas.microsoft.com/office/drawing/2014/main" id="{6A777333-EAB7-1740-515C-0BDEF8C1FDC7}"/>
                  </a:ext>
                </a:extLst>
              </p:cNvPr>
              <p:cNvPicPr>
                <a:picLocks noGrp="1" noRot="1" noChangeAspect="1" noMove="1" noResize="1" noEditPoints="1" noAdjustHandles="1" noChangeArrowheads="1" noChangeShapeType="1"/>
              </p:cNvPicPr>
              <p:nvPr/>
            </p:nvPicPr>
            <p:blipFill>
              <a:blip r:embed="rId17"/>
              <a:stretch>
                <a:fillRect/>
              </a:stretch>
            </p:blipFill>
            <p:spPr>
              <a:xfrm>
                <a:off x="9313115" y="2684964"/>
                <a:ext cx="2057891" cy="1157564"/>
              </a:xfrm>
              <a:prstGeom prst="rect">
                <a:avLst/>
              </a:prstGeom>
              <a:ln w="3175">
                <a:solidFill>
                  <a:prstClr val="ltGray"/>
                </a:solidFill>
              </a:ln>
            </p:spPr>
          </p:pic>
        </mc:Fallback>
      </mc:AlternateContent>
      <p:sp>
        <p:nvSpPr>
          <p:cNvPr id="17" name="ZoneTexte 16">
            <a:extLst>
              <a:ext uri="{FF2B5EF4-FFF2-40B4-BE49-F238E27FC236}">
                <a16:creationId xmlns:a16="http://schemas.microsoft.com/office/drawing/2014/main" id="{DB393E61-24EA-8705-A46F-557A170128EF}"/>
              </a:ext>
            </a:extLst>
          </p:cNvPr>
          <p:cNvSpPr txBox="1"/>
          <p:nvPr/>
        </p:nvSpPr>
        <p:spPr>
          <a:xfrm>
            <a:off x="11486532" y="6038571"/>
            <a:ext cx="839159"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15</a:t>
            </a:r>
          </a:p>
        </p:txBody>
      </p:sp>
    </p:spTree>
    <p:extLst>
      <p:ext uri="{BB962C8B-B14F-4D97-AF65-F5344CB8AC3E}">
        <p14:creationId xmlns:p14="http://schemas.microsoft.com/office/powerpoint/2010/main" val="1152863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C06B7892-76B3-736B-5712-E12B6A1194E7}"/>
              </a:ext>
            </a:extLst>
          </p:cNvPr>
          <p:cNvSpPr>
            <a:spLocks noGrp="1"/>
          </p:cNvSpPr>
          <p:nvPr>
            <p:ph type="title"/>
          </p:nvPr>
        </p:nvSpPr>
        <p:spPr>
          <a:xfrm>
            <a:off x="2667001" y="450520"/>
            <a:ext cx="10515600" cy="1325563"/>
          </a:xfrm>
        </p:spPr>
        <p:txBody>
          <a:bodyPr/>
          <a:lstStyle/>
          <a:p>
            <a:r>
              <a:rPr lang="fr-FR" i="1" u="sng" dirty="0">
                <a:solidFill>
                  <a:schemeClr val="bg1"/>
                </a:solidFill>
                <a:latin typeface="Berlin Sans FB" panose="020E0602020502020306" pitchFamily="34" charset="77"/>
              </a:rPr>
              <a:t>Analyse Bivariée: frein/genre</a:t>
            </a:r>
          </a:p>
        </p:txBody>
      </p:sp>
      <p:pic>
        <p:nvPicPr>
          <p:cNvPr id="5" name="Image 4">
            <a:extLst>
              <a:ext uri="{FF2B5EF4-FFF2-40B4-BE49-F238E27FC236}">
                <a16:creationId xmlns:a16="http://schemas.microsoft.com/office/drawing/2014/main" id="{5EC1F94E-B401-2C0B-DC17-9DB580FE0C2E}"/>
              </a:ext>
            </a:extLst>
          </p:cNvPr>
          <p:cNvPicPr>
            <a:picLocks noChangeAspect="1"/>
          </p:cNvPicPr>
          <p:nvPr/>
        </p:nvPicPr>
        <p:blipFill>
          <a:blip r:embed="rId2"/>
          <a:stretch>
            <a:fillRect/>
          </a:stretch>
        </p:blipFill>
        <p:spPr>
          <a:xfrm>
            <a:off x="1498368" y="1933631"/>
            <a:ext cx="9195264" cy="4473849"/>
          </a:xfrm>
          <a:prstGeom prst="rect">
            <a:avLst/>
          </a:prstGeom>
        </p:spPr>
      </p:pic>
      <p:sp>
        <p:nvSpPr>
          <p:cNvPr id="7" name="ZoneTexte 6">
            <a:extLst>
              <a:ext uri="{FF2B5EF4-FFF2-40B4-BE49-F238E27FC236}">
                <a16:creationId xmlns:a16="http://schemas.microsoft.com/office/drawing/2014/main" id="{F7F23D67-0FF9-F98D-9A57-1CA31638644C}"/>
              </a:ext>
            </a:extLst>
          </p:cNvPr>
          <p:cNvSpPr txBox="1"/>
          <p:nvPr/>
        </p:nvSpPr>
        <p:spPr>
          <a:xfrm>
            <a:off x="11486532" y="6038571"/>
            <a:ext cx="839159"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16</a:t>
            </a:r>
          </a:p>
        </p:txBody>
      </p:sp>
    </p:spTree>
    <p:extLst>
      <p:ext uri="{BB962C8B-B14F-4D97-AF65-F5344CB8AC3E}">
        <p14:creationId xmlns:p14="http://schemas.microsoft.com/office/powerpoint/2010/main" val="2094166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EE55C187-5678-3F86-5D40-1E5FED210500}"/>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A823442C-A19A-4EF4-B2B5-1D32D140556B}"/>
              </a:ext>
            </a:extLst>
          </p:cNvPr>
          <p:cNvSpPr>
            <a:spLocks noGrp="1"/>
          </p:cNvSpPr>
          <p:nvPr>
            <p:ph type="title"/>
          </p:nvPr>
        </p:nvSpPr>
        <p:spPr>
          <a:xfrm>
            <a:off x="2814484" y="409370"/>
            <a:ext cx="10515600" cy="1325563"/>
          </a:xfrm>
        </p:spPr>
        <p:txBody>
          <a:bodyPr/>
          <a:lstStyle/>
          <a:p>
            <a:r>
              <a:rPr lang="fr-FR" i="1" u="sng" dirty="0">
                <a:solidFill>
                  <a:schemeClr val="bg1"/>
                </a:solidFill>
                <a:latin typeface="Berlin Sans FB" panose="020E0602020502020306" pitchFamily="34" charset="77"/>
              </a:rPr>
              <a:t>Analyse Bivariée: frein/âge</a:t>
            </a:r>
          </a:p>
        </p:txBody>
      </p:sp>
      <p:pic>
        <p:nvPicPr>
          <p:cNvPr id="7" name="Image 6">
            <a:extLst>
              <a:ext uri="{FF2B5EF4-FFF2-40B4-BE49-F238E27FC236}">
                <a16:creationId xmlns:a16="http://schemas.microsoft.com/office/drawing/2014/main" id="{63C714F1-5CFF-3338-8657-A6B1330C7CEE}"/>
              </a:ext>
            </a:extLst>
          </p:cNvPr>
          <p:cNvPicPr>
            <a:picLocks noChangeAspect="1"/>
          </p:cNvPicPr>
          <p:nvPr/>
        </p:nvPicPr>
        <p:blipFill>
          <a:blip r:embed="rId2"/>
          <a:stretch>
            <a:fillRect/>
          </a:stretch>
        </p:blipFill>
        <p:spPr>
          <a:xfrm>
            <a:off x="1755790" y="1734933"/>
            <a:ext cx="9110382" cy="4201665"/>
          </a:xfrm>
          <a:prstGeom prst="rect">
            <a:avLst/>
          </a:prstGeom>
        </p:spPr>
      </p:pic>
      <p:sp>
        <p:nvSpPr>
          <p:cNvPr id="8" name="ZoneTexte 7">
            <a:extLst>
              <a:ext uri="{FF2B5EF4-FFF2-40B4-BE49-F238E27FC236}">
                <a16:creationId xmlns:a16="http://schemas.microsoft.com/office/drawing/2014/main" id="{434DCC3A-5DD2-05F7-594E-A209C74DD674}"/>
              </a:ext>
            </a:extLst>
          </p:cNvPr>
          <p:cNvSpPr txBox="1"/>
          <p:nvPr/>
        </p:nvSpPr>
        <p:spPr>
          <a:xfrm>
            <a:off x="11486532" y="6038571"/>
            <a:ext cx="839159"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17</a:t>
            </a:r>
          </a:p>
        </p:txBody>
      </p:sp>
      <p:pic>
        <p:nvPicPr>
          <p:cNvPr id="2" name="Image 1">
            <a:extLst>
              <a:ext uri="{FF2B5EF4-FFF2-40B4-BE49-F238E27FC236}">
                <a16:creationId xmlns:a16="http://schemas.microsoft.com/office/drawing/2014/main" id="{E1354F27-F3F2-8321-C736-94E2D0F96968}"/>
              </a:ext>
            </a:extLst>
          </p:cNvPr>
          <p:cNvPicPr>
            <a:picLocks noChangeAspect="1"/>
          </p:cNvPicPr>
          <p:nvPr/>
        </p:nvPicPr>
        <p:blipFill>
          <a:blip r:embed="rId3"/>
          <a:stretch>
            <a:fillRect/>
          </a:stretch>
        </p:blipFill>
        <p:spPr>
          <a:xfrm>
            <a:off x="8128602" y="3137836"/>
            <a:ext cx="1928962" cy="291164"/>
          </a:xfrm>
          <a:prstGeom prst="rect">
            <a:avLst/>
          </a:prstGeom>
        </p:spPr>
      </p:pic>
    </p:spTree>
    <p:extLst>
      <p:ext uri="{BB962C8B-B14F-4D97-AF65-F5344CB8AC3E}">
        <p14:creationId xmlns:p14="http://schemas.microsoft.com/office/powerpoint/2010/main" val="536397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9AE6B09C-9D9C-3190-2A76-C9A610C86A5D}"/>
            </a:ext>
          </a:extLst>
        </p:cNvPr>
        <p:cNvGrpSpPr/>
        <p:nvPr/>
      </p:nvGrpSpPr>
      <p:grpSpPr>
        <a:xfrm>
          <a:off x="0" y="0"/>
          <a:ext cx="0" cy="0"/>
          <a:chOff x="0" y="0"/>
          <a:chExt cx="0" cy="0"/>
        </a:xfrm>
      </p:grpSpPr>
      <p:sp>
        <p:nvSpPr>
          <p:cNvPr id="8" name="Titre 1">
            <a:extLst>
              <a:ext uri="{FF2B5EF4-FFF2-40B4-BE49-F238E27FC236}">
                <a16:creationId xmlns:a16="http://schemas.microsoft.com/office/drawing/2014/main" id="{F910CB58-FDF0-1E3E-E942-080B02AF2332}"/>
              </a:ext>
            </a:extLst>
          </p:cNvPr>
          <p:cNvSpPr>
            <a:spLocks noGrp="1"/>
          </p:cNvSpPr>
          <p:nvPr>
            <p:ph type="title"/>
          </p:nvPr>
        </p:nvSpPr>
        <p:spPr>
          <a:xfrm>
            <a:off x="1796845" y="379873"/>
            <a:ext cx="10515600" cy="1325563"/>
          </a:xfrm>
        </p:spPr>
        <p:txBody>
          <a:bodyPr/>
          <a:lstStyle/>
          <a:p>
            <a:r>
              <a:rPr lang="fr-FR" i="1" u="sng" dirty="0">
                <a:solidFill>
                  <a:schemeClr val="bg1"/>
                </a:solidFill>
                <a:latin typeface="Berlin Sans FB" panose="020E0602020502020306" pitchFamily="34" charset="77"/>
              </a:rPr>
              <a:t>Analyse Bivariée: frein/département</a:t>
            </a:r>
          </a:p>
        </p:txBody>
      </p:sp>
      <p:pic>
        <p:nvPicPr>
          <p:cNvPr id="9" name="Image 8">
            <a:extLst>
              <a:ext uri="{FF2B5EF4-FFF2-40B4-BE49-F238E27FC236}">
                <a16:creationId xmlns:a16="http://schemas.microsoft.com/office/drawing/2014/main" id="{7407E9B8-FFFE-D021-786F-C4D9B114F60B}"/>
              </a:ext>
            </a:extLst>
          </p:cNvPr>
          <p:cNvPicPr>
            <a:picLocks noChangeAspect="1"/>
          </p:cNvPicPr>
          <p:nvPr/>
        </p:nvPicPr>
        <p:blipFill>
          <a:blip r:embed="rId2"/>
          <a:stretch>
            <a:fillRect/>
          </a:stretch>
        </p:blipFill>
        <p:spPr>
          <a:xfrm>
            <a:off x="1366378" y="1705436"/>
            <a:ext cx="9459243" cy="4543954"/>
          </a:xfrm>
          <a:prstGeom prst="rect">
            <a:avLst/>
          </a:prstGeom>
        </p:spPr>
      </p:pic>
      <p:sp>
        <p:nvSpPr>
          <p:cNvPr id="10" name="ZoneTexte 9">
            <a:extLst>
              <a:ext uri="{FF2B5EF4-FFF2-40B4-BE49-F238E27FC236}">
                <a16:creationId xmlns:a16="http://schemas.microsoft.com/office/drawing/2014/main" id="{B9A987D4-CCD4-3925-707F-27A8375C9CFA}"/>
              </a:ext>
            </a:extLst>
          </p:cNvPr>
          <p:cNvSpPr txBox="1"/>
          <p:nvPr/>
        </p:nvSpPr>
        <p:spPr>
          <a:xfrm>
            <a:off x="11486532" y="6038571"/>
            <a:ext cx="839159"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18</a:t>
            </a:r>
          </a:p>
        </p:txBody>
      </p:sp>
      <p:pic>
        <p:nvPicPr>
          <p:cNvPr id="2" name="Image 1">
            <a:extLst>
              <a:ext uri="{FF2B5EF4-FFF2-40B4-BE49-F238E27FC236}">
                <a16:creationId xmlns:a16="http://schemas.microsoft.com/office/drawing/2014/main" id="{56080A9F-C8A7-A07C-4FF2-A48426C880E2}"/>
              </a:ext>
            </a:extLst>
          </p:cNvPr>
          <p:cNvPicPr>
            <a:picLocks noChangeAspect="1"/>
          </p:cNvPicPr>
          <p:nvPr/>
        </p:nvPicPr>
        <p:blipFill>
          <a:blip r:embed="rId3"/>
          <a:stretch>
            <a:fillRect/>
          </a:stretch>
        </p:blipFill>
        <p:spPr>
          <a:xfrm>
            <a:off x="8107079" y="3646258"/>
            <a:ext cx="1450809" cy="440616"/>
          </a:xfrm>
          <a:prstGeom prst="rect">
            <a:avLst/>
          </a:prstGeom>
        </p:spPr>
      </p:pic>
    </p:spTree>
    <p:extLst>
      <p:ext uri="{BB962C8B-B14F-4D97-AF65-F5344CB8AC3E}">
        <p14:creationId xmlns:p14="http://schemas.microsoft.com/office/powerpoint/2010/main" val="951537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36C37448-D0F0-738F-08A4-63D38145A492}"/>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DECB9D6C-73A9-28EB-648E-4D9027E3C017}"/>
              </a:ext>
            </a:extLst>
          </p:cNvPr>
          <p:cNvSpPr>
            <a:spLocks noGrp="1"/>
          </p:cNvSpPr>
          <p:nvPr>
            <p:ph type="title"/>
          </p:nvPr>
        </p:nvSpPr>
        <p:spPr>
          <a:xfrm>
            <a:off x="2298290" y="394622"/>
            <a:ext cx="10515600" cy="1325563"/>
          </a:xfrm>
        </p:spPr>
        <p:txBody>
          <a:bodyPr/>
          <a:lstStyle/>
          <a:p>
            <a:r>
              <a:rPr lang="fr-FR" i="1" u="sng" dirty="0">
                <a:solidFill>
                  <a:schemeClr val="bg1"/>
                </a:solidFill>
                <a:latin typeface="Berlin Sans FB" panose="020E0602020502020306" pitchFamily="34" charset="77"/>
              </a:rPr>
              <a:t>Analyse Bivariée: frein/filière</a:t>
            </a:r>
          </a:p>
        </p:txBody>
      </p:sp>
      <p:pic>
        <p:nvPicPr>
          <p:cNvPr id="5" name="Image 4">
            <a:extLst>
              <a:ext uri="{FF2B5EF4-FFF2-40B4-BE49-F238E27FC236}">
                <a16:creationId xmlns:a16="http://schemas.microsoft.com/office/drawing/2014/main" id="{80A34FEA-AC68-F12C-2878-F4D3B81EA0B0}"/>
              </a:ext>
            </a:extLst>
          </p:cNvPr>
          <p:cNvPicPr>
            <a:picLocks noChangeAspect="1"/>
          </p:cNvPicPr>
          <p:nvPr/>
        </p:nvPicPr>
        <p:blipFill>
          <a:blip r:embed="rId2"/>
          <a:stretch>
            <a:fillRect/>
          </a:stretch>
        </p:blipFill>
        <p:spPr>
          <a:xfrm>
            <a:off x="1282271" y="1720185"/>
            <a:ext cx="9627458" cy="4402055"/>
          </a:xfrm>
          <a:prstGeom prst="rect">
            <a:avLst/>
          </a:prstGeom>
        </p:spPr>
      </p:pic>
      <p:sp>
        <p:nvSpPr>
          <p:cNvPr id="6" name="ZoneTexte 5">
            <a:extLst>
              <a:ext uri="{FF2B5EF4-FFF2-40B4-BE49-F238E27FC236}">
                <a16:creationId xmlns:a16="http://schemas.microsoft.com/office/drawing/2014/main" id="{FC5D5C35-8B93-9AA5-0D3A-6704CD8787FF}"/>
              </a:ext>
            </a:extLst>
          </p:cNvPr>
          <p:cNvSpPr txBox="1"/>
          <p:nvPr/>
        </p:nvSpPr>
        <p:spPr>
          <a:xfrm>
            <a:off x="11486532" y="6038571"/>
            <a:ext cx="839159"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19</a:t>
            </a:r>
          </a:p>
        </p:txBody>
      </p:sp>
    </p:spTree>
    <p:extLst>
      <p:ext uri="{BB962C8B-B14F-4D97-AF65-F5344CB8AC3E}">
        <p14:creationId xmlns:p14="http://schemas.microsoft.com/office/powerpoint/2010/main" val="829730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C5520B38-D60B-7B64-9EEE-2E5925C3D51D}"/>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3FCC6D0B-40D2-3A4A-1D4C-50611CC0114E}"/>
              </a:ext>
            </a:extLst>
          </p:cNvPr>
          <p:cNvSpPr>
            <a:spLocks noGrp="1"/>
          </p:cNvSpPr>
          <p:nvPr>
            <p:ph type="title"/>
          </p:nvPr>
        </p:nvSpPr>
        <p:spPr>
          <a:xfrm>
            <a:off x="0" y="-93621"/>
            <a:ext cx="10515600" cy="1325563"/>
          </a:xfrm>
        </p:spPr>
        <p:txBody>
          <a:bodyPr>
            <a:normAutofit/>
          </a:bodyPr>
          <a:lstStyle/>
          <a:p>
            <a:r>
              <a:rPr lang="fr-FR" sz="2800" b="1" i="1" u="sng" dirty="0">
                <a:solidFill>
                  <a:schemeClr val="bg1"/>
                </a:solidFill>
                <a:latin typeface="Berlin Sans FB" panose="020E0602020502020306" pitchFamily="34" charset="77"/>
              </a:rPr>
              <a:t>Test Du Chi² Genre/Frein</a:t>
            </a:r>
            <a:br>
              <a:rPr lang="fr-FR" sz="1600" dirty="0">
                <a:solidFill>
                  <a:schemeClr val="bg1"/>
                </a:solidFill>
                <a:latin typeface="Berlin Sans FB" panose="020E0602020502020306" pitchFamily="34" charset="77"/>
              </a:rPr>
            </a:br>
            <a:endParaRPr lang="fr-FR" sz="2000" dirty="0">
              <a:solidFill>
                <a:schemeClr val="bg1"/>
              </a:solidFill>
              <a:latin typeface="Berlin Sans FB" panose="020E0602020502020306" pitchFamily="34" charset="77"/>
            </a:endParaRPr>
          </a:p>
        </p:txBody>
      </p:sp>
      <p:pic>
        <p:nvPicPr>
          <p:cNvPr id="7" name="Image 6">
            <a:extLst>
              <a:ext uri="{FF2B5EF4-FFF2-40B4-BE49-F238E27FC236}">
                <a16:creationId xmlns:a16="http://schemas.microsoft.com/office/drawing/2014/main" id="{77591E3D-35BA-8A59-CC5E-AD9F21DE9BB8}"/>
              </a:ext>
            </a:extLst>
          </p:cNvPr>
          <p:cNvPicPr>
            <a:picLocks noChangeAspect="1"/>
          </p:cNvPicPr>
          <p:nvPr/>
        </p:nvPicPr>
        <p:blipFill>
          <a:blip r:embed="rId2"/>
          <a:stretch>
            <a:fillRect/>
          </a:stretch>
        </p:blipFill>
        <p:spPr>
          <a:xfrm>
            <a:off x="190093" y="1597928"/>
            <a:ext cx="11632813" cy="1704073"/>
          </a:xfrm>
          <a:prstGeom prst="rect">
            <a:avLst/>
          </a:prstGeom>
        </p:spPr>
      </p:pic>
      <p:pic>
        <p:nvPicPr>
          <p:cNvPr id="8" name="Image 7">
            <a:extLst>
              <a:ext uri="{FF2B5EF4-FFF2-40B4-BE49-F238E27FC236}">
                <a16:creationId xmlns:a16="http://schemas.microsoft.com/office/drawing/2014/main" id="{4AB6BDE8-025B-E46B-E2D4-69A80385BFDA}"/>
              </a:ext>
            </a:extLst>
          </p:cNvPr>
          <p:cNvPicPr>
            <a:picLocks noChangeAspect="1"/>
          </p:cNvPicPr>
          <p:nvPr/>
        </p:nvPicPr>
        <p:blipFill>
          <a:blip r:embed="rId3"/>
          <a:stretch>
            <a:fillRect/>
          </a:stretch>
        </p:blipFill>
        <p:spPr>
          <a:xfrm>
            <a:off x="190092" y="3924332"/>
            <a:ext cx="5905907" cy="2648911"/>
          </a:xfrm>
          <a:prstGeom prst="rect">
            <a:avLst/>
          </a:prstGeom>
        </p:spPr>
      </p:pic>
      <p:pic>
        <p:nvPicPr>
          <p:cNvPr id="9" name="Image 8">
            <a:extLst>
              <a:ext uri="{FF2B5EF4-FFF2-40B4-BE49-F238E27FC236}">
                <a16:creationId xmlns:a16="http://schemas.microsoft.com/office/drawing/2014/main" id="{4D8A3865-4BB3-AA1E-BDC9-85B7F16D7384}"/>
              </a:ext>
            </a:extLst>
          </p:cNvPr>
          <p:cNvPicPr>
            <a:picLocks noChangeAspect="1"/>
          </p:cNvPicPr>
          <p:nvPr/>
        </p:nvPicPr>
        <p:blipFill>
          <a:blip r:embed="rId4"/>
          <a:stretch>
            <a:fillRect/>
          </a:stretch>
        </p:blipFill>
        <p:spPr>
          <a:xfrm>
            <a:off x="6745185" y="122071"/>
            <a:ext cx="4874350" cy="1337549"/>
          </a:xfrm>
          <a:prstGeom prst="rect">
            <a:avLst/>
          </a:prstGeom>
        </p:spPr>
      </p:pic>
      <p:pic>
        <p:nvPicPr>
          <p:cNvPr id="10" name="Image 9">
            <a:extLst>
              <a:ext uri="{FF2B5EF4-FFF2-40B4-BE49-F238E27FC236}">
                <a16:creationId xmlns:a16="http://schemas.microsoft.com/office/drawing/2014/main" id="{A534D2C8-C7E2-D763-1AD4-95FCCEEC6014}"/>
              </a:ext>
            </a:extLst>
          </p:cNvPr>
          <p:cNvPicPr>
            <a:picLocks noChangeAspect="1"/>
          </p:cNvPicPr>
          <p:nvPr/>
        </p:nvPicPr>
        <p:blipFill>
          <a:blip r:embed="rId5"/>
          <a:stretch>
            <a:fillRect/>
          </a:stretch>
        </p:blipFill>
        <p:spPr>
          <a:xfrm>
            <a:off x="190093" y="3440309"/>
            <a:ext cx="7772400" cy="384500"/>
          </a:xfrm>
          <a:prstGeom prst="rect">
            <a:avLst/>
          </a:prstGeom>
        </p:spPr>
      </p:pic>
      <p:sp>
        <p:nvSpPr>
          <p:cNvPr id="11" name="ZoneTexte 10">
            <a:extLst>
              <a:ext uri="{FF2B5EF4-FFF2-40B4-BE49-F238E27FC236}">
                <a16:creationId xmlns:a16="http://schemas.microsoft.com/office/drawing/2014/main" id="{50DBEBCF-64B3-0069-64BB-160629731A87}"/>
              </a:ext>
            </a:extLst>
          </p:cNvPr>
          <p:cNvSpPr txBox="1"/>
          <p:nvPr/>
        </p:nvSpPr>
        <p:spPr>
          <a:xfrm>
            <a:off x="11377246" y="6038571"/>
            <a:ext cx="948445"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20</a:t>
            </a:r>
          </a:p>
        </p:txBody>
      </p:sp>
      <p:sp>
        <p:nvSpPr>
          <p:cNvPr id="2" name="Titre 1">
            <a:extLst>
              <a:ext uri="{FF2B5EF4-FFF2-40B4-BE49-F238E27FC236}">
                <a16:creationId xmlns:a16="http://schemas.microsoft.com/office/drawing/2014/main" id="{9F5961F7-69A6-F894-8C76-E0F513D66532}"/>
              </a:ext>
            </a:extLst>
          </p:cNvPr>
          <p:cNvSpPr txBox="1">
            <a:spLocks/>
          </p:cNvSpPr>
          <p:nvPr/>
        </p:nvSpPr>
        <p:spPr>
          <a:xfrm>
            <a:off x="6488875" y="4292774"/>
            <a:ext cx="5703125" cy="17457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sz="1600" dirty="0">
                <a:solidFill>
                  <a:schemeClr val="bg1"/>
                </a:solidFill>
                <a:latin typeface="Berlin Sans FB" panose="020E0602020502020306" pitchFamily="34" charset="77"/>
              </a:rPr>
            </a:br>
            <a:r>
              <a:rPr lang="fr-FR" sz="2000" dirty="0">
                <a:solidFill>
                  <a:schemeClr val="bg1"/>
                </a:solidFill>
                <a:latin typeface="Berlin Sans FB" panose="020E0602020502020306" pitchFamily="34" charset="77"/>
              </a:rPr>
              <a:t>Les résultats du test du Chi-Deux montrent une valeur calculée de 48,94279735, bien au-dessus de la valeur critique de 12,59, ce qui indique qu'il y a une corrélation significative entre le Genre et le Frein.</a:t>
            </a:r>
            <a:br>
              <a:rPr lang="fr-FR" sz="2000" dirty="0">
                <a:solidFill>
                  <a:schemeClr val="bg1"/>
                </a:solidFill>
                <a:latin typeface="Berlin Sans FB" panose="020E0602020502020306" pitchFamily="34" charset="77"/>
              </a:rPr>
            </a:br>
            <a:endParaRPr lang="fr-FR" sz="2000" dirty="0">
              <a:solidFill>
                <a:schemeClr val="bg1"/>
              </a:solidFill>
              <a:latin typeface="Berlin Sans FB" panose="020E0602020502020306" pitchFamily="34" charset="77"/>
            </a:endParaRPr>
          </a:p>
        </p:txBody>
      </p:sp>
    </p:spTree>
    <p:extLst>
      <p:ext uri="{BB962C8B-B14F-4D97-AF65-F5344CB8AC3E}">
        <p14:creationId xmlns:p14="http://schemas.microsoft.com/office/powerpoint/2010/main" val="17685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0F8C799-81DE-937E-C308-6FC0B879207E}"/>
              </a:ext>
            </a:extLst>
          </p:cNvPr>
          <p:cNvSpPr txBox="1"/>
          <p:nvPr/>
        </p:nvSpPr>
        <p:spPr>
          <a:xfrm>
            <a:off x="1708638" y="1859340"/>
            <a:ext cx="8774724" cy="1569660"/>
          </a:xfrm>
          <a:prstGeom prst="rect">
            <a:avLst/>
          </a:prstGeom>
          <a:noFill/>
        </p:spPr>
        <p:txBody>
          <a:bodyPr wrap="square" rtlCol="0">
            <a:spAutoFit/>
          </a:bodyPr>
          <a:lstStyle/>
          <a:p>
            <a:r>
              <a:rPr lang="fr-FR" sz="9600" b="1" dirty="0">
                <a:solidFill>
                  <a:schemeClr val="bg1"/>
                </a:solidFill>
                <a:latin typeface=""/>
              </a:rPr>
              <a:t>CONCLUSION</a:t>
            </a:r>
          </a:p>
        </p:txBody>
      </p:sp>
      <p:sp>
        <p:nvSpPr>
          <p:cNvPr id="5" name="ZoneTexte 4">
            <a:extLst>
              <a:ext uri="{FF2B5EF4-FFF2-40B4-BE49-F238E27FC236}">
                <a16:creationId xmlns:a16="http://schemas.microsoft.com/office/drawing/2014/main" id="{BBEA69A0-2FE0-C5DB-F5FC-27C40D240CFE}"/>
              </a:ext>
            </a:extLst>
          </p:cNvPr>
          <p:cNvSpPr txBox="1"/>
          <p:nvPr/>
        </p:nvSpPr>
        <p:spPr>
          <a:xfrm>
            <a:off x="11377246" y="6038571"/>
            <a:ext cx="948445" cy="830997"/>
          </a:xfrm>
          <a:prstGeom prst="rect">
            <a:avLst/>
          </a:prstGeom>
          <a:noFill/>
        </p:spPr>
        <p:txBody>
          <a:bodyPr wrap="square" rtlCol="0">
            <a:spAutoFit/>
          </a:bodyPr>
          <a:lstStyle/>
          <a:p>
            <a:r>
              <a:rPr lang="fr-FR" sz="4800" dirty="0">
                <a:solidFill>
                  <a:schemeClr val="bg1"/>
                </a:solidFill>
                <a:latin typeface="Berlin Sans FB" panose="020E0602020502020306" pitchFamily="34" charset="77"/>
              </a:rPr>
              <a:t>21</a:t>
            </a:r>
          </a:p>
        </p:txBody>
      </p:sp>
    </p:spTree>
    <p:extLst>
      <p:ext uri="{BB962C8B-B14F-4D97-AF65-F5344CB8AC3E}">
        <p14:creationId xmlns:p14="http://schemas.microsoft.com/office/powerpoint/2010/main" val="922781238"/>
      </p:ext>
    </p:extLst>
  </p:cSld>
  <p:clrMapOvr>
    <a:masterClrMapping/>
  </p:clrMapOvr>
  <p:transition spd="slow">
    <p:push dir="u"/>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481</TotalTime>
  <Words>887</Words>
  <Application>Microsoft Macintosh PowerPoint</Application>
  <PresentationFormat>Grand écran</PresentationFormat>
  <Paragraphs>200</Paragraphs>
  <Slides>20</Slides>
  <Notes>4</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20</vt:i4>
      </vt:variant>
    </vt:vector>
  </HeadingPairs>
  <TitlesOfParts>
    <vt:vector size="27" baseType="lpstr">
      <vt:lpstr>Brush Script MT</vt:lpstr>
      <vt:lpstr>Aptos</vt:lpstr>
      <vt:lpstr>Aptos Display</vt:lpstr>
      <vt:lpstr>Arial</vt:lpstr>
      <vt:lpstr>Berlin Sans FB</vt:lpstr>
      <vt:lpstr>Berlin Sans FB Demi</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Analyse Bivariée: frein/genre</vt:lpstr>
      <vt:lpstr>Analyse Bivariée: frein/âge</vt:lpstr>
      <vt:lpstr>Analyse Bivariée: frein/département</vt:lpstr>
      <vt:lpstr>Analyse Bivariée: frein/filière</vt:lpstr>
      <vt:lpstr>Test Du Chi² Genre/Frein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Rida AIT ZAOUIT</dc:creator>
  <cp:lastModifiedBy>babouri Yacine</cp:lastModifiedBy>
  <cp:revision>7</cp:revision>
  <dcterms:created xsi:type="dcterms:W3CDTF">2025-01-30T00:46:40Z</dcterms:created>
  <dcterms:modified xsi:type="dcterms:W3CDTF">2025-03-10T11:06:54Z</dcterms:modified>
</cp:coreProperties>
</file>